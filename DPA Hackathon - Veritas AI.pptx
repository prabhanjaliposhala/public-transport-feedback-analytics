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autoCompressPictures="0">
  <p:sldMasterIdLst>
    <p:sldMasterId id="2147483932" r:id="rId1"/>
  </p:sldMasterIdLst>
  <p:notesMasterIdLst>
    <p:notesMasterId r:id="rId16"/>
  </p:notesMasterIdLst>
  <p:handoutMasterIdLst>
    <p:handoutMasterId r:id="rId17"/>
  </p:handoutMasterIdLst>
  <p:sldIdLst>
    <p:sldId id="491" r:id="rId2"/>
    <p:sldId id="601" r:id="rId3"/>
    <p:sldId id="609" r:id="rId4"/>
    <p:sldId id="610" r:id="rId5"/>
    <p:sldId id="611" r:id="rId6"/>
    <p:sldId id="613" r:id="rId7"/>
    <p:sldId id="615" r:id="rId8"/>
    <p:sldId id="616" r:id="rId9"/>
    <p:sldId id="617" r:id="rId10"/>
    <p:sldId id="618" r:id="rId11"/>
    <p:sldId id="619" r:id="rId12"/>
    <p:sldId id="620" r:id="rId13"/>
    <p:sldId id="621" r:id="rId14"/>
    <p:sldId id="514" r:id="rId15"/>
  </p:sldIdLst>
  <p:sldSz cx="9144000" cy="5143500" type="screen16x9"/>
  <p:notesSz cx="6858000" cy="9296400"/>
  <p:embeddedFontLst>
    <p:embeddedFont>
      <p:font typeface="Garamond" panose="02020404030301010803" pitchFamily="18" charset="0"/>
      <p:regular r:id="rId18"/>
      <p:bold r:id="rId19"/>
      <p: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3">
          <p15:clr>
            <a:srgbClr val="A4A3A4"/>
          </p15:clr>
        </p15:guide>
        <p15:guide id="2" orient="horz" pos="325">
          <p15:clr>
            <a:srgbClr val="A4A3A4"/>
          </p15:clr>
        </p15:guide>
        <p15:guide id="3" orient="horz" pos="2917">
          <p15:clr>
            <a:srgbClr val="A4A3A4"/>
          </p15:clr>
        </p15:guide>
        <p15:guide id="4" orient="horz" pos="399">
          <p15:clr>
            <a:srgbClr val="A4A3A4"/>
          </p15:clr>
        </p15:guide>
        <p15:guide id="5" pos="576">
          <p15:clr>
            <a:srgbClr val="A4A3A4"/>
          </p15:clr>
        </p15:guide>
        <p15:guide id="6" pos="5184">
          <p15:clr>
            <a:srgbClr val="A4A3A4"/>
          </p15:clr>
        </p15:guide>
        <p15:guide id="7" pos="2880">
          <p15:clr>
            <a:srgbClr val="A4A3A4"/>
          </p15:clr>
        </p15:guide>
        <p15:guide id="8" pos="5108">
          <p15:clr>
            <a:srgbClr val="A4A3A4"/>
          </p15:clr>
        </p15:guide>
        <p15:guide id="9" pos="653">
          <p15:clr>
            <a:srgbClr val="A4A3A4"/>
          </p15:clr>
        </p15:guide>
      </p15:sldGuideLst>
    </p:ext>
    <p:ext uri="{2D200454-40CA-4A62-9FC3-DE9A4176ACB9}">
      <p15:notesGuideLst xmlns:p15="http://schemas.microsoft.com/office/powerpoint/2012/main">
        <p15:guide id="1" orient="horz" pos="2592">
          <p15:clr>
            <a:srgbClr val="A4A3A4"/>
          </p15:clr>
        </p15:guide>
        <p15:guide id="2" orient="horz" pos="5542">
          <p15:clr>
            <a:srgbClr val="A4A3A4"/>
          </p15:clr>
        </p15:guide>
        <p15:guide id="3" orient="horz" pos="5777">
          <p15:clr>
            <a:srgbClr val="A4A3A4"/>
          </p15:clr>
        </p15:guide>
        <p15:guide id="4" pos="286">
          <p15:clr>
            <a:srgbClr val="A4A3A4"/>
          </p15:clr>
        </p15:guide>
        <p15:guide id="5" pos="403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59596"/>
    <a:srgbClr val="3A195B"/>
    <a:srgbClr val="005094"/>
    <a:srgbClr val="004170"/>
    <a:srgbClr val="F0F1F1"/>
    <a:srgbClr val="004670"/>
    <a:srgbClr val="00468C"/>
    <a:srgbClr val="004D8E"/>
    <a:srgbClr val="145094"/>
    <a:srgbClr val="005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53" autoAdjust="0"/>
    <p:restoredTop sz="89011" autoAdjust="0"/>
  </p:normalViewPr>
  <p:slideViewPr>
    <p:cSldViewPr snapToGrid="0" showGuides="1">
      <p:cViewPr varScale="1">
        <p:scale>
          <a:sx n="103" d="100"/>
          <a:sy n="103" d="100"/>
        </p:scale>
        <p:origin x="138" y="36"/>
      </p:cViewPr>
      <p:guideLst>
        <p:guide orient="horz" pos="2843"/>
        <p:guide orient="horz" pos="325"/>
        <p:guide orient="horz" pos="2917"/>
        <p:guide orient="horz" pos="399"/>
        <p:guide pos="576"/>
        <p:guide pos="5184"/>
        <p:guide pos="2880"/>
        <p:guide pos="5108"/>
        <p:guide pos="653"/>
      </p:guideLst>
    </p:cSldViewPr>
  </p:slideViewPr>
  <p:notesTextViewPr>
    <p:cViewPr>
      <p:scale>
        <a:sx n="75" d="100"/>
        <a:sy n="75" d="100"/>
      </p:scale>
      <p:origin x="0" y="0"/>
    </p:cViewPr>
  </p:notesTextViewPr>
  <p:sorterViewPr>
    <p:cViewPr>
      <p:scale>
        <a:sx n="71" d="100"/>
        <a:sy n="71" d="100"/>
      </p:scale>
      <p:origin x="0" y="0"/>
    </p:cViewPr>
  </p:sorterViewPr>
  <p:notesViewPr>
    <p:cSldViewPr snapToGrid="0">
      <p:cViewPr varScale="1">
        <p:scale>
          <a:sx n="86" d="100"/>
          <a:sy n="86" d="100"/>
        </p:scale>
        <p:origin x="-3894" y="-96"/>
      </p:cViewPr>
      <p:guideLst>
        <p:guide orient="horz" pos="2592"/>
        <p:guide orient="horz" pos="5542"/>
        <p:guide orient="horz" pos="5777"/>
        <p:guide pos="286"/>
        <p:guide pos="403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83294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12750" y="400050"/>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3" name="Notes Placeholder 2"/>
          <p:cNvSpPr>
            <a:spLocks noGrp="1"/>
          </p:cNvSpPr>
          <p:nvPr>
            <p:ph type="body" sz="quarter" idx="3"/>
          </p:nvPr>
        </p:nvSpPr>
        <p:spPr>
          <a:xfrm>
            <a:off x="685800" y="4416425"/>
            <a:ext cx="548640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0748310"/>
      </p:ext>
    </p:extLst>
  </p:cSld>
  <p:clrMap bg1="lt1" tx1="dk1" bg2="lt2" tx2="dk2" accent1="accent1" accent2="accent2" accent3="accent3" accent4="accent4" accent5="accent5" accent6="accent6" hlink="hlink" folHlink="folHlink"/>
  <p:hf hdr="0" ftr="0" dt="0"/>
  <p:notesStyle>
    <a:lvl1pPr marL="114300" indent="-114300" algn="l" defTabSz="914400" rtl="0" eaLnBrk="1" latinLnBrk="0" hangingPunct="1">
      <a:spcBef>
        <a:spcPts val="800"/>
      </a:spcBef>
      <a:buFont typeface="Arial" pitchFamily="34" charset="0"/>
      <a:buChar char="•"/>
      <a:defRPr sz="1200" kern="1200">
        <a:solidFill>
          <a:schemeClr val="tx1"/>
        </a:solidFill>
        <a:latin typeface="Arial" pitchFamily="34" charset="0"/>
        <a:ea typeface="+mn-ea"/>
        <a:cs typeface="Arial" pitchFamily="34" charset="0"/>
      </a:defRPr>
    </a:lvl1pPr>
    <a:lvl2pPr marL="285750" indent="-112713" algn="l" defTabSz="914400" rtl="0" eaLnBrk="1" latinLnBrk="0" hangingPunct="1">
      <a:spcBef>
        <a:spcPts val="200"/>
      </a:spcBef>
      <a:buFont typeface="Arial" pitchFamily="34" charset="0"/>
      <a:buChar char="•"/>
      <a:defRPr sz="1100" kern="1200">
        <a:solidFill>
          <a:schemeClr val="tx1"/>
        </a:solidFill>
        <a:latin typeface="Arial" pitchFamily="34" charset="0"/>
        <a:ea typeface="+mn-ea"/>
        <a:cs typeface="Arial" pitchFamily="34" charset="0"/>
      </a:defRPr>
    </a:lvl2pPr>
    <a:lvl3pPr marL="403225" indent="-117475" algn="l" defTabSz="914400" rtl="0" eaLnBrk="1" latinLnBrk="0" hangingPunct="1">
      <a:spcBef>
        <a:spcPts val="200"/>
      </a:spcBef>
      <a:buFont typeface="Arial" pitchFamily="34" charset="0"/>
      <a:buChar char="•"/>
      <a:defRPr sz="1050" kern="1200">
        <a:solidFill>
          <a:schemeClr val="tx1"/>
        </a:solidFill>
        <a:latin typeface="Arial" pitchFamily="34" charset="0"/>
        <a:ea typeface="+mn-ea"/>
        <a:cs typeface="Arial" pitchFamily="34" charset="0"/>
      </a:defRPr>
    </a:lvl3pPr>
    <a:lvl4pPr marL="569913" indent="-112713" algn="l" defTabSz="914400" rtl="0" eaLnBrk="1" latinLnBrk="0" hangingPunct="1">
      <a:spcBef>
        <a:spcPts val="200"/>
      </a:spcBef>
      <a:buFont typeface="Arial" pitchFamily="34" charset="0"/>
      <a:buChar char="•"/>
      <a:defRPr sz="1050" kern="1200">
        <a:solidFill>
          <a:schemeClr val="tx1"/>
        </a:solidFill>
        <a:latin typeface="Arial" pitchFamily="34" charset="0"/>
        <a:ea typeface="+mn-ea"/>
        <a:cs typeface="Arial" pitchFamily="34" charset="0"/>
      </a:defRPr>
    </a:lvl4pPr>
    <a:lvl5pPr marL="457200" indent="114300" algn="l" defTabSz="914400" rtl="0" eaLnBrk="1" latinLnBrk="0" hangingPunct="1">
      <a:buFont typeface="Arial" pitchFamily="34" charset="0"/>
      <a:buChar char="•"/>
      <a:defRPr sz="1050" kern="1200">
        <a:solidFill>
          <a:schemeClr val="tx1"/>
        </a:solidFill>
        <a:latin typeface="+mn-lt"/>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2750" y="400050"/>
            <a:ext cx="6197600" cy="3486150"/>
          </a:xfrm>
        </p:spPr>
      </p:sp>
      <p:sp>
        <p:nvSpPr>
          <p:cNvPr id="3" name="Notes Placeholder 2"/>
          <p:cNvSpPr>
            <a:spLocks noGrp="1"/>
          </p:cNvSpPr>
          <p:nvPr>
            <p:ph type="body" idx="1"/>
          </p:nvPr>
        </p:nvSpPr>
        <p:spPr/>
        <p:txBody>
          <a:bodyPr/>
          <a:lstStyle/>
          <a:p>
            <a:pPr marL="0" indent="0">
              <a:buFontTx/>
              <a:buNone/>
            </a:pPr>
            <a:endParaRPr lang="en-US" dirty="0"/>
          </a:p>
        </p:txBody>
      </p:sp>
    </p:spTree>
    <p:extLst>
      <p:ext uri="{BB962C8B-B14F-4D97-AF65-F5344CB8AC3E}">
        <p14:creationId xmlns:p14="http://schemas.microsoft.com/office/powerpoint/2010/main" val="1940309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public transport feedback is multi-dimensional. A record has structured service ratings, route and time context, and an unstructured comment.</a:t>
            </a:r>
          </a:p>
          <a:p>
            <a:endParaRPr lang="en-US" dirty="0"/>
          </a:p>
          <a:p>
            <a:r>
              <a:rPr lang="en-US" dirty="0"/>
              <a:t>The technical problem is converting these individual records into route-level evidence. The platform therefore treats feedback as the source data for classification, aggregation, ranking and deterioration analysis.</a:t>
            </a:r>
          </a:p>
          <a:p>
            <a:endParaRPr lang="en-US" dirty="0"/>
          </a:p>
          <a:p>
            <a:r>
              <a:rPr lang="en-US" dirty="0"/>
              <a:t>The objective is an integrated working pipeline rather than a collection of disconnected screens.</a:t>
            </a:r>
          </a:p>
          <a:p>
            <a:endParaRPr lang="en-IN" dirty="0"/>
          </a:p>
        </p:txBody>
      </p:sp>
    </p:spTree>
    <p:extLst>
      <p:ext uri="{BB962C8B-B14F-4D97-AF65-F5344CB8AC3E}">
        <p14:creationId xmlns:p14="http://schemas.microsoft.com/office/powerpoint/2010/main" val="4293411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left to right.</a:t>
            </a:r>
          </a:p>
          <a:p>
            <a:endParaRPr lang="en-US" dirty="0"/>
          </a:p>
          <a:p>
            <a:r>
              <a:rPr lang="en-US" dirty="0"/>
              <a:t>The passenger creates a structured feedback record. The comment can be classified into operational categories and severity. The </a:t>
            </a:r>
            <a:r>
              <a:rPr lang="en-US" dirty="0" err="1"/>
              <a:t>FastAPI</a:t>
            </a:r>
            <a:r>
              <a:rPr lang="en-US" dirty="0"/>
              <a:t> backend validates and persists the record. Pandas and NumPy then aggregate the stored records.</a:t>
            </a:r>
          </a:p>
          <a:p>
            <a:endParaRPr lang="en-US" dirty="0"/>
          </a:p>
          <a:p>
            <a:r>
              <a:rPr lang="en-US" dirty="0"/>
              <a:t>The route-ranking and deterioration logic operate on those aggregates, and the resulting findings are displayed in the administrator dashboard.</a:t>
            </a:r>
          </a:p>
          <a:p>
            <a:endParaRPr lang="en-US" dirty="0"/>
          </a:p>
          <a:p>
            <a:r>
              <a:rPr lang="en-US" dirty="0"/>
              <a:t>The important technical point is that the dashboard is downstream of the data; it is not a static illustration.</a:t>
            </a:r>
          </a:p>
          <a:p>
            <a:endParaRPr lang="en-IN" dirty="0"/>
          </a:p>
        </p:txBody>
      </p:sp>
    </p:spTree>
    <p:extLst>
      <p:ext uri="{BB962C8B-B14F-4D97-AF65-F5344CB8AC3E}">
        <p14:creationId xmlns:p14="http://schemas.microsoft.com/office/powerpoint/2010/main" val="2934982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separates presentation, API, persistence and intelligence.</a:t>
            </a:r>
          </a:p>
          <a:p>
            <a:endParaRPr lang="en-US" dirty="0"/>
          </a:p>
          <a:p>
            <a:r>
              <a:rPr lang="en-US" dirty="0"/>
              <a:t>React and TypeScript form the client. </a:t>
            </a:r>
            <a:r>
              <a:rPr lang="en-US" dirty="0" err="1"/>
              <a:t>FastAPI</a:t>
            </a:r>
            <a:r>
              <a:rPr lang="en-US" dirty="0"/>
              <a:t> provides REST endpoints and </a:t>
            </a:r>
            <a:r>
              <a:rPr lang="en-US" dirty="0" err="1"/>
              <a:t>Uvicorn</a:t>
            </a:r>
            <a:r>
              <a:rPr lang="en-US" dirty="0"/>
              <a:t> runs the service. </a:t>
            </a:r>
            <a:r>
              <a:rPr lang="en-US" dirty="0" err="1"/>
              <a:t>Pydantic</a:t>
            </a:r>
            <a:r>
              <a:rPr lang="en-US" dirty="0"/>
              <a:t> handles input validation and JWT is used for authenticated admin access.</a:t>
            </a:r>
          </a:p>
          <a:p>
            <a:endParaRPr lang="en-US" dirty="0"/>
          </a:p>
          <a:p>
            <a:r>
              <a:rPr lang="en-US" dirty="0" err="1"/>
              <a:t>SQLAlchemy</a:t>
            </a:r>
            <a:r>
              <a:rPr lang="en-US" dirty="0"/>
              <a:t> is the persistence layer. SQLite is used for local development, while the architecture is PostgreSQL-compatible for deployment.</a:t>
            </a:r>
          </a:p>
          <a:p>
            <a:endParaRPr lang="en-US" dirty="0"/>
          </a:p>
          <a:p>
            <a:r>
              <a:rPr lang="en-US" dirty="0"/>
              <a:t>Pandas and NumPy operate on the data, while the classifier is modular so the local rule-based NLP implementation can later be replaced or complemented by a local LLM.</a:t>
            </a:r>
          </a:p>
          <a:p>
            <a:endParaRPr lang="en-IN" dirty="0"/>
          </a:p>
        </p:txBody>
      </p:sp>
    </p:spTree>
    <p:extLst>
      <p:ext uri="{BB962C8B-B14F-4D97-AF65-F5344CB8AC3E}">
        <p14:creationId xmlns:p14="http://schemas.microsoft.com/office/powerpoint/2010/main" val="709912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stack is deliberately conventional and production-oriented.</a:t>
            </a:r>
          </a:p>
          <a:p>
            <a:endParaRPr lang="en-US" dirty="0"/>
          </a:p>
          <a:p>
            <a:r>
              <a:rPr lang="en-US" dirty="0"/>
              <a:t>The frontend uses React, TypeScript and </a:t>
            </a:r>
            <a:r>
              <a:rPr lang="en-US" dirty="0" err="1"/>
              <a:t>Vite</a:t>
            </a:r>
            <a:r>
              <a:rPr lang="en-US" dirty="0"/>
              <a:t>, with Tailwind CSS for styling, React Router for navigation, Recharts for analytics visuals and </a:t>
            </a:r>
            <a:r>
              <a:rPr lang="en-US" dirty="0" err="1"/>
              <a:t>Lucide</a:t>
            </a:r>
            <a:r>
              <a:rPr lang="en-US" dirty="0"/>
              <a:t> React for icons.</a:t>
            </a:r>
          </a:p>
          <a:p>
            <a:endParaRPr lang="en-US" dirty="0"/>
          </a:p>
          <a:p>
            <a:r>
              <a:rPr lang="en-US" dirty="0"/>
              <a:t>The backend is Python with </a:t>
            </a:r>
            <a:r>
              <a:rPr lang="en-US" dirty="0" err="1"/>
              <a:t>FastAPI</a:t>
            </a:r>
            <a:r>
              <a:rPr lang="en-US" dirty="0"/>
              <a:t>, </a:t>
            </a:r>
            <a:r>
              <a:rPr lang="en-US" dirty="0" err="1"/>
              <a:t>Uvicorn</a:t>
            </a:r>
            <a:r>
              <a:rPr lang="en-US" dirty="0"/>
              <a:t>, </a:t>
            </a:r>
            <a:r>
              <a:rPr lang="en-US" dirty="0" err="1"/>
              <a:t>Pydantic</a:t>
            </a:r>
            <a:r>
              <a:rPr lang="en-US" dirty="0"/>
              <a:t> and </a:t>
            </a:r>
            <a:r>
              <a:rPr lang="en-US" dirty="0" err="1"/>
              <a:t>SQLAlchemy</a:t>
            </a:r>
            <a:r>
              <a:rPr lang="en-US" dirty="0"/>
              <a:t>, with JWT authentication for the admin path.</a:t>
            </a:r>
          </a:p>
          <a:p>
            <a:endParaRPr lang="en-US" dirty="0"/>
          </a:p>
          <a:p>
            <a:r>
              <a:rPr lang="en-US" dirty="0"/>
              <a:t>The feedback record is the common data contract. It contains the operational context and service ratings needed by the analytics engine, plus the comment used by the AI classifier.</a:t>
            </a:r>
          </a:p>
          <a:p>
            <a:endParaRPr lang="en-IN" dirty="0"/>
          </a:p>
        </p:txBody>
      </p:sp>
    </p:spTree>
    <p:extLst>
      <p:ext uri="{BB962C8B-B14F-4D97-AF65-F5344CB8AC3E}">
        <p14:creationId xmlns:p14="http://schemas.microsoft.com/office/powerpoint/2010/main" val="3380833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deployed Passenger Portal screenshot supplied for the project.</a:t>
            </a:r>
          </a:p>
          <a:p>
            <a:endParaRPr lang="en-US" dirty="0"/>
          </a:p>
          <a:p>
            <a:r>
              <a:rPr lang="en-US" dirty="0"/>
              <a:t>The portal captures route, journey date, time period, four service ratings, overall journey rating and a free-text comment.</a:t>
            </a:r>
          </a:p>
          <a:p>
            <a:endParaRPr lang="en-US" dirty="0"/>
          </a:p>
          <a:p>
            <a:r>
              <a:rPr lang="en-US" dirty="0"/>
              <a:t>This structured design is important for analytics because route and time context are collected explicitly rather than being inferred from the comment. The resulting submission becomes the input to the backend and persistence workflow.</a:t>
            </a:r>
          </a:p>
          <a:p>
            <a:endParaRPr lang="en-IN" dirty="0"/>
          </a:p>
        </p:txBody>
      </p:sp>
    </p:spTree>
    <p:extLst>
      <p:ext uri="{BB962C8B-B14F-4D97-AF65-F5344CB8AC3E}">
        <p14:creationId xmlns:p14="http://schemas.microsoft.com/office/powerpoint/2010/main" val="3649919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a second ingestion path for datasets.</a:t>
            </a:r>
          </a:p>
          <a:p>
            <a:endParaRPr lang="en-US" dirty="0"/>
          </a:p>
          <a:p>
            <a:r>
              <a:rPr lang="en-US" dirty="0"/>
              <a:t>The left side summarizes the live passenger flow: submission, </a:t>
            </a:r>
            <a:r>
              <a:rPr lang="en-US" dirty="0" err="1"/>
              <a:t>Pydantic</a:t>
            </a:r>
            <a:r>
              <a:rPr lang="en-US" dirty="0"/>
              <a:t> validation and </a:t>
            </a:r>
            <a:r>
              <a:rPr lang="en-US" dirty="0" err="1"/>
              <a:t>SQLAlchemy</a:t>
            </a:r>
            <a:r>
              <a:rPr lang="en-US" dirty="0"/>
              <a:t> persistence.</a:t>
            </a:r>
          </a:p>
          <a:p>
            <a:endParaRPr lang="en-US" dirty="0"/>
          </a:p>
          <a:p>
            <a:r>
              <a:rPr lang="en-US" dirty="0"/>
              <a:t>The right side is the actual deployed CSV Import screen. It explicitly supports New York MTA 311 or custom customer feedback datasets.</a:t>
            </a:r>
          </a:p>
          <a:p>
            <a:endParaRPr lang="en-US" dirty="0"/>
          </a:p>
          <a:p>
            <a:r>
              <a:rPr lang="en-US" dirty="0"/>
              <a:t>This makes the analytics engine useful not only for newly submitted feedback but also for imported datasets, without inventing a separate UI workflow.</a:t>
            </a:r>
          </a:p>
          <a:p>
            <a:endParaRPr lang="en-IN" dirty="0"/>
          </a:p>
        </p:txBody>
      </p:sp>
    </p:spTree>
    <p:extLst>
      <p:ext uri="{BB962C8B-B14F-4D97-AF65-F5344CB8AC3E}">
        <p14:creationId xmlns:p14="http://schemas.microsoft.com/office/powerpoint/2010/main" val="2751777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the classification logic from the product screenshot.</a:t>
            </a:r>
          </a:p>
          <a:p>
            <a:endParaRPr lang="en-US" dirty="0"/>
          </a:p>
          <a:p>
            <a:r>
              <a:rPr lang="en-US" dirty="0"/>
              <a:t>The specified example comment contains two operational signals: the bus is packed, indicating crowding, and it arrives late, indicating punctuality. The intended output is Crowd­ing + Punctuality, High severity and 0.94 confidence.</a:t>
            </a:r>
          </a:p>
          <a:p>
            <a:endParaRPr lang="en-US" dirty="0"/>
          </a:p>
          <a:p>
            <a:r>
              <a:rPr lang="en-US" dirty="0"/>
              <a:t>The current classifier is modular and local, based on rules for the present implementation. The architecture leaves a clean path for a local LLM to be introduced later.</a:t>
            </a:r>
          </a:p>
          <a:p>
            <a:endParaRPr lang="en-US" dirty="0"/>
          </a:p>
          <a:p>
            <a:r>
              <a:rPr lang="en-US" dirty="0"/>
              <a:t>The screenshot on the right is the supplied actual deployed AI Insights page. I am using it only for the real product UI; I am not fabricating a separate classification screenshot.</a:t>
            </a:r>
          </a:p>
          <a:p>
            <a:endParaRPr lang="en-IN" dirty="0"/>
          </a:p>
        </p:txBody>
      </p:sp>
    </p:spTree>
    <p:extLst>
      <p:ext uri="{BB962C8B-B14F-4D97-AF65-F5344CB8AC3E}">
        <p14:creationId xmlns:p14="http://schemas.microsoft.com/office/powerpoint/2010/main" val="6876855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analytics engine is based on Pandas and NumPy.</a:t>
            </a:r>
          </a:p>
          <a:p>
            <a:endParaRPr lang="en-US" dirty="0"/>
          </a:p>
          <a:p>
            <a:r>
              <a:rPr lang="en-US" dirty="0"/>
              <a:t>The processing sequence is filter, aggregate, rank and compare. Filters can narrow the population by route, date, category, severity and time slot. Aggregations calculate counts, means and issue frequencies.</a:t>
            </a:r>
          </a:p>
          <a:p>
            <a:endParaRPr lang="en-US" dirty="0"/>
          </a:p>
          <a:p>
            <a:r>
              <a:rPr lang="en-US" dirty="0"/>
              <a:t>Route ranking considers overall rating, the individual service dimensions, complaint volume and severity.</a:t>
            </a:r>
          </a:p>
          <a:p>
            <a:endParaRPr lang="en-US" dirty="0"/>
          </a:p>
          <a:p>
            <a:r>
              <a:rPr lang="en-US" dirty="0"/>
              <a:t>Time analysis uses the six defined buckets. Deterioration detection compares the current period with the previous period using rating decrease, complaint increase and high or critical complaint increase.</a:t>
            </a:r>
          </a:p>
          <a:p>
            <a:endParaRPr lang="en-IN" dirty="0"/>
          </a:p>
        </p:txBody>
      </p:sp>
    </p:spTree>
    <p:extLst>
      <p:ext uri="{BB962C8B-B14F-4D97-AF65-F5344CB8AC3E}">
        <p14:creationId xmlns:p14="http://schemas.microsoft.com/office/powerpoint/2010/main" val="1508078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deployed Transport Operations Intelligence screen supplied for the project.</a:t>
            </a:r>
          </a:p>
          <a:p>
            <a:endParaRPr lang="en-US" dirty="0"/>
          </a:p>
          <a:p>
            <a:r>
              <a:rPr lang="en-US" dirty="0"/>
              <a:t>The screenshot demonstrates the operations-facing experience: global filters, total feedback, average overall rating, complaint volume, high or critical severity, worst-performing route, most-reported issue and deterioration analysis.</a:t>
            </a:r>
          </a:p>
          <a:p>
            <a:endParaRPr lang="en-US" dirty="0"/>
          </a:p>
          <a:p>
            <a:r>
              <a:rPr lang="en-US" dirty="0"/>
              <a:t>The key technical claim is not the appearance of the cards. It is the data flow behind them: the dashboard consumes computed analytics from the feedback records.</a:t>
            </a:r>
          </a:p>
          <a:p>
            <a:endParaRPr lang="en-IN" dirty="0"/>
          </a:p>
        </p:txBody>
      </p:sp>
    </p:spTree>
    <p:extLst>
      <p:ext uri="{BB962C8B-B14F-4D97-AF65-F5344CB8AC3E}">
        <p14:creationId xmlns:p14="http://schemas.microsoft.com/office/powerpoint/2010/main" val="6785191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 42 is the central case study because the seed dataset deliberately represents it as deteriorating.</a:t>
            </a:r>
          </a:p>
          <a:p>
            <a:endParaRPr lang="en-US" dirty="0"/>
          </a:p>
          <a:p>
            <a:r>
              <a:rPr lang="en-US" dirty="0"/>
              <a:t>The project specification describes the expected Route 42 pattern as approximately 2.7 out of 5 overall, crowding as the primary issue, punctuality and delays as the secondary issue, 5 PM to 7 PM as the worst period, high complaint volume, increasing recent complaints and a deteriorating status.</a:t>
            </a:r>
          </a:p>
          <a:p>
            <a:endParaRPr lang="en-US" dirty="0"/>
          </a:p>
          <a:p>
            <a:r>
              <a:rPr lang="en-US" dirty="0"/>
              <a:t>There is an important source-of-truth distinction: the supplied deployed AI Insights screenshot currently displays Route 42 at 2.0 out of 5 and a 0.0-point change. I have therefore not altered the screenshot or pretended those values are identical. The dashboard values are dynamic and can change with the underlying dataset.</a:t>
            </a:r>
          </a:p>
          <a:p>
            <a:endParaRPr lang="en-IN" dirty="0"/>
          </a:p>
        </p:txBody>
      </p:sp>
    </p:spTree>
    <p:extLst>
      <p:ext uri="{BB962C8B-B14F-4D97-AF65-F5344CB8AC3E}">
        <p14:creationId xmlns:p14="http://schemas.microsoft.com/office/powerpoint/2010/main" val="4091855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Deterioration is a comparison problem.</a:t>
            </a:r>
          </a:p>
          <a:p>
            <a:endParaRPr lang="en-US" dirty="0"/>
          </a:p>
          <a:p>
            <a:r>
              <a:rPr lang="en-US" dirty="0"/>
              <a:t>The engine aggregates the selected current period and compares it with the previous period. Three signals are used: a decrease in rating, an increase in complaint volume, and an increase in high or critical complaints.</a:t>
            </a:r>
          </a:p>
          <a:p>
            <a:endParaRPr lang="en-US" dirty="0"/>
          </a:p>
          <a:p>
            <a:r>
              <a:rPr lang="en-US" dirty="0"/>
              <a:t>When the combination indicates deterioration, the route is surfaced in the operational intelligence view.</a:t>
            </a:r>
          </a:p>
          <a:p>
            <a:endParaRPr lang="en-US" dirty="0"/>
          </a:p>
          <a:p>
            <a:r>
              <a:rPr lang="en-US" dirty="0"/>
              <a:t>The time buckets provide context so an operations team can see whether the issue is concentrated in a particular part of the day.</a:t>
            </a:r>
          </a:p>
          <a:p>
            <a:endParaRPr lang="en-IN" dirty="0"/>
          </a:p>
        </p:txBody>
      </p:sp>
    </p:spTree>
    <p:extLst>
      <p:ext uri="{BB962C8B-B14F-4D97-AF65-F5344CB8AC3E}">
        <p14:creationId xmlns:p14="http://schemas.microsoft.com/office/powerpoint/2010/main" val="1681551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a:t>
            </a:r>
          </a:p>
          <a:p>
            <a:r>
              <a:rPr lang="en-US" dirty="0"/>
              <a:t>The system demonstrates a complete working feedback-intelligence loop.</a:t>
            </a:r>
          </a:p>
          <a:p>
            <a:endParaRPr lang="en-US" dirty="0"/>
          </a:p>
          <a:p>
            <a:r>
              <a:rPr lang="en-US" dirty="0"/>
              <a:t>The current implementation already connects the passenger portal, </a:t>
            </a:r>
            <a:r>
              <a:rPr lang="en-US" dirty="0" err="1"/>
              <a:t>FastAPI</a:t>
            </a:r>
            <a:r>
              <a:rPr lang="en-US" dirty="0"/>
              <a:t> backend, </a:t>
            </a:r>
            <a:r>
              <a:rPr lang="en-US" dirty="0" err="1"/>
              <a:t>SQLAlchemy</a:t>
            </a:r>
            <a:r>
              <a:rPr lang="en-US" dirty="0"/>
              <a:t> persistence, Python analytics, modular NLP classification, CSV ingestion and the operations dashboard.</a:t>
            </a:r>
          </a:p>
          <a:p>
            <a:endParaRPr lang="en-US" dirty="0"/>
          </a:p>
          <a:p>
            <a:r>
              <a:rPr lang="en-US" dirty="0"/>
              <a:t>The future scope is deliberately incremental: integrate a local LLM behind the existing classifier contract, move production persistence to PostgreSQL, expand longitudinal analysis and add more transit feedback sources.</a:t>
            </a:r>
          </a:p>
          <a:p>
            <a:endParaRPr lang="en-US" dirty="0"/>
          </a:p>
          <a:p>
            <a:r>
              <a:rPr lang="en-US" dirty="0"/>
              <a:t>The key takeaway for the judges is that passenger feedback is not merely displayed. It is converted into structured operational signals that can support route-level decision making.</a:t>
            </a:r>
          </a:p>
          <a:p>
            <a:endParaRPr lang="en-IN" dirty="0"/>
          </a:p>
        </p:txBody>
      </p:sp>
    </p:spTree>
    <p:extLst>
      <p:ext uri="{BB962C8B-B14F-4D97-AF65-F5344CB8AC3E}">
        <p14:creationId xmlns:p14="http://schemas.microsoft.com/office/powerpoint/2010/main" val="7684176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477317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6" name="Rectangle 5"/>
          <p:cNvSpPr/>
          <p:nvPr userDrawn="1"/>
        </p:nvSpPr>
        <p:spPr bwMode="auto">
          <a:xfrm>
            <a:off x="0" y="0"/>
            <a:ext cx="9143999" cy="5143500"/>
          </a:xfrm>
          <a:prstGeom prst="rect">
            <a:avLst/>
          </a:prstGeom>
          <a:solidFill>
            <a:srgbClr val="005094"/>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35" name="Title 34"/>
          <p:cNvSpPr>
            <a:spLocks noGrp="1"/>
          </p:cNvSpPr>
          <p:nvPr>
            <p:ph type="title" hasCustomPrompt="1"/>
          </p:nvPr>
        </p:nvSpPr>
        <p:spPr>
          <a:xfrm>
            <a:off x="1039439" y="2180420"/>
            <a:ext cx="7069512" cy="517065"/>
          </a:xfrm>
        </p:spPr>
        <p:txBody>
          <a:bodyPr vert="horz" wrap="square" lIns="0" tIns="0" rIns="0" bIns="45720" rtlCol="0" anchor="b">
            <a:sp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400" b="0" i="0" u="none" strike="noStrike" kern="1200" cap="none" spc="0" normalizeH="0" baseline="0" noProof="0">
                <a:ln>
                  <a:noFill/>
                </a:ln>
                <a:solidFill>
                  <a:schemeClr val="bg1"/>
                </a:solidFill>
                <a:effectLst/>
                <a:uLnTx/>
                <a:uFillTx/>
                <a:latin typeface="+mj-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dirty="0"/>
              <a:t>Presentation Title Here</a:t>
            </a:r>
          </a:p>
        </p:txBody>
      </p:sp>
      <p:sp>
        <p:nvSpPr>
          <p:cNvPr id="38" name="Text Placeholder 2"/>
          <p:cNvSpPr>
            <a:spLocks noGrp="1"/>
          </p:cNvSpPr>
          <p:nvPr>
            <p:ph type="body" idx="1" hasCustomPrompt="1"/>
          </p:nvPr>
        </p:nvSpPr>
        <p:spPr>
          <a:xfrm>
            <a:off x="1039438" y="2685678"/>
            <a:ext cx="7069512" cy="380873"/>
          </a:xfrm>
        </p:spPr>
        <p:txBody>
          <a:bodyPr anchor="t" anchorCtr="0">
            <a:noAutofit/>
          </a:bodyPr>
          <a:lstStyle>
            <a:lvl1pPr marL="0" indent="0" algn="l" defTabSz="914400" rtl="0" eaLnBrk="1" latinLnBrk="0" hangingPunct="1">
              <a:lnSpc>
                <a:spcPct val="90000"/>
              </a:lnSpc>
              <a:spcBef>
                <a:spcPts val="600"/>
              </a:spcBef>
              <a:buFont typeface="Arial" pitchFamily="34" charset="0"/>
              <a:buNone/>
              <a:defRPr sz="2600" i="0" spc="0" baseline="0">
                <a:solidFill>
                  <a:schemeClr val="bg1"/>
                </a:solidFill>
                <a:latin typeface="+mj-lt"/>
                <a:ea typeface="Roboto" panose="02000000000000000000" pitchFamily="2" charset="0"/>
                <a:cs typeface="Roboto" panose="02000000000000000000" pitchFamily="2"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lnSpc>
                <a:spcPct val="75000"/>
              </a:lnSpc>
              <a:spcBef>
                <a:spcPts val="1400"/>
              </a:spcBef>
              <a:buFont typeface="Arial" pitchFamily="34" charset="0"/>
              <a:buNone/>
            </a:pPr>
            <a:r>
              <a:rPr lang="en-US" dirty="0"/>
              <a:t>Subtitle Title Here</a:t>
            </a:r>
          </a:p>
        </p:txBody>
      </p:sp>
      <p:sp>
        <p:nvSpPr>
          <p:cNvPr id="3" name="Text Placeholder 2"/>
          <p:cNvSpPr>
            <a:spLocks noGrp="1"/>
          </p:cNvSpPr>
          <p:nvPr>
            <p:ph type="body" sz="quarter" idx="10" hasCustomPrompt="1"/>
          </p:nvPr>
        </p:nvSpPr>
        <p:spPr>
          <a:xfrm>
            <a:off x="1036637" y="3311968"/>
            <a:ext cx="7072313" cy="872001"/>
          </a:xfrm>
        </p:spPr>
        <p:txBody>
          <a:bodyPr vert="horz" wrap="square" lIns="0" tIns="0" rIns="0" bIns="45720" rtlCol="0" anchor="t" anchorCtr="0"/>
          <a:lstStyle>
            <a:lvl1pPr marL="0" indent="0">
              <a:lnSpc>
                <a:spcPct val="100000"/>
              </a:lnSpc>
              <a:spcBef>
                <a:spcPts val="0"/>
              </a:spcBef>
              <a:buFontTx/>
              <a:buNone/>
              <a:defRPr lang="en-US" sz="1800" i="0" baseline="0" dirty="0" smtClean="0">
                <a:solidFill>
                  <a:schemeClr val="bg1"/>
                </a:solidFill>
                <a:latin typeface="+mn-lt"/>
                <a:ea typeface="Roboto" panose="02000000000000000000" pitchFamily="2" charset="0"/>
                <a:cs typeface="Roboto" panose="02000000000000000000" pitchFamily="2"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a:p>
            <a:pPr marL="0" lvl="0"/>
            <a:r>
              <a:rPr lang="en-US" dirty="0"/>
              <a:t>Department Name</a:t>
            </a:r>
          </a:p>
          <a:p>
            <a:pPr marL="0" lvl="0"/>
            <a:r>
              <a:rPr lang="en-US" dirty="0"/>
              <a:t>Presentation Date</a:t>
            </a:r>
          </a:p>
        </p:txBody>
      </p:sp>
      <p:pic>
        <p:nvPicPr>
          <p:cNvPr id="4" name="Picture 3" descr="A black and white sign with white text&#10;&#10;Description automatically generated">
            <a:extLst>
              <a:ext uri="{FF2B5EF4-FFF2-40B4-BE49-F238E27FC236}">
                <a16:creationId xmlns:a16="http://schemas.microsoft.com/office/drawing/2014/main" id="{22ECB0BC-81E2-7657-ED1B-DEB6D4FDB02C}"/>
              </a:ext>
            </a:extLst>
          </p:cNvPr>
          <p:cNvPicPr>
            <a:picLocks noChangeAspect="1"/>
          </p:cNvPicPr>
          <p:nvPr userDrawn="1"/>
        </p:nvPicPr>
        <p:blipFill>
          <a:blip r:embed="rId2"/>
          <a:stretch>
            <a:fillRect/>
          </a:stretch>
        </p:blipFill>
        <p:spPr>
          <a:xfrm>
            <a:off x="820477" y="355946"/>
            <a:ext cx="3535363" cy="814976"/>
          </a:xfrm>
          <a:prstGeom prst="rect">
            <a:avLst/>
          </a:prstGeom>
        </p:spPr>
      </p:pic>
      <p:sp>
        <p:nvSpPr>
          <p:cNvPr id="8" name="Rectangle 7">
            <a:extLst>
              <a:ext uri="{FF2B5EF4-FFF2-40B4-BE49-F238E27FC236}">
                <a16:creationId xmlns:a16="http://schemas.microsoft.com/office/drawing/2014/main" id="{78D56BE9-ED9B-1FEE-F84B-DA5E5E0CB593}"/>
              </a:ext>
            </a:extLst>
          </p:cNvPr>
          <p:cNvSpPr>
            <a:spLocks noChangeAspect="1"/>
          </p:cNvSpPr>
          <p:nvPr userDrawn="1"/>
        </p:nvSpPr>
        <p:spPr bwMode="auto">
          <a:xfrm>
            <a:off x="4569620" y="-63500"/>
            <a:ext cx="4725076" cy="5256000"/>
          </a:xfrm>
          <a:prstGeom prst="rect">
            <a:avLst/>
          </a:prstGeom>
          <a:blipFill dpi="0" rotWithShape="1">
            <a:blip r:embed="rId3">
              <a:alphaModFix amt="17000"/>
            </a:blip>
            <a:srcRect/>
            <a:stretch>
              <a:fillRect/>
            </a:stretch>
          </a:blipFill>
          <a:ln w="19050" algn="ctr">
            <a:noFill/>
            <a:miter lim="800000"/>
            <a:headEnd/>
            <a:tailEnd/>
          </a:ln>
        </p:spPr>
        <p:txBody>
          <a:bodyPr wrap="none" rtlCol="0" anchor="ctr"/>
          <a:lstStyle/>
          <a:p>
            <a:pPr algn="ctr">
              <a:lnSpc>
                <a:spcPct val="90000"/>
              </a:lnSpc>
            </a:pPr>
            <a:endParaRPr lang="en-IN" sz="1600" b="1" dirty="0" err="1">
              <a:solidFill>
                <a:schemeClr val="bg1"/>
              </a:solidFill>
              <a:latin typeface="+mj-lt"/>
            </a:endParaRPr>
          </a:p>
        </p:txBody>
      </p:sp>
      <p:sp>
        <p:nvSpPr>
          <p:cNvPr id="9" name="Slide Number Placeholder 10">
            <a:extLst>
              <a:ext uri="{FF2B5EF4-FFF2-40B4-BE49-F238E27FC236}">
                <a16:creationId xmlns:a16="http://schemas.microsoft.com/office/drawing/2014/main" id="{F92A8D1A-8087-B713-B792-1196676E81CB}"/>
              </a:ext>
            </a:extLst>
          </p:cNvPr>
          <p:cNvSpPr>
            <a:spLocks noGrp="1"/>
          </p:cNvSpPr>
          <p:nvPr>
            <p:ph type="sldNum" sz="quarter" idx="4"/>
          </p:nvPr>
        </p:nvSpPr>
        <p:spPr>
          <a:xfrm>
            <a:off x="8466073" y="4861680"/>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2150103274"/>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 Only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E61E00C-A024-71C3-971F-1AFA495F9903}"/>
              </a:ext>
            </a:extLst>
          </p:cNvPr>
          <p:cNvSpPr>
            <a:spLocks noGrp="1"/>
          </p:cNvSpPr>
          <p:nvPr>
            <p:ph type="title"/>
          </p:nvPr>
        </p:nvSpPr>
        <p:spPr>
          <a:xfrm>
            <a:off x="442762" y="148739"/>
            <a:ext cx="8349916" cy="507831"/>
          </a:xfrm>
        </p:spPr>
        <p:txBody>
          <a:bodyPr anchor="ctr"/>
          <a:lstStyle>
            <a:lvl1pPr algn="l">
              <a:lnSpc>
                <a:spcPct val="100000"/>
              </a:lnSpc>
              <a:defRPr>
                <a:solidFill>
                  <a:srgbClr val="005094"/>
                </a:solidFill>
              </a:defRPr>
            </a:lvl1pPr>
          </a:lstStyle>
          <a:p>
            <a:r>
              <a:rPr lang="en-US" dirty="0"/>
              <a:t>Click to edit Master title style</a:t>
            </a:r>
          </a:p>
        </p:txBody>
      </p:sp>
      <p:sp>
        <p:nvSpPr>
          <p:cNvPr id="4" name="Content Placeholder 2">
            <a:extLst>
              <a:ext uri="{FF2B5EF4-FFF2-40B4-BE49-F238E27FC236}">
                <a16:creationId xmlns:a16="http://schemas.microsoft.com/office/drawing/2014/main" id="{94699680-FAA4-1DB9-3017-2EB126F0B7B8}"/>
              </a:ext>
            </a:extLst>
          </p:cNvPr>
          <p:cNvSpPr>
            <a:spLocks noGrp="1"/>
          </p:cNvSpPr>
          <p:nvPr>
            <p:ph idx="1" hasCustomPrompt="1"/>
          </p:nvPr>
        </p:nvSpPr>
        <p:spPr>
          <a:xfrm>
            <a:off x="442762" y="1197430"/>
            <a:ext cx="8349916" cy="3413072"/>
          </a:xfrm>
        </p:spPr>
        <p:txBody>
          <a:bodyPr/>
          <a:lstStyle>
            <a:lvl1pPr marL="168275" indent="-168275">
              <a:buClr>
                <a:srgbClr val="005094"/>
              </a:buClr>
              <a:buFont typeface="Wingdings" panose="05000000000000000000" pitchFamily="2" charset="2"/>
              <a:buChar char="§"/>
              <a:defRPr lang="en-US" sz="2100" b="0" kern="1200" dirty="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2100"/>
            </a:lvl2pPr>
            <a:lvl3pPr marL="742950" indent="-227013">
              <a:buClr>
                <a:srgbClr val="005094"/>
              </a:buClr>
              <a:buFont typeface="Arial" panose="020B0604020202020204" pitchFamily="34" charset="0"/>
              <a:buChar char="•"/>
              <a:defRPr sz="2100"/>
            </a:lvl3pPr>
            <a:lvl4pPr marL="1028700" indent="-228600">
              <a:buClr>
                <a:srgbClr val="005094"/>
              </a:buClr>
              <a:buFont typeface="Arial" panose="020B0604020202020204" pitchFamily="34" charset="0"/>
              <a:buChar char="•"/>
              <a:defRPr sz="2100"/>
            </a:lvl4pPr>
            <a:lvl5pPr marL="1312863" indent="-227013">
              <a:buClr>
                <a:srgbClr val="005094"/>
              </a:buClr>
              <a:buFont typeface="Arial" panose="020B0604020202020204" pitchFamily="34" charset="0"/>
              <a:buChar char="•"/>
              <a:defRPr sz="2100"/>
            </a:lvl5pPr>
          </a:lstStyle>
          <a:p>
            <a:pPr lvl="0"/>
            <a:r>
              <a:rPr lang="en-US" dirty="0"/>
              <a:t>Click to edit Master text styles Arial 21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5">
            <a:extLst>
              <a:ext uri="{FF2B5EF4-FFF2-40B4-BE49-F238E27FC236}">
                <a16:creationId xmlns:a16="http://schemas.microsoft.com/office/drawing/2014/main" id="{F5B61543-7882-6964-E3B2-96834DF582BF}"/>
              </a:ext>
            </a:extLst>
          </p:cNvPr>
          <p:cNvSpPr>
            <a:spLocks noGrp="1"/>
          </p:cNvSpPr>
          <p:nvPr>
            <p:ph type="body" sz="quarter" idx="12" hasCustomPrompt="1"/>
          </p:nvPr>
        </p:nvSpPr>
        <p:spPr>
          <a:xfrm>
            <a:off x="442762" y="691628"/>
            <a:ext cx="8349916" cy="391296"/>
          </a:xfrm>
        </p:spPr>
        <p:txBody>
          <a:bodyPr/>
          <a:lstStyle>
            <a:lvl1pPr marL="0" indent="0">
              <a:buNone/>
              <a:defRPr sz="2400" b="0" baseline="0">
                <a:latin typeface="+mj-lt"/>
              </a:defRPr>
            </a:lvl1pPr>
          </a:lstStyle>
          <a:p>
            <a:pPr marL="0" marR="0" lvl="0" indent="0" algn="l" defTabSz="914400" rtl="0" eaLnBrk="1" fontAlgn="auto" latinLnBrk="0" hangingPunct="1">
              <a:lnSpc>
                <a:spcPct val="100000"/>
              </a:lnSpc>
              <a:spcBef>
                <a:spcPts val="1000"/>
              </a:spcBef>
              <a:spcAft>
                <a:spcPts val="0"/>
              </a:spcAft>
              <a:buClr>
                <a:srgbClr val="005094"/>
              </a:buClr>
              <a:buSzTx/>
              <a:buFont typeface="Wingdings" panose="05000000000000000000" pitchFamily="2" charset="2"/>
              <a:buNone/>
              <a:tabLst/>
              <a:defRPr/>
            </a:pPr>
            <a:r>
              <a:rPr lang="en-US" dirty="0"/>
              <a:t>Subhead Arial 24 pt</a:t>
            </a:r>
          </a:p>
        </p:txBody>
      </p:sp>
      <p:sp>
        <p:nvSpPr>
          <p:cNvPr id="8" name="Slide Number Placeholder 7">
            <a:extLst>
              <a:ext uri="{FF2B5EF4-FFF2-40B4-BE49-F238E27FC236}">
                <a16:creationId xmlns:a16="http://schemas.microsoft.com/office/drawing/2014/main" id="{16B1CD1D-46EF-C274-B1E4-D70331800E05}"/>
              </a:ext>
            </a:extLst>
          </p:cNvPr>
          <p:cNvSpPr>
            <a:spLocks noGrp="1"/>
          </p:cNvSpPr>
          <p:nvPr>
            <p:ph type="sldNum" sz="quarter" idx="13"/>
          </p:nvPr>
        </p:nvSpPr>
        <p:spPr>
          <a:xfrm>
            <a:off x="8535503" y="4859463"/>
            <a:ext cx="514350" cy="326056"/>
          </a:xfrm>
        </p:spPr>
        <p:txBody>
          <a:body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1035639435"/>
      </p:ext>
    </p:extLst>
  </p:cSld>
  <p:clrMapOvr>
    <a:masterClrMapping/>
  </p:clrMapOvr>
  <p:transition>
    <p:fade/>
  </p:transition>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Head Only Slid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CF311B5-18DE-CC24-B154-2E2E9BBCBDF4}"/>
              </a:ext>
            </a:extLst>
          </p:cNvPr>
          <p:cNvSpPr>
            <a:spLocks noGrp="1"/>
          </p:cNvSpPr>
          <p:nvPr>
            <p:ph type="title"/>
          </p:nvPr>
        </p:nvSpPr>
        <p:spPr>
          <a:xfrm>
            <a:off x="442762" y="148739"/>
            <a:ext cx="8349916" cy="507831"/>
          </a:xfrm>
        </p:spPr>
        <p:txBody>
          <a:bodyPr anchor="ctr"/>
          <a:lstStyle>
            <a:lvl1pPr algn="l">
              <a:lnSpc>
                <a:spcPct val="100000"/>
              </a:lnSpc>
              <a:defRPr>
                <a:solidFill>
                  <a:srgbClr val="005094"/>
                </a:solidFill>
              </a:defRPr>
            </a:lvl1pPr>
          </a:lstStyle>
          <a:p>
            <a:r>
              <a:rPr lang="en-US" dirty="0"/>
              <a:t>Click to edit Master title style</a:t>
            </a:r>
          </a:p>
        </p:txBody>
      </p:sp>
      <p:sp>
        <p:nvSpPr>
          <p:cNvPr id="6" name="Content Placeholder 2">
            <a:extLst>
              <a:ext uri="{FF2B5EF4-FFF2-40B4-BE49-F238E27FC236}">
                <a16:creationId xmlns:a16="http://schemas.microsoft.com/office/drawing/2014/main" id="{A80FBAE2-C3C6-48CA-66CF-D7F40E6E5DF1}"/>
              </a:ext>
            </a:extLst>
          </p:cNvPr>
          <p:cNvSpPr>
            <a:spLocks noGrp="1"/>
          </p:cNvSpPr>
          <p:nvPr>
            <p:ph idx="1" hasCustomPrompt="1"/>
          </p:nvPr>
        </p:nvSpPr>
        <p:spPr>
          <a:xfrm>
            <a:off x="442762" y="1197430"/>
            <a:ext cx="8349916" cy="3413072"/>
          </a:xfrm>
        </p:spPr>
        <p:txBody>
          <a:bodyPr/>
          <a:lstStyle>
            <a:lvl1pPr marL="168275" indent="-168275">
              <a:buClr>
                <a:srgbClr val="005094"/>
              </a:buClr>
              <a:buFont typeface="Wingdings" panose="05000000000000000000" pitchFamily="2" charset="2"/>
              <a:buChar char="§"/>
              <a:defRPr lang="en-US" sz="2100" b="0" kern="1200" dirty="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2100"/>
            </a:lvl2pPr>
            <a:lvl3pPr marL="742950" indent="-227013">
              <a:buClr>
                <a:srgbClr val="005094"/>
              </a:buClr>
              <a:buFont typeface="Arial" panose="020B0604020202020204" pitchFamily="34" charset="0"/>
              <a:buChar char="•"/>
              <a:defRPr sz="2100"/>
            </a:lvl3pPr>
            <a:lvl4pPr marL="1028700" indent="-228600">
              <a:buClr>
                <a:srgbClr val="005094"/>
              </a:buClr>
              <a:buFont typeface="Arial" panose="020B0604020202020204" pitchFamily="34" charset="0"/>
              <a:buChar char="•"/>
              <a:defRPr sz="2100"/>
            </a:lvl4pPr>
            <a:lvl5pPr marL="1312863" indent="-227013">
              <a:buClr>
                <a:srgbClr val="005094"/>
              </a:buClr>
              <a:buFont typeface="Arial" panose="020B0604020202020204" pitchFamily="34" charset="0"/>
              <a:buChar char="•"/>
              <a:defRPr sz="2100"/>
            </a:lvl5pPr>
          </a:lstStyle>
          <a:p>
            <a:pPr lvl="0"/>
            <a:r>
              <a:rPr lang="en-US" dirty="0"/>
              <a:t>Click to edit Master text styles Arial 21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10">
            <a:extLst>
              <a:ext uri="{FF2B5EF4-FFF2-40B4-BE49-F238E27FC236}">
                <a16:creationId xmlns:a16="http://schemas.microsoft.com/office/drawing/2014/main" id="{280BC2AA-5EE6-7B52-BA8C-83089B779F06}"/>
              </a:ext>
            </a:extLst>
          </p:cNvPr>
          <p:cNvSpPr>
            <a:spLocks noGrp="1"/>
          </p:cNvSpPr>
          <p:nvPr>
            <p:ph type="sldNum" sz="quarter" idx="4"/>
          </p:nvPr>
        </p:nvSpPr>
        <p:spPr>
          <a:xfrm>
            <a:off x="8535503" y="4831733"/>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1690811553"/>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Head Only Slide">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4699680-FAA4-1DB9-3017-2EB126F0B7B8}"/>
              </a:ext>
            </a:extLst>
          </p:cNvPr>
          <p:cNvSpPr>
            <a:spLocks noGrp="1"/>
          </p:cNvSpPr>
          <p:nvPr>
            <p:ph idx="1" hasCustomPrompt="1"/>
          </p:nvPr>
        </p:nvSpPr>
        <p:spPr>
          <a:xfrm>
            <a:off x="442762" y="1143000"/>
            <a:ext cx="4129238" cy="3467501"/>
          </a:xfrm>
        </p:spPr>
        <p:txBody>
          <a:bodyPr/>
          <a:lstStyle>
            <a:lvl1pPr marL="168275" indent="-168275">
              <a:buClr>
                <a:srgbClr val="005094"/>
              </a:buClr>
              <a:buFont typeface="Wingdings" panose="05000000000000000000" pitchFamily="2" charset="2"/>
              <a:buChar char="§"/>
              <a:defRPr sz="1800"/>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2">
            <a:extLst>
              <a:ext uri="{FF2B5EF4-FFF2-40B4-BE49-F238E27FC236}">
                <a16:creationId xmlns:a16="http://schemas.microsoft.com/office/drawing/2014/main" id="{CC01E633-FAA4-F7B4-3893-A1FFB20A9C4A}"/>
              </a:ext>
            </a:extLst>
          </p:cNvPr>
          <p:cNvSpPr>
            <a:spLocks noGrp="1"/>
          </p:cNvSpPr>
          <p:nvPr>
            <p:ph idx="10" hasCustomPrompt="1"/>
          </p:nvPr>
        </p:nvSpPr>
        <p:spPr>
          <a:xfrm>
            <a:off x="4719587" y="1143000"/>
            <a:ext cx="4073090" cy="3467500"/>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AE827E89-9151-3A74-8245-090B5BDB5693}"/>
              </a:ext>
            </a:extLst>
          </p:cNvPr>
          <p:cNvCxnSpPr>
            <a:cxnSpLocks/>
          </p:cNvCxnSpPr>
          <p:nvPr userDrawn="1"/>
        </p:nvCxnSpPr>
        <p:spPr>
          <a:xfrm>
            <a:off x="4648200" y="1143000"/>
            <a:ext cx="0" cy="3467500"/>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itle 1">
            <a:extLst>
              <a:ext uri="{FF2B5EF4-FFF2-40B4-BE49-F238E27FC236}">
                <a16:creationId xmlns:a16="http://schemas.microsoft.com/office/drawing/2014/main" id="{3FA46726-0B7D-512C-7067-C9740C6A2759}"/>
              </a:ext>
            </a:extLst>
          </p:cNvPr>
          <p:cNvSpPr>
            <a:spLocks noGrp="1"/>
          </p:cNvSpPr>
          <p:nvPr>
            <p:ph type="title"/>
          </p:nvPr>
        </p:nvSpPr>
        <p:spPr>
          <a:xfrm>
            <a:off x="442762" y="148739"/>
            <a:ext cx="8349916" cy="507831"/>
          </a:xfrm>
        </p:spPr>
        <p:txBody>
          <a:bodyPr anchor="ctr"/>
          <a:lstStyle>
            <a:lvl1pPr algn="l">
              <a:lnSpc>
                <a:spcPct val="100000"/>
              </a:lnSpc>
              <a:defRPr>
                <a:solidFill>
                  <a:srgbClr val="005094"/>
                </a:solidFill>
              </a:defRPr>
            </a:lvl1pPr>
          </a:lstStyle>
          <a:p>
            <a:r>
              <a:rPr lang="en-US" dirty="0"/>
              <a:t>Click to edit Master title style</a:t>
            </a:r>
          </a:p>
        </p:txBody>
      </p:sp>
      <p:sp>
        <p:nvSpPr>
          <p:cNvPr id="10" name="Slide Number Placeholder 10">
            <a:extLst>
              <a:ext uri="{FF2B5EF4-FFF2-40B4-BE49-F238E27FC236}">
                <a16:creationId xmlns:a16="http://schemas.microsoft.com/office/drawing/2014/main" id="{9A92129A-0811-4A8A-836A-70F8CEA85EF9}"/>
              </a:ext>
            </a:extLst>
          </p:cNvPr>
          <p:cNvSpPr>
            <a:spLocks noGrp="1"/>
          </p:cNvSpPr>
          <p:nvPr>
            <p:ph type="sldNum" sz="quarter" idx="4"/>
          </p:nvPr>
        </p:nvSpPr>
        <p:spPr>
          <a:xfrm>
            <a:off x="8535502" y="4831733"/>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1407694539"/>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Head Only Slide">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4699680-FAA4-1DB9-3017-2EB126F0B7B8}"/>
              </a:ext>
            </a:extLst>
          </p:cNvPr>
          <p:cNvSpPr>
            <a:spLocks noGrp="1"/>
          </p:cNvSpPr>
          <p:nvPr>
            <p:ph idx="1" hasCustomPrompt="1"/>
          </p:nvPr>
        </p:nvSpPr>
        <p:spPr>
          <a:xfrm>
            <a:off x="442762" y="1231900"/>
            <a:ext cx="4073091" cy="3378601"/>
          </a:xfrm>
        </p:spPr>
        <p:txBody>
          <a:bodyPr/>
          <a:lstStyle>
            <a:lvl1pPr marL="168275" indent="-168275">
              <a:buClr>
                <a:srgbClr val="005094"/>
              </a:buClr>
              <a:buFont typeface="Wingdings" panose="05000000000000000000" pitchFamily="2" charset="2"/>
              <a:buChar char="§"/>
              <a:defRPr sz="1800"/>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2">
            <a:extLst>
              <a:ext uri="{FF2B5EF4-FFF2-40B4-BE49-F238E27FC236}">
                <a16:creationId xmlns:a16="http://schemas.microsoft.com/office/drawing/2014/main" id="{CC01E633-FAA4-F7B4-3893-A1FFB20A9C4A}"/>
              </a:ext>
            </a:extLst>
          </p:cNvPr>
          <p:cNvSpPr>
            <a:spLocks noGrp="1"/>
          </p:cNvSpPr>
          <p:nvPr>
            <p:ph idx="10" hasCustomPrompt="1"/>
          </p:nvPr>
        </p:nvSpPr>
        <p:spPr>
          <a:xfrm>
            <a:off x="4719587" y="1231899"/>
            <a:ext cx="4073091" cy="3378601"/>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44A16F23-89BB-6D08-1419-74F0F035C8BE}"/>
              </a:ext>
            </a:extLst>
          </p:cNvPr>
          <p:cNvCxnSpPr>
            <a:cxnSpLocks/>
          </p:cNvCxnSpPr>
          <p:nvPr userDrawn="1"/>
        </p:nvCxnSpPr>
        <p:spPr>
          <a:xfrm>
            <a:off x="4615542" y="811374"/>
            <a:ext cx="0" cy="3799126"/>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Slide Number Placeholder 7">
            <a:extLst>
              <a:ext uri="{FF2B5EF4-FFF2-40B4-BE49-F238E27FC236}">
                <a16:creationId xmlns:a16="http://schemas.microsoft.com/office/drawing/2014/main" id="{F95CB157-652B-FD48-276D-25DEB55BE62D}"/>
              </a:ext>
            </a:extLst>
          </p:cNvPr>
          <p:cNvSpPr>
            <a:spLocks noGrp="1"/>
          </p:cNvSpPr>
          <p:nvPr>
            <p:ph type="sldNum" sz="quarter" idx="14"/>
          </p:nvPr>
        </p:nvSpPr>
        <p:spPr>
          <a:xfrm>
            <a:off x="8526793" y="4859773"/>
            <a:ext cx="514350" cy="326056"/>
          </a:xfrm>
        </p:spPr>
        <p:txBody>
          <a:bodyPr/>
          <a:lstStyle/>
          <a:p>
            <a:fld id="{4B327F5A-7D8F-4012-9A1A-2197D74A174F}" type="slidenum">
              <a:rPr lang="en-IN" smtClean="0"/>
              <a:pPr/>
              <a:t>‹#›</a:t>
            </a:fld>
            <a:endParaRPr lang="en-IN" dirty="0"/>
          </a:p>
        </p:txBody>
      </p:sp>
      <p:sp>
        <p:nvSpPr>
          <p:cNvPr id="9" name="Title 1">
            <a:extLst>
              <a:ext uri="{FF2B5EF4-FFF2-40B4-BE49-F238E27FC236}">
                <a16:creationId xmlns:a16="http://schemas.microsoft.com/office/drawing/2014/main" id="{84624EA4-4987-93B2-9F41-13E6B95F1991}"/>
              </a:ext>
            </a:extLst>
          </p:cNvPr>
          <p:cNvSpPr>
            <a:spLocks noGrp="1"/>
          </p:cNvSpPr>
          <p:nvPr>
            <p:ph type="title"/>
          </p:nvPr>
        </p:nvSpPr>
        <p:spPr>
          <a:xfrm>
            <a:off x="442762" y="148739"/>
            <a:ext cx="8349916" cy="507831"/>
          </a:xfrm>
        </p:spPr>
        <p:txBody>
          <a:bodyPr anchor="ctr"/>
          <a:lstStyle>
            <a:lvl1pPr algn="l">
              <a:lnSpc>
                <a:spcPct val="100000"/>
              </a:lnSpc>
              <a:defRPr>
                <a:solidFill>
                  <a:srgbClr val="005094"/>
                </a:solidFill>
              </a:defRPr>
            </a:lvl1pPr>
          </a:lstStyle>
          <a:p>
            <a:r>
              <a:rPr lang="en-US" dirty="0"/>
              <a:t>Click to edit Master title style</a:t>
            </a:r>
          </a:p>
        </p:txBody>
      </p:sp>
      <p:sp>
        <p:nvSpPr>
          <p:cNvPr id="10" name="Text Placeholder 5">
            <a:extLst>
              <a:ext uri="{FF2B5EF4-FFF2-40B4-BE49-F238E27FC236}">
                <a16:creationId xmlns:a16="http://schemas.microsoft.com/office/drawing/2014/main" id="{812373A8-F430-2AB4-654C-8FAFF8BC79E3}"/>
              </a:ext>
            </a:extLst>
          </p:cNvPr>
          <p:cNvSpPr>
            <a:spLocks noGrp="1"/>
          </p:cNvSpPr>
          <p:nvPr>
            <p:ph type="body" sz="quarter" idx="15" hasCustomPrompt="1"/>
          </p:nvPr>
        </p:nvSpPr>
        <p:spPr>
          <a:xfrm>
            <a:off x="442762" y="691628"/>
            <a:ext cx="4068736" cy="391296"/>
          </a:xfrm>
        </p:spPr>
        <p:txBody>
          <a:bodyPr/>
          <a:lstStyle>
            <a:lvl1pPr marL="0" indent="0">
              <a:buNone/>
              <a:defRPr sz="2400" b="0" baseline="0">
                <a:latin typeface="+mj-lt"/>
              </a:defRPr>
            </a:lvl1pPr>
          </a:lstStyle>
          <a:p>
            <a:pPr marL="0" marR="0" lvl="0" indent="0" algn="l" defTabSz="914400" rtl="0" eaLnBrk="1" fontAlgn="auto" latinLnBrk="0" hangingPunct="1">
              <a:lnSpc>
                <a:spcPct val="100000"/>
              </a:lnSpc>
              <a:spcBef>
                <a:spcPts val="1000"/>
              </a:spcBef>
              <a:spcAft>
                <a:spcPts val="0"/>
              </a:spcAft>
              <a:buClr>
                <a:srgbClr val="005094"/>
              </a:buClr>
              <a:buSzTx/>
              <a:buFont typeface="Wingdings" panose="05000000000000000000" pitchFamily="2" charset="2"/>
              <a:buNone/>
              <a:tabLst/>
              <a:defRPr/>
            </a:pPr>
            <a:r>
              <a:rPr lang="en-US" dirty="0"/>
              <a:t>Subhead Arial 24 pt</a:t>
            </a:r>
          </a:p>
        </p:txBody>
      </p:sp>
      <p:sp>
        <p:nvSpPr>
          <p:cNvPr id="11" name="Text Placeholder 5">
            <a:extLst>
              <a:ext uri="{FF2B5EF4-FFF2-40B4-BE49-F238E27FC236}">
                <a16:creationId xmlns:a16="http://schemas.microsoft.com/office/drawing/2014/main" id="{8C3B0951-F521-1E5E-E4BC-A9A329C087CF}"/>
              </a:ext>
            </a:extLst>
          </p:cNvPr>
          <p:cNvSpPr>
            <a:spLocks noGrp="1"/>
          </p:cNvSpPr>
          <p:nvPr>
            <p:ph type="body" sz="quarter" idx="16" hasCustomPrompt="1"/>
          </p:nvPr>
        </p:nvSpPr>
        <p:spPr>
          <a:xfrm>
            <a:off x="4715232" y="691628"/>
            <a:ext cx="4068736" cy="391296"/>
          </a:xfrm>
        </p:spPr>
        <p:txBody>
          <a:bodyPr/>
          <a:lstStyle>
            <a:lvl1pPr marL="0" indent="0">
              <a:buNone/>
              <a:defRPr sz="2400" b="0" baseline="0">
                <a:latin typeface="+mj-lt"/>
              </a:defRPr>
            </a:lvl1pPr>
          </a:lstStyle>
          <a:p>
            <a:pPr marL="0" marR="0" lvl="0" indent="0" algn="l" defTabSz="914400" rtl="0" eaLnBrk="1" fontAlgn="auto" latinLnBrk="0" hangingPunct="1">
              <a:lnSpc>
                <a:spcPct val="100000"/>
              </a:lnSpc>
              <a:spcBef>
                <a:spcPts val="1000"/>
              </a:spcBef>
              <a:spcAft>
                <a:spcPts val="0"/>
              </a:spcAft>
              <a:buClr>
                <a:srgbClr val="005094"/>
              </a:buClr>
              <a:buSzTx/>
              <a:buFont typeface="Wingdings" panose="05000000000000000000" pitchFamily="2" charset="2"/>
              <a:buNone/>
              <a:tabLst/>
              <a:defRPr/>
            </a:pPr>
            <a:r>
              <a:rPr lang="en-US" dirty="0"/>
              <a:t>Subhead Arial 24 pt</a:t>
            </a:r>
          </a:p>
        </p:txBody>
      </p:sp>
    </p:spTree>
    <p:extLst>
      <p:ext uri="{BB962C8B-B14F-4D97-AF65-F5344CB8AC3E}">
        <p14:creationId xmlns:p14="http://schemas.microsoft.com/office/powerpoint/2010/main" val="925118923"/>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Head Only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46C6F62-ED0F-2FA7-A0A0-9AE79283E8FF}"/>
              </a:ext>
            </a:extLst>
          </p:cNvPr>
          <p:cNvSpPr/>
          <p:nvPr userDrawn="1"/>
        </p:nvSpPr>
        <p:spPr bwMode="auto">
          <a:xfrm>
            <a:off x="4719588" y="1143000"/>
            <a:ext cx="4073090" cy="3676650"/>
          </a:xfrm>
          <a:prstGeom prst="rect">
            <a:avLst/>
          </a:prstGeom>
          <a:solidFill>
            <a:schemeClr val="accent3">
              <a:lumMod val="20000"/>
              <a:lumOff val="80000"/>
            </a:schemeClr>
          </a:solidFill>
          <a:ln w="19050" algn="ctr">
            <a:noFill/>
            <a:miter lim="800000"/>
            <a:headEnd/>
            <a:tailEnd/>
          </a:ln>
        </p:spPr>
        <p:txBody>
          <a:bodyPr wrap="none" rtlCol="0" anchor="ctr"/>
          <a:lstStyle/>
          <a:p>
            <a:pPr algn="ctr">
              <a:lnSpc>
                <a:spcPct val="90000"/>
              </a:lnSpc>
            </a:pPr>
            <a:endParaRPr lang="en-IN" sz="1600" b="1" dirty="0" err="1">
              <a:solidFill>
                <a:schemeClr val="bg1"/>
              </a:solidFill>
              <a:latin typeface="+mj-lt"/>
            </a:endParaRPr>
          </a:p>
        </p:txBody>
      </p:sp>
      <p:sp>
        <p:nvSpPr>
          <p:cNvPr id="4" name="Content Placeholder 2">
            <a:extLst>
              <a:ext uri="{FF2B5EF4-FFF2-40B4-BE49-F238E27FC236}">
                <a16:creationId xmlns:a16="http://schemas.microsoft.com/office/drawing/2014/main" id="{94699680-FAA4-1DB9-3017-2EB126F0B7B8}"/>
              </a:ext>
            </a:extLst>
          </p:cNvPr>
          <p:cNvSpPr>
            <a:spLocks noGrp="1"/>
          </p:cNvSpPr>
          <p:nvPr>
            <p:ph idx="1" hasCustomPrompt="1"/>
          </p:nvPr>
        </p:nvSpPr>
        <p:spPr>
          <a:xfrm>
            <a:off x="442762" y="1143000"/>
            <a:ext cx="4129238" cy="3467501"/>
          </a:xfrm>
        </p:spPr>
        <p:txBody>
          <a:bodyPr/>
          <a:lstStyle>
            <a:lvl1pPr marL="168275" indent="-168275">
              <a:buClr>
                <a:srgbClr val="005094"/>
              </a:buClr>
              <a:buFont typeface="Wingdings" panose="05000000000000000000" pitchFamily="2" charset="2"/>
              <a:buChar char="§"/>
              <a:defRPr sz="1800"/>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2">
            <a:extLst>
              <a:ext uri="{FF2B5EF4-FFF2-40B4-BE49-F238E27FC236}">
                <a16:creationId xmlns:a16="http://schemas.microsoft.com/office/drawing/2014/main" id="{CC01E633-FAA4-F7B4-3893-A1FFB20A9C4A}"/>
              </a:ext>
            </a:extLst>
          </p:cNvPr>
          <p:cNvSpPr>
            <a:spLocks noGrp="1"/>
          </p:cNvSpPr>
          <p:nvPr>
            <p:ph idx="10" hasCustomPrompt="1"/>
          </p:nvPr>
        </p:nvSpPr>
        <p:spPr>
          <a:xfrm>
            <a:off x="4719587" y="1143000"/>
            <a:ext cx="4073090" cy="3467500"/>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AE827E89-9151-3A74-8245-090B5BDB5693}"/>
              </a:ext>
            </a:extLst>
          </p:cNvPr>
          <p:cNvCxnSpPr>
            <a:cxnSpLocks/>
          </p:cNvCxnSpPr>
          <p:nvPr userDrawn="1"/>
        </p:nvCxnSpPr>
        <p:spPr>
          <a:xfrm>
            <a:off x="4648200" y="1143000"/>
            <a:ext cx="0" cy="3467500"/>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itle 1">
            <a:extLst>
              <a:ext uri="{FF2B5EF4-FFF2-40B4-BE49-F238E27FC236}">
                <a16:creationId xmlns:a16="http://schemas.microsoft.com/office/drawing/2014/main" id="{3FA46726-0B7D-512C-7067-C9740C6A2759}"/>
              </a:ext>
            </a:extLst>
          </p:cNvPr>
          <p:cNvSpPr>
            <a:spLocks noGrp="1"/>
          </p:cNvSpPr>
          <p:nvPr>
            <p:ph type="title"/>
          </p:nvPr>
        </p:nvSpPr>
        <p:spPr>
          <a:xfrm>
            <a:off x="442762" y="148739"/>
            <a:ext cx="8349916" cy="507831"/>
          </a:xfrm>
        </p:spPr>
        <p:txBody>
          <a:bodyPr anchor="ctr"/>
          <a:lstStyle>
            <a:lvl1pPr algn="l">
              <a:lnSpc>
                <a:spcPct val="100000"/>
              </a:lnSpc>
              <a:defRPr>
                <a:solidFill>
                  <a:srgbClr val="005094"/>
                </a:solidFill>
              </a:defRPr>
            </a:lvl1pPr>
          </a:lstStyle>
          <a:p>
            <a:r>
              <a:rPr lang="en-US" dirty="0"/>
              <a:t>Click to edit Master title style</a:t>
            </a:r>
          </a:p>
        </p:txBody>
      </p:sp>
      <p:sp>
        <p:nvSpPr>
          <p:cNvPr id="6" name="Slide Number Placeholder 7">
            <a:extLst>
              <a:ext uri="{FF2B5EF4-FFF2-40B4-BE49-F238E27FC236}">
                <a16:creationId xmlns:a16="http://schemas.microsoft.com/office/drawing/2014/main" id="{33CB75A5-C7CB-2DB8-4C55-16FC38CE16DD}"/>
              </a:ext>
            </a:extLst>
          </p:cNvPr>
          <p:cNvSpPr>
            <a:spLocks noGrp="1"/>
          </p:cNvSpPr>
          <p:nvPr>
            <p:ph type="sldNum" sz="quarter" idx="14"/>
          </p:nvPr>
        </p:nvSpPr>
        <p:spPr>
          <a:xfrm>
            <a:off x="8535502" y="4831733"/>
            <a:ext cx="514350" cy="326056"/>
          </a:xfrm>
        </p:spPr>
        <p:txBody>
          <a:body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284149468"/>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Head Only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FF3B42D-C50E-33BB-B7E9-3C8F2C8CDE29}"/>
              </a:ext>
            </a:extLst>
          </p:cNvPr>
          <p:cNvSpPr/>
          <p:nvPr userDrawn="1"/>
        </p:nvSpPr>
        <p:spPr bwMode="auto">
          <a:xfrm>
            <a:off x="442761" y="1143000"/>
            <a:ext cx="8349917" cy="3670300"/>
          </a:xfrm>
          <a:prstGeom prst="rect">
            <a:avLst/>
          </a:prstGeom>
          <a:solidFill>
            <a:schemeClr val="accent3">
              <a:lumMod val="20000"/>
              <a:lumOff val="80000"/>
            </a:schemeClr>
          </a:solidFill>
          <a:ln w="19050" algn="ctr">
            <a:noFill/>
            <a:miter lim="800000"/>
            <a:headEnd/>
            <a:tailEnd/>
          </a:ln>
        </p:spPr>
        <p:txBody>
          <a:bodyPr wrap="none" rtlCol="0" anchor="ctr"/>
          <a:lstStyle/>
          <a:p>
            <a:pPr algn="ctr">
              <a:lnSpc>
                <a:spcPct val="90000"/>
              </a:lnSpc>
            </a:pPr>
            <a:endParaRPr lang="en-IN" sz="1600" b="1" dirty="0" err="1">
              <a:solidFill>
                <a:schemeClr val="bg1"/>
              </a:solidFill>
              <a:latin typeface="+mj-lt"/>
            </a:endParaRPr>
          </a:p>
        </p:txBody>
      </p:sp>
      <p:sp>
        <p:nvSpPr>
          <p:cNvPr id="8" name="Content Placeholder 2">
            <a:extLst>
              <a:ext uri="{FF2B5EF4-FFF2-40B4-BE49-F238E27FC236}">
                <a16:creationId xmlns:a16="http://schemas.microsoft.com/office/drawing/2014/main" id="{2F23D3D4-9F97-9AAC-983C-38984737415D}"/>
              </a:ext>
            </a:extLst>
          </p:cNvPr>
          <p:cNvSpPr>
            <a:spLocks noGrp="1"/>
          </p:cNvSpPr>
          <p:nvPr>
            <p:ph idx="10" hasCustomPrompt="1"/>
          </p:nvPr>
        </p:nvSpPr>
        <p:spPr>
          <a:xfrm>
            <a:off x="442761" y="1143000"/>
            <a:ext cx="8349916" cy="3467500"/>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marL="0" marR="0" lvl="0" indent="0" algn="l" defTabSz="914400" rtl="0" eaLnBrk="1" fontAlgn="auto" latinLnBrk="0" hangingPunct="1">
              <a:lnSpc>
                <a:spcPct val="100000"/>
              </a:lnSpc>
              <a:spcBef>
                <a:spcPts val="1000"/>
              </a:spcBef>
              <a:spcAft>
                <a:spcPts val="0"/>
              </a:spcAft>
              <a:buClr>
                <a:srgbClr val="51237F"/>
              </a:buClr>
              <a:buSzTx/>
              <a:buFontTx/>
              <a:buNone/>
              <a:tabLst/>
              <a:defRPr/>
            </a:pPr>
            <a:r>
              <a:rPr lang="en-US" dirty="0"/>
              <a:t>Subhead Arial 21 pt</a:t>
            </a:r>
            <a:endParaRPr lang="en-IN" dirty="0"/>
          </a:p>
          <a:p>
            <a:pPr marL="0" marR="0" lvl="0" indent="0" algn="l" defTabSz="914400" rtl="0" eaLnBrk="1" fontAlgn="auto" latinLnBrk="0" hangingPunct="1">
              <a:lnSpc>
                <a:spcPct val="100000"/>
              </a:lnSpc>
              <a:spcBef>
                <a:spcPts val="1000"/>
              </a:spcBef>
              <a:spcAft>
                <a:spcPts val="0"/>
              </a:spcAft>
              <a:buClr>
                <a:srgbClr val="51237F"/>
              </a:buClr>
              <a:buSzTx/>
              <a:buFontTx/>
              <a:buNone/>
              <a:tabLst/>
              <a:defRPr/>
            </a:pPr>
            <a:endParaRPr lang="en-US" dirty="0"/>
          </a:p>
        </p:txBody>
      </p:sp>
      <p:sp>
        <p:nvSpPr>
          <p:cNvPr id="13" name="Slide Number Placeholder 4">
            <a:extLst>
              <a:ext uri="{FF2B5EF4-FFF2-40B4-BE49-F238E27FC236}">
                <a16:creationId xmlns:a16="http://schemas.microsoft.com/office/drawing/2014/main" id="{18EDF24D-2644-DA9D-EFD0-4B9BBBE3733F}"/>
              </a:ext>
            </a:extLst>
          </p:cNvPr>
          <p:cNvSpPr>
            <a:spLocks noGrp="1"/>
          </p:cNvSpPr>
          <p:nvPr>
            <p:ph type="sldNum" sz="quarter" idx="11"/>
          </p:nvPr>
        </p:nvSpPr>
        <p:spPr>
          <a:xfrm>
            <a:off x="8535502" y="4831733"/>
            <a:ext cx="514350" cy="326056"/>
          </a:xfrm>
        </p:spPr>
        <p:txBody>
          <a:bodyPr/>
          <a:lstStyle/>
          <a:p>
            <a:fld id="{4B327F5A-7D8F-4012-9A1A-2197D74A174F}" type="slidenum">
              <a:rPr lang="en-IN" smtClean="0"/>
              <a:pPr/>
              <a:t>‹#›</a:t>
            </a:fld>
            <a:endParaRPr lang="en-IN" dirty="0"/>
          </a:p>
        </p:txBody>
      </p:sp>
      <p:sp>
        <p:nvSpPr>
          <p:cNvPr id="14" name="Title 1">
            <a:extLst>
              <a:ext uri="{FF2B5EF4-FFF2-40B4-BE49-F238E27FC236}">
                <a16:creationId xmlns:a16="http://schemas.microsoft.com/office/drawing/2014/main" id="{A300C8CE-3F16-A12B-7A24-DA8017CA8DCF}"/>
              </a:ext>
            </a:extLst>
          </p:cNvPr>
          <p:cNvSpPr>
            <a:spLocks noGrp="1"/>
          </p:cNvSpPr>
          <p:nvPr>
            <p:ph type="title"/>
          </p:nvPr>
        </p:nvSpPr>
        <p:spPr>
          <a:xfrm>
            <a:off x="442762" y="148739"/>
            <a:ext cx="8349916" cy="507831"/>
          </a:xfrm>
        </p:spPr>
        <p:txBody>
          <a:bodyPr anchor="ctr"/>
          <a:lstStyle>
            <a:lvl1pPr algn="l">
              <a:lnSpc>
                <a:spcPct val="100000"/>
              </a:lnSpc>
              <a:defRPr>
                <a:solidFill>
                  <a:srgbClr val="005094"/>
                </a:solidFill>
              </a:defRPr>
            </a:lvl1pPr>
          </a:lstStyle>
          <a:p>
            <a:r>
              <a:rPr lang="en-US" dirty="0"/>
              <a:t>Click to edit Master title style</a:t>
            </a:r>
          </a:p>
        </p:txBody>
      </p:sp>
    </p:spTree>
    <p:extLst>
      <p:ext uri="{BB962C8B-B14F-4D97-AF65-F5344CB8AC3E}">
        <p14:creationId xmlns:p14="http://schemas.microsoft.com/office/powerpoint/2010/main" val="4229649503"/>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Head Only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52B372A-77B5-31B3-E290-AB03B8680C3A}"/>
              </a:ext>
            </a:extLst>
          </p:cNvPr>
          <p:cNvSpPr>
            <a:spLocks noGrp="1"/>
          </p:cNvSpPr>
          <p:nvPr>
            <p:ph type="title"/>
          </p:nvPr>
        </p:nvSpPr>
        <p:spPr>
          <a:xfrm>
            <a:off x="442762" y="148739"/>
            <a:ext cx="8349916" cy="507831"/>
          </a:xfrm>
        </p:spPr>
        <p:txBody>
          <a:bodyPr anchor="ctr"/>
          <a:lstStyle>
            <a:lvl1pPr algn="l">
              <a:lnSpc>
                <a:spcPct val="100000"/>
              </a:lnSpc>
              <a:defRPr>
                <a:solidFill>
                  <a:srgbClr val="005094"/>
                </a:solidFill>
              </a:defRPr>
            </a:lvl1pPr>
          </a:lstStyle>
          <a:p>
            <a:r>
              <a:rPr lang="en-US" dirty="0"/>
              <a:t>Click to edit Master title style</a:t>
            </a:r>
          </a:p>
        </p:txBody>
      </p:sp>
      <p:sp>
        <p:nvSpPr>
          <p:cNvPr id="6" name="Slide Number Placeholder 7">
            <a:extLst>
              <a:ext uri="{FF2B5EF4-FFF2-40B4-BE49-F238E27FC236}">
                <a16:creationId xmlns:a16="http://schemas.microsoft.com/office/drawing/2014/main" id="{29FCD054-2ACB-3400-A961-62B89EF00924}"/>
              </a:ext>
            </a:extLst>
          </p:cNvPr>
          <p:cNvSpPr>
            <a:spLocks noGrp="1"/>
          </p:cNvSpPr>
          <p:nvPr>
            <p:ph type="sldNum" sz="quarter" idx="14"/>
          </p:nvPr>
        </p:nvSpPr>
        <p:spPr>
          <a:xfrm>
            <a:off x="8535503" y="4831733"/>
            <a:ext cx="514350" cy="326056"/>
          </a:xfrm>
        </p:spPr>
        <p:txBody>
          <a:body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2560904071"/>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550F4DCF-0EC0-663F-41C6-AC6F61393C5D}"/>
              </a:ext>
            </a:extLst>
          </p:cNvPr>
          <p:cNvSpPr>
            <a:spLocks noGrp="1"/>
          </p:cNvSpPr>
          <p:nvPr>
            <p:ph type="sldNum" sz="quarter" idx="14"/>
          </p:nvPr>
        </p:nvSpPr>
        <p:spPr>
          <a:xfrm>
            <a:off x="8535503" y="4831733"/>
            <a:ext cx="514350" cy="326056"/>
          </a:xfrm>
        </p:spPr>
        <p:txBody>
          <a:bodyPr/>
          <a:lstStyle/>
          <a:p>
            <a:fld id="{4B327F5A-7D8F-4012-9A1A-2197D74A174F}" type="slidenum">
              <a:rPr lang="en-IN" smtClean="0"/>
              <a:pPr/>
              <a:t>‹#›</a:t>
            </a:fld>
            <a:endParaRPr lang="en-IN" dirty="0"/>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Quot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36639" y="998545"/>
            <a:ext cx="7072312" cy="2169825"/>
          </a:xfrm>
        </p:spPr>
        <p:txBody>
          <a:bodyPr vert="horz" wrap="square" lIns="91440" tIns="45720" rIns="91440" bIns="45720" rtlCol="0" anchor="b" anchorCtr="0">
            <a:spAutoFit/>
          </a:bodyPr>
          <a:lstStyle>
            <a:lvl1pPr marL="280988" indent="-91440">
              <a:lnSpc>
                <a:spcPct val="90000"/>
              </a:lnSpc>
              <a:defRPr lang="en-US" sz="3000" kern="2200" spc="0" baseline="0" dirty="0">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eu</a:t>
            </a:r>
            <a:r>
              <a:rPr lang="en-US" dirty="0"/>
              <a:t> </a:t>
            </a:r>
            <a:r>
              <a:rPr lang="en-US" dirty="0" err="1"/>
              <a:t>diam</a:t>
            </a:r>
            <a:r>
              <a:rPr lang="en-US" dirty="0"/>
              <a:t> </a:t>
            </a:r>
            <a:r>
              <a:rPr lang="en-US" dirty="0" err="1"/>
              <a:t>viverra</a:t>
            </a:r>
            <a:r>
              <a:rPr lang="en-US" dirty="0"/>
              <a:t>, semper </a:t>
            </a:r>
            <a:r>
              <a:rPr lang="en-US" dirty="0" err="1"/>
              <a:t>odio</a:t>
            </a:r>
            <a:r>
              <a:rPr lang="en-US" dirty="0"/>
              <a:t> </a:t>
            </a:r>
            <a:r>
              <a:rPr lang="en-US" dirty="0" err="1"/>
              <a:t>eu</a:t>
            </a:r>
            <a:r>
              <a:rPr lang="en-US" dirty="0"/>
              <a:t>, </a:t>
            </a:r>
            <a:r>
              <a:rPr lang="en-US" dirty="0" err="1"/>
              <a:t>interdum</a:t>
            </a:r>
            <a:r>
              <a:rPr lang="en-US" dirty="0"/>
              <a:t> </a:t>
            </a:r>
            <a:r>
              <a:rPr lang="en-US" dirty="0" err="1"/>
              <a:t>turpis</a:t>
            </a:r>
            <a:r>
              <a:rPr lang="en-US" dirty="0"/>
              <a:t>. </a:t>
            </a:r>
            <a:r>
              <a:rPr lang="en-US" dirty="0" err="1"/>
              <a:t>Proin</a:t>
            </a:r>
            <a:r>
              <a:rPr lang="en-US" dirty="0"/>
              <a:t> </a:t>
            </a:r>
            <a:r>
              <a:rPr lang="en-US" dirty="0" err="1"/>
              <a:t>placerat</a:t>
            </a:r>
            <a:r>
              <a:rPr lang="en-US" dirty="0"/>
              <a:t> ipsum mi, ac </a:t>
            </a:r>
            <a:r>
              <a:rPr lang="en-US" dirty="0" err="1"/>
              <a:t>sodales</a:t>
            </a:r>
            <a:r>
              <a:rPr lang="en-US" dirty="0"/>
              <a:t> </a:t>
            </a:r>
            <a:r>
              <a:rPr lang="en-US" dirty="0" err="1"/>
              <a:t>tellus</a:t>
            </a:r>
            <a:r>
              <a:rPr lang="en-US" dirty="0"/>
              <a:t> </a:t>
            </a:r>
            <a:r>
              <a:rPr lang="en-US" dirty="0" err="1"/>
              <a:t>congue</a:t>
            </a:r>
            <a:r>
              <a:rPr lang="en-US" dirty="0"/>
              <a:t> </a:t>
            </a:r>
            <a:r>
              <a:rPr lang="en-US" dirty="0" err="1"/>
              <a:t>amet</a:t>
            </a:r>
            <a:r>
              <a:rPr lang="en-US" dirty="0"/>
              <a:t> dolor.”</a:t>
            </a:r>
          </a:p>
        </p:txBody>
      </p:sp>
      <p:sp>
        <p:nvSpPr>
          <p:cNvPr id="3" name="Content Placeholder 2"/>
          <p:cNvSpPr>
            <a:spLocks noGrp="1"/>
          </p:cNvSpPr>
          <p:nvPr>
            <p:ph idx="1" hasCustomPrompt="1"/>
          </p:nvPr>
        </p:nvSpPr>
        <p:spPr>
          <a:xfrm>
            <a:off x="1036637" y="3383309"/>
            <a:ext cx="7072313" cy="541425"/>
          </a:xfrm>
        </p:spPr>
        <p:txBody>
          <a:bodyPr vert="horz" wrap="square" lIns="91440" tIns="45720" rIns="91440" bIns="45720" rtlCol="0">
            <a:noAutofit/>
          </a:bodyPr>
          <a:lstStyle>
            <a:lvl1pPr marL="0" indent="0" algn="r">
              <a:spcBef>
                <a:spcPts val="300"/>
              </a:spcBef>
              <a:buNone/>
              <a:defRPr lang="en-US" sz="1800" baseline="0" dirty="0" smtClean="0">
                <a:solidFill>
                  <a:srgbClr val="525252"/>
                </a:solidFill>
                <a:latin typeface="+mn-lt"/>
              </a:defRPr>
            </a:lvl1pPr>
            <a:lvl2pPr marL="230187" indent="0">
              <a:buNone/>
              <a:defRPr lang="en-US" dirty="0" smtClean="0"/>
            </a:lvl2pPr>
            <a:lvl3pPr marL="515937" indent="0">
              <a:buNone/>
              <a:defRPr lang="en-US" dirty="0" smtClean="0"/>
            </a:lvl3pPr>
            <a:lvl4pPr marL="800100" indent="0">
              <a:buNone/>
              <a:defRPr lang="en-US" dirty="0" smtClean="0"/>
            </a:lvl4pPr>
            <a:lvl5pPr marL="1085850" indent="0">
              <a:buNone/>
              <a:defRPr lang="en-US" dirty="0"/>
            </a:lvl5pPr>
          </a:lstStyle>
          <a:p>
            <a:pPr lvl="0"/>
            <a:r>
              <a:rPr lang="en-US" dirty="0"/>
              <a:t>—Author’s Name</a:t>
            </a:r>
          </a:p>
        </p:txBody>
      </p:sp>
      <p:sp>
        <p:nvSpPr>
          <p:cNvPr id="5" name="Slide Number Placeholder 7">
            <a:extLst>
              <a:ext uri="{FF2B5EF4-FFF2-40B4-BE49-F238E27FC236}">
                <a16:creationId xmlns:a16="http://schemas.microsoft.com/office/drawing/2014/main" id="{DD649393-7F7F-376A-0550-E4D3CFFD7A9A}"/>
              </a:ext>
            </a:extLst>
          </p:cNvPr>
          <p:cNvSpPr>
            <a:spLocks noGrp="1"/>
          </p:cNvSpPr>
          <p:nvPr>
            <p:ph type="sldNum" sz="quarter" idx="14"/>
          </p:nvPr>
        </p:nvSpPr>
        <p:spPr>
          <a:xfrm>
            <a:off x="8535503" y="4831733"/>
            <a:ext cx="514350" cy="326056"/>
          </a:xfrm>
        </p:spPr>
        <p:txBody>
          <a:body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255213682"/>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CEE34C1-3461-53B5-31B6-6C5EA7C7518D}"/>
              </a:ext>
            </a:extLst>
          </p:cNvPr>
          <p:cNvSpPr/>
          <p:nvPr userDrawn="1"/>
        </p:nvSpPr>
        <p:spPr bwMode="auto">
          <a:xfrm>
            <a:off x="0" y="0"/>
            <a:ext cx="9143999" cy="5143500"/>
          </a:xfrm>
          <a:prstGeom prst="rect">
            <a:avLst/>
          </a:prstGeom>
          <a:solidFill>
            <a:srgbClr val="005094"/>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6" name="Picture 5" descr="A black and white sign with white text&#10;&#10;Description automatically generated">
            <a:extLst>
              <a:ext uri="{FF2B5EF4-FFF2-40B4-BE49-F238E27FC236}">
                <a16:creationId xmlns:a16="http://schemas.microsoft.com/office/drawing/2014/main" id="{3BC0876D-534B-C445-D5AC-3F90E89F505D}"/>
              </a:ext>
            </a:extLst>
          </p:cNvPr>
          <p:cNvPicPr>
            <a:picLocks noChangeAspect="1"/>
          </p:cNvPicPr>
          <p:nvPr userDrawn="1"/>
        </p:nvPicPr>
        <p:blipFill>
          <a:blip r:embed="rId2"/>
          <a:stretch>
            <a:fillRect/>
          </a:stretch>
        </p:blipFill>
        <p:spPr>
          <a:xfrm>
            <a:off x="820477" y="355946"/>
            <a:ext cx="3535363" cy="814976"/>
          </a:xfrm>
          <a:prstGeom prst="rect">
            <a:avLst/>
          </a:prstGeom>
        </p:spPr>
      </p:pic>
      <p:sp>
        <p:nvSpPr>
          <p:cNvPr id="8" name="Title 1">
            <a:extLst>
              <a:ext uri="{FF2B5EF4-FFF2-40B4-BE49-F238E27FC236}">
                <a16:creationId xmlns:a16="http://schemas.microsoft.com/office/drawing/2014/main" id="{0A8F41F8-F19F-D315-422E-A1602CCDB20C}"/>
              </a:ext>
            </a:extLst>
          </p:cNvPr>
          <p:cNvSpPr>
            <a:spLocks noGrp="1"/>
          </p:cNvSpPr>
          <p:nvPr>
            <p:ph type="ctrTitle"/>
          </p:nvPr>
        </p:nvSpPr>
        <p:spPr>
          <a:xfrm>
            <a:off x="1036637" y="2445200"/>
            <a:ext cx="6950076" cy="517065"/>
          </a:xfrm>
        </p:spPr>
        <p:txBody>
          <a:bodyPr/>
          <a:lstStyle>
            <a:lvl1pPr algn="l">
              <a:defRPr sz="3600">
                <a:solidFill>
                  <a:schemeClr val="bg1"/>
                </a:solidFill>
              </a:defRPr>
            </a:lvl1pPr>
          </a:lstStyle>
          <a:p>
            <a:r>
              <a:rPr lang="en-US" dirty="0"/>
              <a:t>Click to edit Master title style</a:t>
            </a:r>
            <a:endParaRPr lang="en-GB" dirty="0"/>
          </a:p>
        </p:txBody>
      </p:sp>
      <p:sp>
        <p:nvSpPr>
          <p:cNvPr id="11" name="Rectangle 10">
            <a:extLst>
              <a:ext uri="{FF2B5EF4-FFF2-40B4-BE49-F238E27FC236}">
                <a16:creationId xmlns:a16="http://schemas.microsoft.com/office/drawing/2014/main" id="{DC3D7F17-64E9-A89C-A05F-98433E474297}"/>
              </a:ext>
            </a:extLst>
          </p:cNvPr>
          <p:cNvSpPr>
            <a:spLocks noChangeAspect="1"/>
          </p:cNvSpPr>
          <p:nvPr userDrawn="1"/>
        </p:nvSpPr>
        <p:spPr bwMode="auto">
          <a:xfrm>
            <a:off x="4569620" y="-63500"/>
            <a:ext cx="4725076" cy="5256000"/>
          </a:xfrm>
          <a:prstGeom prst="rect">
            <a:avLst/>
          </a:prstGeom>
          <a:blipFill dpi="0" rotWithShape="1">
            <a:blip r:embed="rId3">
              <a:alphaModFix amt="17000"/>
            </a:blip>
            <a:srcRect/>
            <a:stretch>
              <a:fillRect/>
            </a:stretch>
          </a:blipFill>
          <a:ln w="19050" algn="ctr">
            <a:noFill/>
            <a:miter lim="800000"/>
            <a:headEnd/>
            <a:tailEnd/>
          </a:ln>
        </p:spPr>
        <p:txBody>
          <a:bodyPr wrap="none" rtlCol="0" anchor="ctr"/>
          <a:lstStyle/>
          <a:p>
            <a:pPr algn="ctr">
              <a:lnSpc>
                <a:spcPct val="90000"/>
              </a:lnSpc>
            </a:pPr>
            <a:endParaRPr lang="en-IN" sz="1600" b="1" dirty="0" err="1">
              <a:solidFill>
                <a:schemeClr val="bg1"/>
              </a:solidFill>
              <a:latin typeface="+mj-lt"/>
            </a:endParaRPr>
          </a:p>
        </p:txBody>
      </p:sp>
      <p:sp>
        <p:nvSpPr>
          <p:cNvPr id="12" name="Slide Number Placeholder 7">
            <a:extLst>
              <a:ext uri="{FF2B5EF4-FFF2-40B4-BE49-F238E27FC236}">
                <a16:creationId xmlns:a16="http://schemas.microsoft.com/office/drawing/2014/main" id="{AF9A6E86-2C50-5A08-8E59-26135CF1280F}"/>
              </a:ext>
            </a:extLst>
          </p:cNvPr>
          <p:cNvSpPr>
            <a:spLocks noGrp="1"/>
          </p:cNvSpPr>
          <p:nvPr>
            <p:ph type="sldNum" sz="quarter" idx="14"/>
          </p:nvPr>
        </p:nvSpPr>
        <p:spPr>
          <a:xfrm>
            <a:off x="8535503" y="4831733"/>
            <a:ext cx="514350" cy="326056"/>
          </a:xfrm>
        </p:spPr>
        <p:txBody>
          <a:bodyPr/>
          <a:lstStyle/>
          <a:p>
            <a:fld id="{4B327F5A-7D8F-4012-9A1A-2197D74A174F}" type="slidenum">
              <a:rPr lang="en-IN" smtClean="0"/>
              <a:pPr/>
              <a:t>‹#›</a:t>
            </a:fld>
            <a:endParaRPr lang="en-IN" dirty="0"/>
          </a:p>
        </p:txBody>
      </p:sp>
    </p:spTree>
    <p:extLst>
      <p:ext uri="{BB962C8B-B14F-4D97-AF65-F5344CB8AC3E}">
        <p14:creationId xmlns:p14="http://schemas.microsoft.com/office/powerpoint/2010/main" val="297982737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bwMode="auto">
          <a:xfrm>
            <a:off x="-2" y="4817444"/>
            <a:ext cx="9143999" cy="326056"/>
          </a:xfrm>
          <a:prstGeom prst="rect">
            <a:avLst/>
          </a:prstGeom>
          <a:gradFill flip="none" rotWithShape="1">
            <a:gsLst>
              <a:gs pos="0">
                <a:srgbClr val="005094"/>
              </a:gs>
              <a:gs pos="50000">
                <a:srgbClr val="005094"/>
              </a:gs>
              <a:gs pos="75000">
                <a:srgbClr val="3A195B"/>
              </a:gs>
            </a:gsLst>
            <a:path path="circle">
              <a:fillToRect l="100000" t="100000"/>
            </a:path>
            <a:tileRect r="-100000" b="-100000"/>
          </a:gradFill>
          <a:ln w="19050" algn="ctr">
            <a:noFill/>
            <a:miter lim="800000"/>
            <a:headEnd/>
            <a:tailEnd/>
          </a:ln>
        </p:spPr>
        <p:txBody>
          <a:bodyPr wrap="none" rtlCol="0" anchor="ctr"/>
          <a:lstStyle/>
          <a:p>
            <a:pPr algn="l">
              <a:lnSpc>
                <a:spcPct val="90000"/>
              </a:lnSpc>
            </a:pPr>
            <a:endParaRPr lang="en-US" sz="1200" b="0" dirty="0">
              <a:solidFill>
                <a:schemeClr val="bg1"/>
              </a:solidFill>
              <a:latin typeface="+mj-lt"/>
            </a:endParaRPr>
          </a:p>
        </p:txBody>
      </p:sp>
      <p:sp>
        <p:nvSpPr>
          <p:cNvPr id="2" name="Title Placeholder 1"/>
          <p:cNvSpPr>
            <a:spLocks noGrp="1"/>
          </p:cNvSpPr>
          <p:nvPr>
            <p:ph type="title"/>
          </p:nvPr>
        </p:nvSpPr>
        <p:spPr>
          <a:xfrm>
            <a:off x="1036638" y="633475"/>
            <a:ext cx="7072312" cy="438582"/>
          </a:xfrm>
          <a:prstGeom prst="rect">
            <a:avLst/>
          </a:prstGeom>
        </p:spPr>
        <p:txBody>
          <a:bodyPr vert="horz" wrap="square" lIns="0" tIns="0" rIns="0" bIns="45720" rtlCol="0" anchor="t" anchorCtr="0">
            <a:spAutoFit/>
          </a:bodyPr>
          <a:lstStyle/>
          <a:p>
            <a:r>
              <a:rPr lang="en-US" dirty="0"/>
              <a:t>Slide Title Here</a:t>
            </a:r>
          </a:p>
        </p:txBody>
      </p:sp>
      <p:sp>
        <p:nvSpPr>
          <p:cNvPr id="3" name="Text Placeholder 2"/>
          <p:cNvSpPr>
            <a:spLocks noGrp="1"/>
          </p:cNvSpPr>
          <p:nvPr>
            <p:ph type="body" idx="1"/>
          </p:nvPr>
        </p:nvSpPr>
        <p:spPr>
          <a:xfrm>
            <a:off x="1036638" y="1108347"/>
            <a:ext cx="7072312" cy="3171045"/>
          </a:xfrm>
          <a:prstGeom prst="rect">
            <a:avLst/>
          </a:prstGeom>
        </p:spPr>
        <p:txBody>
          <a:bodyPr vert="horz" wrap="square" lIns="0" tIns="0" rIns="0" bIns="45720" rtlCol="0">
            <a:noAutofit/>
          </a:bodyPr>
          <a:lstStyle/>
          <a:p>
            <a:pPr lvl="0"/>
            <a:r>
              <a:rPr lang="en-US" dirty="0"/>
              <a:t>Click to edit bullet text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ue and black logo&#10;&#10;Description automatically generated">
            <a:extLst>
              <a:ext uri="{FF2B5EF4-FFF2-40B4-BE49-F238E27FC236}">
                <a16:creationId xmlns:a16="http://schemas.microsoft.com/office/drawing/2014/main" id="{56EBD2BB-939E-8183-DA57-9EBF0EB8BEC8}"/>
              </a:ext>
            </a:extLst>
          </p:cNvPr>
          <p:cNvPicPr>
            <a:picLocks noChangeAspect="1"/>
          </p:cNvPicPr>
          <p:nvPr userDrawn="1"/>
        </p:nvPicPr>
        <p:blipFill rotWithShape="1">
          <a:blip r:embed="rId13"/>
          <a:srcRect r="74035"/>
          <a:stretch/>
        </p:blipFill>
        <p:spPr>
          <a:xfrm>
            <a:off x="8366780" y="118792"/>
            <a:ext cx="712936" cy="720000"/>
          </a:xfrm>
          <a:prstGeom prst="rect">
            <a:avLst/>
          </a:prstGeom>
        </p:spPr>
      </p:pic>
      <p:sp>
        <p:nvSpPr>
          <p:cNvPr id="11" name="Slide Number Placeholder 10">
            <a:extLst>
              <a:ext uri="{FF2B5EF4-FFF2-40B4-BE49-F238E27FC236}">
                <a16:creationId xmlns:a16="http://schemas.microsoft.com/office/drawing/2014/main" id="{F99E92E5-B5F9-59B9-2C09-DCBBBD14476A}"/>
              </a:ext>
            </a:extLst>
          </p:cNvPr>
          <p:cNvSpPr>
            <a:spLocks noGrp="1"/>
          </p:cNvSpPr>
          <p:nvPr>
            <p:ph type="sldNum" sz="quarter" idx="4"/>
          </p:nvPr>
        </p:nvSpPr>
        <p:spPr>
          <a:xfrm>
            <a:off x="8466073" y="4932002"/>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pPr/>
              <a:t>‹#›</a:t>
            </a:fld>
            <a:endParaRPr lang="en-IN" dirty="0"/>
          </a:p>
        </p:txBody>
      </p:sp>
      <p:cxnSp>
        <p:nvCxnSpPr>
          <p:cNvPr id="4" name="Straight Connector 3">
            <a:extLst>
              <a:ext uri="{FF2B5EF4-FFF2-40B4-BE49-F238E27FC236}">
                <a16:creationId xmlns:a16="http://schemas.microsoft.com/office/drawing/2014/main" id="{30F8A716-9FA3-C8CF-6294-DA0CD42E76CF}"/>
              </a:ext>
            </a:extLst>
          </p:cNvPr>
          <p:cNvCxnSpPr/>
          <p:nvPr userDrawn="1"/>
        </p:nvCxnSpPr>
        <p:spPr>
          <a:xfrm>
            <a:off x="0" y="1078706"/>
            <a:ext cx="9144000" cy="0"/>
          </a:xfrm>
          <a:prstGeom prst="line">
            <a:avLst/>
          </a:prstGeom>
          <a:ln w="9525">
            <a:solidFill>
              <a:srgbClr val="3A195B"/>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014" r:id="rId1"/>
    <p:sldLayoutId id="2147484015" r:id="rId2"/>
    <p:sldLayoutId id="2147484028" r:id="rId3"/>
    <p:sldLayoutId id="2147484023" r:id="rId4"/>
    <p:sldLayoutId id="2147484025" r:id="rId5"/>
    <p:sldLayoutId id="2147484030" r:id="rId6"/>
    <p:sldLayoutId id="2147484029" r:id="rId7"/>
    <p:sldLayoutId id="2147484027" r:id="rId8"/>
    <p:sldLayoutId id="2147483944" r:id="rId9"/>
    <p:sldLayoutId id="2147483940" r:id="rId10"/>
    <p:sldLayoutId id="2147483947" r:id="rId11"/>
  </p:sldLayoutIdLst>
  <p:transition>
    <p:fade/>
  </p:transition>
  <p:hf hdr="0" ftr="0" dt="0"/>
  <p:txStyles>
    <p:title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p:titleStyle>
    <p:bodyStyle>
      <a:lvl1pPr marL="168275" indent="-168275" algn="l" defTabSz="914400" rtl="0" eaLnBrk="1" latinLnBrk="0" hangingPunct="1">
        <a:lnSpc>
          <a:spcPct val="100000"/>
        </a:lnSpc>
        <a:spcBef>
          <a:spcPts val="1000"/>
        </a:spcBef>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013"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2pPr>
      <a:lvl3pPr marL="742950" indent="-227013"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3pPr>
      <a:lvl4pPr marL="1028700" indent="-22860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4pPr>
      <a:lvl5pPr marL="1312863" indent="-227013"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a:solidFill>
            <a:srgbClr val="525252"/>
          </a:solidFill>
          <a:latin typeface="+mn-lt"/>
          <a:ea typeface="Roboto" panose="02000000000000000000" pitchFamily="2" charset="0"/>
          <a:cs typeface="Roboto" panose="02000000000000000000" pitchFamily="2"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B697F3F-9EED-8F52-2E31-5C593DDC36C7}"/>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1</a:t>
            </a:fld>
            <a:endParaRPr lang="en-IN" dirty="0"/>
          </a:p>
        </p:txBody>
      </p:sp>
      <p:sp>
        <p:nvSpPr>
          <p:cNvPr id="12" name="object 6">
            <a:extLst>
              <a:ext uri="{FF2B5EF4-FFF2-40B4-BE49-F238E27FC236}">
                <a16:creationId xmlns:a16="http://schemas.microsoft.com/office/drawing/2014/main" id="{8C1951C4-93AE-4DB7-B5EA-49D22832BBB9}"/>
              </a:ext>
            </a:extLst>
          </p:cNvPr>
          <p:cNvSpPr txBox="1">
            <a:spLocks noGrp="1"/>
          </p:cNvSpPr>
          <p:nvPr>
            <p:ph type="title"/>
          </p:nvPr>
        </p:nvSpPr>
        <p:spPr>
          <a:xfrm>
            <a:off x="0" y="1450974"/>
            <a:ext cx="9143999" cy="424347"/>
          </a:xfrm>
          <a:prstGeom prst="rect">
            <a:avLst/>
          </a:prstGeom>
        </p:spPr>
        <p:txBody>
          <a:bodyPr vert="horz" wrap="square" lIns="0" tIns="12700" rIns="0" bIns="0" rtlCol="0" anchor="t">
            <a:spAutoFit/>
          </a:bodyPr>
          <a:lstStyle/>
          <a:p>
            <a:pPr marL="12700" marR="5080" algn="ctr">
              <a:lnSpc>
                <a:spcPct val="136200"/>
              </a:lnSpc>
              <a:spcBef>
                <a:spcPts val="100"/>
              </a:spcBef>
            </a:pPr>
            <a:r>
              <a:rPr lang="en-US" sz="2200" b="1" dirty="0">
                <a:latin typeface="Times New Roman" panose="02020603050405020304" pitchFamily="18" charset="0"/>
                <a:cs typeface="Times New Roman" panose="02020603050405020304" pitchFamily="18" charset="0"/>
              </a:rPr>
              <a:t>Decimal Point Analytics (DPA) Hackathon 2026 - </a:t>
            </a:r>
            <a:r>
              <a:rPr lang="en-US" sz="2200" b="1" dirty="0" err="1">
                <a:latin typeface="Times New Roman" panose="02020603050405020304" pitchFamily="18" charset="0"/>
                <a:cs typeface="Times New Roman" panose="02020603050405020304" pitchFamily="18" charset="0"/>
              </a:rPr>
              <a:t>Vivechana</a:t>
            </a:r>
            <a:endParaRPr sz="2200" b="1" dirty="0">
              <a:latin typeface="Times New Roman" panose="02020603050405020304" pitchFamily="18" charset="0"/>
              <a:cs typeface="Times New Roman" panose="02020603050405020304" pitchFamily="18" charset="0"/>
            </a:endParaRPr>
          </a:p>
        </p:txBody>
      </p:sp>
      <p:sp>
        <p:nvSpPr>
          <p:cNvPr id="13" name="object 5">
            <a:extLst>
              <a:ext uri="{FF2B5EF4-FFF2-40B4-BE49-F238E27FC236}">
                <a16:creationId xmlns:a16="http://schemas.microsoft.com/office/drawing/2014/main" id="{174A5FDC-374E-4C44-807E-379B8C1A7C48}"/>
              </a:ext>
            </a:extLst>
          </p:cNvPr>
          <p:cNvSpPr txBox="1"/>
          <p:nvPr/>
        </p:nvSpPr>
        <p:spPr>
          <a:xfrm>
            <a:off x="1" y="2592022"/>
            <a:ext cx="9143999" cy="339837"/>
          </a:xfrm>
          <a:prstGeom prst="rect">
            <a:avLst/>
          </a:prstGeom>
        </p:spPr>
        <p:txBody>
          <a:bodyPr vert="horz" wrap="square" lIns="0" tIns="16510" rIns="0" bIns="0" rtlCol="0" anchor="t">
            <a:spAutoFit/>
          </a:bodyPr>
          <a:lstStyle/>
          <a:p>
            <a:pPr marL="12700" algn="ctr">
              <a:spcBef>
                <a:spcPts val="130"/>
              </a:spcBef>
            </a:pPr>
            <a:r>
              <a:rPr lang="en-US" sz="2100" b="1" spc="-10" dirty="0">
                <a:solidFill>
                  <a:srgbClr val="FFFFFF"/>
                </a:solidFill>
                <a:latin typeface="Times New Roman" panose="02020603050405020304" pitchFamily="18" charset="0"/>
                <a:cs typeface="Times New Roman" panose="02020603050405020304" pitchFamily="18" charset="0"/>
              </a:rPr>
              <a:t>Public Transport Feedback &amp; Service Analytics Platform</a:t>
            </a:r>
          </a:p>
        </p:txBody>
      </p:sp>
      <p:sp>
        <p:nvSpPr>
          <p:cNvPr id="5" name="object 5">
            <a:extLst>
              <a:ext uri="{FF2B5EF4-FFF2-40B4-BE49-F238E27FC236}">
                <a16:creationId xmlns:a16="http://schemas.microsoft.com/office/drawing/2014/main" id="{11B52336-9937-42CE-9CD3-1A9FFF08020F}"/>
              </a:ext>
            </a:extLst>
          </p:cNvPr>
          <p:cNvSpPr txBox="1"/>
          <p:nvPr/>
        </p:nvSpPr>
        <p:spPr>
          <a:xfrm>
            <a:off x="-74266" y="3268180"/>
            <a:ext cx="11196277" cy="1542089"/>
          </a:xfrm>
          <a:prstGeom prst="rect">
            <a:avLst/>
          </a:prstGeom>
        </p:spPr>
        <p:txBody>
          <a:bodyPr vert="horz" wrap="square" lIns="0" tIns="16510" rIns="0" bIns="0" rtlCol="0" anchor="t">
            <a:spAutoFit/>
          </a:bodyPr>
          <a:lstStyle/>
          <a:p>
            <a:pPr marL="12700" marR="1725295" algn="ctr">
              <a:lnSpc>
                <a:spcPct val="150000"/>
              </a:lnSpc>
            </a:pPr>
            <a:r>
              <a:rPr lang="en-US" dirty="0">
                <a:solidFill>
                  <a:srgbClr val="FFFFFF"/>
                </a:solidFill>
                <a:latin typeface="Times New Roman" panose="02020603050405020304" pitchFamily="18" charset="0"/>
                <a:cs typeface="Times New Roman" panose="02020603050405020304" pitchFamily="18" charset="0"/>
              </a:rPr>
              <a:t>By</a:t>
            </a:r>
            <a:br>
              <a:rPr lang="en-US" dirty="0">
                <a:solidFill>
                  <a:srgbClr val="FFFFFF"/>
                </a:solidFill>
                <a:latin typeface="Times New Roman" panose="02020603050405020304" pitchFamily="18" charset="0"/>
                <a:cs typeface="Times New Roman" panose="02020603050405020304" pitchFamily="18" charset="0"/>
              </a:rPr>
            </a:br>
            <a:r>
              <a:rPr lang="en-IN" sz="1800" b="1" spc="-10" dirty="0">
                <a:solidFill>
                  <a:srgbClr val="FFFFFF"/>
                </a:solidFill>
                <a:latin typeface="Times New Roman" panose="02020603050405020304" pitchFamily="18" charset="0"/>
                <a:cs typeface="Times New Roman" panose="02020603050405020304" pitchFamily="18" charset="0"/>
              </a:rPr>
              <a:t>Veritas AI Team</a:t>
            </a:r>
            <a:r>
              <a:rPr lang="en-US" dirty="0">
                <a:solidFill>
                  <a:srgbClr val="FFFFFF"/>
                </a:solidFill>
                <a:latin typeface="Times New Roman" panose="02020603050405020304" pitchFamily="18" charset="0"/>
                <a:cs typeface="Times New Roman" panose="02020603050405020304" pitchFamily="18" charset="0"/>
              </a:rPr>
              <a:t> </a:t>
            </a:r>
            <a:br>
              <a:rPr lang="en-US" dirty="0">
                <a:solidFill>
                  <a:srgbClr val="FFFFFF"/>
                </a:solidFill>
                <a:latin typeface="Times New Roman" panose="02020603050405020304" pitchFamily="18" charset="0"/>
                <a:cs typeface="Times New Roman" panose="02020603050405020304" pitchFamily="18" charset="0"/>
              </a:rPr>
            </a:br>
            <a:r>
              <a:rPr lang="en-US" sz="1600" dirty="0">
                <a:solidFill>
                  <a:srgbClr val="FFFFFF"/>
                </a:solidFill>
                <a:latin typeface="Times New Roman" panose="02020603050405020304" pitchFamily="18" charset="0"/>
                <a:cs typeface="Times New Roman" panose="02020603050405020304" pitchFamily="18" charset="0"/>
              </a:rPr>
              <a:t>Madki Sai </a:t>
            </a:r>
            <a:r>
              <a:rPr lang="en-US" sz="1600" dirty="0" err="1">
                <a:solidFill>
                  <a:srgbClr val="FFFFFF"/>
                </a:solidFill>
                <a:latin typeface="Times New Roman" panose="02020603050405020304" pitchFamily="18" charset="0"/>
                <a:cs typeface="Times New Roman" panose="02020603050405020304" pitchFamily="18" charset="0"/>
              </a:rPr>
              <a:t>Charan</a:t>
            </a:r>
            <a:r>
              <a:rPr lang="en-US" sz="1600" dirty="0">
                <a:solidFill>
                  <a:srgbClr val="FFFFFF"/>
                </a:solidFill>
                <a:latin typeface="Times New Roman" panose="02020603050405020304" pitchFamily="18" charset="0"/>
                <a:cs typeface="Times New Roman" panose="02020603050405020304" pitchFamily="18" charset="0"/>
              </a:rPr>
              <a:t>, </a:t>
            </a:r>
            <a:r>
              <a:rPr lang="en-IN" sz="1600" b="0" dirty="0" err="1">
                <a:solidFill>
                  <a:srgbClr val="FFFFFF"/>
                </a:solidFill>
                <a:latin typeface="Times New Roman"/>
              </a:rPr>
              <a:t>Poshala</a:t>
            </a:r>
            <a:r>
              <a:rPr lang="en-IN" sz="1600" b="0" dirty="0">
                <a:solidFill>
                  <a:srgbClr val="FFFFFF"/>
                </a:solidFill>
                <a:latin typeface="Times New Roman"/>
              </a:rPr>
              <a:t> </a:t>
            </a:r>
            <a:r>
              <a:rPr lang="en-IN" sz="1600" b="0" dirty="0" err="1">
                <a:solidFill>
                  <a:srgbClr val="FFFFFF"/>
                </a:solidFill>
                <a:latin typeface="Times New Roman"/>
              </a:rPr>
              <a:t>Prabhanajali</a:t>
            </a:r>
            <a:r>
              <a:rPr lang="en-IN" sz="1600" dirty="0">
                <a:solidFill>
                  <a:srgbClr val="FFFFFF"/>
                </a:solidFill>
                <a:latin typeface="Times New Roman"/>
              </a:rPr>
              <a:t>, </a:t>
            </a:r>
            <a:r>
              <a:rPr lang="en-IN" sz="1600" b="0" dirty="0" err="1">
                <a:solidFill>
                  <a:srgbClr val="FFFFFF"/>
                </a:solidFill>
                <a:latin typeface="Times New Roman"/>
              </a:rPr>
              <a:t>Margala</a:t>
            </a:r>
            <a:r>
              <a:rPr lang="en-IN" sz="1600" b="0" dirty="0">
                <a:solidFill>
                  <a:srgbClr val="FFFFFF"/>
                </a:solidFill>
                <a:latin typeface="Times New Roman"/>
              </a:rPr>
              <a:t> Vaishnavi</a:t>
            </a:r>
            <a:r>
              <a:rPr lang="en-US" sz="1600" dirty="0">
                <a:solidFill>
                  <a:srgbClr val="FFFFFF"/>
                </a:solidFill>
                <a:latin typeface="Times New Roman" panose="02020603050405020304" pitchFamily="18" charset="0"/>
                <a:cs typeface="Times New Roman" panose="02020603050405020304" pitchFamily="18" charset="0"/>
              </a:rPr>
              <a:t>.</a:t>
            </a:r>
          </a:p>
          <a:p>
            <a:pPr marL="12700" marR="1725295" algn="ctr">
              <a:lnSpc>
                <a:spcPct val="150000"/>
              </a:lnSpc>
            </a:pPr>
            <a:r>
              <a:rPr lang="en-US" sz="1600" b="0" dirty="0">
                <a:solidFill>
                  <a:schemeClr val="bg1"/>
                </a:solidFill>
                <a:latin typeface="Times New Roman"/>
              </a:rPr>
              <a:t>Institute of Aeronautical Engineering, Dundigal</a:t>
            </a:r>
            <a:r>
              <a:rPr lang="en-US" sz="1600" dirty="0">
                <a:solidFill>
                  <a:schemeClr val="bg1"/>
                </a:solidFill>
                <a:latin typeface="Times New Roman" panose="02020603050405020304" pitchFamily="18" charset="0"/>
                <a:cs typeface="Times New Roman" panose="02020603050405020304" pitchFamily="18" charset="0"/>
              </a:rPr>
              <a:t>.</a:t>
            </a:r>
            <a:endParaRPr lang="en-US" sz="1600" b="0" dirty="0">
              <a:solidFill>
                <a:schemeClr val="bg1"/>
              </a:solidFill>
              <a:latin typeface="Times New Roman"/>
            </a:endParaRPr>
          </a:p>
        </p:txBody>
      </p:sp>
      <p:sp>
        <p:nvSpPr>
          <p:cNvPr id="10" name="object 6">
            <a:extLst>
              <a:ext uri="{FF2B5EF4-FFF2-40B4-BE49-F238E27FC236}">
                <a16:creationId xmlns:a16="http://schemas.microsoft.com/office/drawing/2014/main" id="{99402BB7-4F38-40DE-A7B8-ECD36D312F32}"/>
              </a:ext>
            </a:extLst>
          </p:cNvPr>
          <p:cNvSpPr txBox="1">
            <a:spLocks/>
          </p:cNvSpPr>
          <p:nvPr/>
        </p:nvSpPr>
        <p:spPr>
          <a:xfrm>
            <a:off x="0" y="2059819"/>
            <a:ext cx="9143999" cy="349519"/>
          </a:xfrm>
          <a:prstGeom prst="rect">
            <a:avLst/>
          </a:prstGeom>
        </p:spPr>
        <p:txBody>
          <a:bodyPr vert="horz" wrap="square" lIns="0" tIns="12700" rIns="0" bIns="0" rtlCol="0" anchor="t" anchorCtr="0">
            <a:sp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400" b="0" i="0" u="none" strike="noStrike" kern="1200" cap="none" spc="0" normalizeH="0" baseline="0" noProof="0">
                <a:ln>
                  <a:noFill/>
                </a:ln>
                <a:solidFill>
                  <a:schemeClr val="bg1"/>
                </a:solidFill>
                <a:effectLst/>
                <a:uLnTx/>
                <a:uFillTx/>
                <a:latin typeface="+mj-lt"/>
                <a:ea typeface="Roboto" panose="02000000000000000000" pitchFamily="2" charset="0"/>
                <a:cs typeface="Roboto" panose="02000000000000000000" pitchFamily="2" charset="0"/>
              </a:defRPr>
            </a:lvl1pPr>
          </a:lstStyle>
          <a:p>
            <a:pPr marL="12700" marR="5080" algn="ctr">
              <a:lnSpc>
                <a:spcPct val="136200"/>
              </a:lnSpc>
              <a:spcBef>
                <a:spcPts val="100"/>
              </a:spcBef>
            </a:pPr>
            <a:r>
              <a:rPr lang="en-US" sz="1800" b="1" spc="-10" dirty="0">
                <a:solidFill>
                  <a:srgbClr val="FFFFFF"/>
                </a:solidFill>
                <a:latin typeface="Times New Roman" panose="02020603050405020304" pitchFamily="18" charset="0"/>
                <a:cs typeface="Times New Roman" panose="02020603050405020304" pitchFamily="18" charset="0"/>
              </a:rPr>
              <a:t>Stage 2 Case Study 2</a:t>
            </a:r>
            <a:endParaRPr lang="en-IN" sz="1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6DEFFCA-CC79-4B74-A2FA-FF6E5E57AF8D}"/>
              </a:ext>
            </a:extLst>
          </p:cNvPr>
          <p:cNvPicPr>
            <a:picLocks noChangeAspect="1"/>
          </p:cNvPicPr>
          <p:nvPr/>
        </p:nvPicPr>
        <p:blipFill rotWithShape="1">
          <a:blip r:embed="rId3"/>
          <a:srcRect l="-1949" t="31547" r="1949" b="31097"/>
          <a:stretch/>
        </p:blipFill>
        <p:spPr>
          <a:xfrm>
            <a:off x="6153827" y="236318"/>
            <a:ext cx="1905000" cy="711627"/>
          </a:xfrm>
          <a:prstGeom prst="rect">
            <a:avLst/>
          </a:prstGeom>
        </p:spPr>
      </p:pic>
      <p:sp>
        <p:nvSpPr>
          <p:cNvPr id="14" name="TextBox 13">
            <a:extLst>
              <a:ext uri="{FF2B5EF4-FFF2-40B4-BE49-F238E27FC236}">
                <a16:creationId xmlns:a16="http://schemas.microsoft.com/office/drawing/2014/main" id="{117906FD-BE0B-49E1-8197-7772A42644DA}"/>
              </a:ext>
            </a:extLst>
          </p:cNvPr>
          <p:cNvSpPr txBox="1"/>
          <p:nvPr/>
        </p:nvSpPr>
        <p:spPr bwMode="auto">
          <a:xfrm>
            <a:off x="5836843" y="897144"/>
            <a:ext cx="2538968" cy="369332"/>
          </a:xfrm>
          <a:prstGeom prst="rect">
            <a:avLst/>
          </a:prstGeom>
          <a:noFill/>
          <a:ln w="19050" algn="ctr">
            <a:noFill/>
            <a:miter lim="800000"/>
            <a:headEnd/>
            <a:tailEnd/>
          </a:ln>
        </p:spPr>
        <p:txBody>
          <a:bodyPr wrap="square">
            <a:spAutoFit/>
          </a:bodyPr>
          <a:lstStyle/>
          <a:p>
            <a:r>
              <a:rPr lang="en-US" sz="1800" b="1" dirty="0">
                <a:solidFill>
                  <a:schemeClr val="bg1"/>
                </a:solidFill>
                <a:latin typeface="Times New Roman" panose="02020603050405020304" pitchFamily="18" charset="0"/>
                <a:cs typeface="Times New Roman" panose="02020603050405020304" pitchFamily="18" charset="0"/>
              </a:rPr>
              <a:t>Decimal Point Analytics  </a:t>
            </a:r>
            <a:endParaRPr lang="en-IN" dirty="0">
              <a:solidFill>
                <a:schemeClr val="bg1"/>
              </a:solidFill>
            </a:endParaRPr>
          </a:p>
        </p:txBody>
      </p:sp>
    </p:spTree>
    <p:extLst>
      <p:ext uri="{BB962C8B-B14F-4D97-AF65-F5344CB8AC3E}">
        <p14:creationId xmlns:p14="http://schemas.microsoft.com/office/powerpoint/2010/main" val="385325629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942643-4B4B-3AF4-2F08-E12BA79BC8F5}"/>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2</a:t>
            </a:fld>
            <a:endParaRPr lang="en-IN" dirty="0"/>
          </a:p>
        </p:txBody>
      </p:sp>
      <p:sp>
        <p:nvSpPr>
          <p:cNvPr id="10" name="TextBox 9">
            <a:extLst>
              <a:ext uri="{FF2B5EF4-FFF2-40B4-BE49-F238E27FC236}">
                <a16:creationId xmlns:a16="http://schemas.microsoft.com/office/drawing/2014/main" id="{D28E8CE0-38BB-43A5-B4EE-22EBF2325B7C}"/>
              </a:ext>
            </a:extLst>
          </p:cNvPr>
          <p:cNvSpPr txBox="1"/>
          <p:nvPr/>
        </p:nvSpPr>
        <p:spPr bwMode="auto">
          <a:xfrm>
            <a:off x="182078" y="4835723"/>
            <a:ext cx="8595233" cy="307777"/>
          </a:xfrm>
          <a:prstGeom prst="rect">
            <a:avLst/>
          </a:prstGeom>
          <a:noFill/>
          <a:ln w="19050" algn="ctr">
            <a:noFill/>
            <a:miter lim="800000"/>
            <a:headEnd/>
            <a:tailEnd/>
          </a:ln>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	Veritas AI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DPA Hackathon 2026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IARE</a:t>
            </a:r>
          </a:p>
        </p:txBody>
      </p:sp>
      <p:pic>
        <p:nvPicPr>
          <p:cNvPr id="7" name="Picture 6">
            <a:extLst>
              <a:ext uri="{FF2B5EF4-FFF2-40B4-BE49-F238E27FC236}">
                <a16:creationId xmlns:a16="http://schemas.microsoft.com/office/drawing/2014/main" id="{663E3B90-F832-4B7C-A832-B10A9043AD70}"/>
              </a:ext>
            </a:extLst>
          </p:cNvPr>
          <p:cNvPicPr>
            <a:picLocks noChangeAspect="1"/>
          </p:cNvPicPr>
          <p:nvPr/>
        </p:nvPicPr>
        <p:blipFill rotWithShape="1">
          <a:blip r:embed="rId3"/>
          <a:srcRect l="-1949" t="31547" r="1949" b="31097"/>
          <a:stretch/>
        </p:blipFill>
        <p:spPr>
          <a:xfrm>
            <a:off x="6384941" y="144570"/>
            <a:ext cx="1905000" cy="711627"/>
          </a:xfrm>
          <a:prstGeom prst="rect">
            <a:avLst/>
          </a:prstGeom>
        </p:spPr>
      </p:pic>
      <p:sp>
        <p:nvSpPr>
          <p:cNvPr id="11" name="object 2">
            <a:extLst>
              <a:ext uri="{FF2B5EF4-FFF2-40B4-BE49-F238E27FC236}">
                <a16:creationId xmlns:a16="http://schemas.microsoft.com/office/drawing/2014/main" id="{D179FC4C-EAB8-4793-B3BD-05E101B4D037}"/>
              </a:ext>
            </a:extLst>
          </p:cNvPr>
          <p:cNvSpPr txBox="1">
            <a:spLocks/>
          </p:cNvSpPr>
          <p:nvPr/>
        </p:nvSpPr>
        <p:spPr>
          <a:xfrm>
            <a:off x="66039" y="188849"/>
            <a:ext cx="7432040" cy="534120"/>
          </a:xfrm>
          <a:prstGeom prst="rect">
            <a:avLst/>
          </a:prstGeom>
        </p:spPr>
        <p:txBody>
          <a:bodyPr vert="horz" wrap="square" lIns="0" tIns="71754" rIns="0" bIns="0" rtlCol="0" anchor="t">
            <a:spAutoFit/>
          </a:bodyPr>
          <a:lst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a:lstStyle>
          <a:p>
            <a:pPr marL="45085">
              <a:lnSpc>
                <a:spcPct val="100000"/>
              </a:lnSpc>
              <a:spcBef>
                <a:spcPts val="105"/>
              </a:spcBef>
            </a:pPr>
            <a:r>
              <a:rPr lang="en-IN" spc="-30" dirty="0">
                <a:latin typeface="Times New Roman" panose="02020603050405020304" pitchFamily="18" charset="0"/>
                <a:cs typeface="Times New Roman" panose="02020603050405020304" pitchFamily="18" charset="0"/>
              </a:rPr>
              <a:t>Problem Statement</a:t>
            </a:r>
          </a:p>
        </p:txBody>
      </p:sp>
      <p:sp>
        <p:nvSpPr>
          <p:cNvPr id="12" name="Rounded Rectangle 6">
            <a:extLst>
              <a:ext uri="{FF2B5EF4-FFF2-40B4-BE49-F238E27FC236}">
                <a16:creationId xmlns:a16="http://schemas.microsoft.com/office/drawing/2014/main" id="{10164564-8FA1-44CB-9639-28C0FF6632EF}"/>
              </a:ext>
            </a:extLst>
          </p:cNvPr>
          <p:cNvSpPr/>
          <p:nvPr/>
        </p:nvSpPr>
        <p:spPr>
          <a:xfrm>
            <a:off x="321145" y="1193920"/>
            <a:ext cx="2777559" cy="2708910"/>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3" name="Rounded Rectangle 7">
            <a:extLst>
              <a:ext uri="{FF2B5EF4-FFF2-40B4-BE49-F238E27FC236}">
                <a16:creationId xmlns:a16="http://schemas.microsoft.com/office/drawing/2014/main" id="{5E7E65BF-7071-4602-AA17-0C570808B17A}"/>
              </a:ext>
            </a:extLst>
          </p:cNvPr>
          <p:cNvSpPr/>
          <p:nvPr/>
        </p:nvSpPr>
        <p:spPr>
          <a:xfrm>
            <a:off x="905118" y="1354762"/>
            <a:ext cx="1495476" cy="387798"/>
          </a:xfrm>
          <a:prstGeom prst="roundRect">
            <a:avLst/>
          </a:prstGeom>
          <a:solidFill>
            <a:srgbClr val="0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A3100C3F-0335-4628-A942-97CCB141064B}"/>
              </a:ext>
            </a:extLst>
          </p:cNvPr>
          <p:cNvSpPr txBox="1"/>
          <p:nvPr/>
        </p:nvSpPr>
        <p:spPr>
          <a:xfrm>
            <a:off x="954119" y="1365370"/>
            <a:ext cx="1397474" cy="387798"/>
          </a:xfrm>
          <a:prstGeom prst="rect">
            <a:avLst/>
          </a:prstGeom>
          <a:noFill/>
        </p:spPr>
        <p:txBody>
          <a:bodyPr wrap="square" lIns="18288" tIns="9144" rIns="18288" bIns="9144" anchor="ctr">
            <a:spAutoFit/>
          </a:bodyPr>
          <a:lstStyle/>
          <a:p>
            <a:pPr algn="ctr"/>
            <a:r>
              <a:rPr sz="1200" b="1" dirty="0">
                <a:solidFill>
                  <a:srgbClr val="FFFFFF"/>
                </a:solidFill>
                <a:latin typeface="Times New Roman" panose="02020603050405020304" pitchFamily="18" charset="0"/>
                <a:cs typeface="Times New Roman" panose="02020603050405020304" pitchFamily="18" charset="0"/>
              </a:rPr>
              <a:t>PASSENGER SIGNALS</a:t>
            </a:r>
          </a:p>
        </p:txBody>
      </p:sp>
      <p:sp>
        <p:nvSpPr>
          <p:cNvPr id="15" name="TextBox 14">
            <a:extLst>
              <a:ext uri="{FF2B5EF4-FFF2-40B4-BE49-F238E27FC236}">
                <a16:creationId xmlns:a16="http://schemas.microsoft.com/office/drawing/2014/main" id="{59C57753-197A-4778-BCC4-686B9638F046}"/>
              </a:ext>
            </a:extLst>
          </p:cNvPr>
          <p:cNvSpPr txBox="1"/>
          <p:nvPr/>
        </p:nvSpPr>
        <p:spPr>
          <a:xfrm>
            <a:off x="506316" y="1742560"/>
            <a:ext cx="2516254" cy="1783080"/>
          </a:xfrm>
          <a:prstGeom prst="rect">
            <a:avLst/>
          </a:prstGeom>
          <a:noFill/>
        </p:spPr>
        <p:txBody>
          <a:bodyPr wrap="square">
            <a:spAutoFit/>
          </a:bodyPr>
          <a:lstStyle/>
          <a:p>
            <a:pPr marL="171450" indent="-171450">
              <a:spcAft>
                <a:spcPts val="500"/>
              </a:spcAft>
              <a:buFont typeface="Arial" panose="020B0604020202020204" pitchFamily="34" charset="0"/>
              <a:buChar char="•"/>
              <a:defRPr sz="1200">
                <a:solidFill>
                  <a:srgbClr val="1E2834"/>
                </a:solidFill>
                <a:latin typeface="Times New Roman"/>
              </a:defRPr>
            </a:pPr>
            <a:r>
              <a:rPr sz="1200" dirty="0">
                <a:latin typeface="Times New Roman" panose="02020603050405020304" pitchFamily="18" charset="0"/>
                <a:cs typeface="Times New Roman" panose="02020603050405020304" pitchFamily="18" charset="0"/>
              </a:rPr>
              <a:t>Route, trip and journey date/time</a:t>
            </a:r>
          </a:p>
          <a:p>
            <a:pPr marL="171450" indent="-171450">
              <a:spcAft>
                <a:spcPts val="500"/>
              </a:spcAft>
              <a:buFont typeface="Arial" panose="020B0604020202020204" pitchFamily="34" charset="0"/>
              <a:buChar char="•"/>
              <a:defRPr sz="1200">
                <a:solidFill>
                  <a:srgbClr val="1E2834"/>
                </a:solidFill>
                <a:latin typeface="Times New Roman"/>
              </a:defRPr>
            </a:pPr>
            <a:r>
              <a:rPr sz="1200" dirty="0">
                <a:latin typeface="Times New Roman" panose="02020603050405020304" pitchFamily="18" charset="0"/>
                <a:cs typeface="Times New Roman" panose="02020603050405020304" pitchFamily="18" charset="0"/>
              </a:rPr>
              <a:t>Punctuality &amp; delays</a:t>
            </a:r>
          </a:p>
          <a:p>
            <a:pPr marL="171450" indent="-171450">
              <a:spcAft>
                <a:spcPts val="500"/>
              </a:spcAft>
              <a:buFont typeface="Arial" panose="020B0604020202020204" pitchFamily="34" charset="0"/>
              <a:buChar char="•"/>
              <a:defRPr sz="1200">
                <a:solidFill>
                  <a:srgbClr val="1E2834"/>
                </a:solidFill>
                <a:latin typeface="Times New Roman"/>
              </a:defRPr>
            </a:pPr>
            <a:r>
              <a:rPr sz="1200" dirty="0">
                <a:latin typeface="Times New Roman" panose="02020603050405020304" pitchFamily="18" charset="0"/>
                <a:cs typeface="Times New Roman" panose="02020603050405020304" pitchFamily="18" charset="0"/>
              </a:rPr>
              <a:t>Vehicle cleanliness</a:t>
            </a:r>
          </a:p>
          <a:p>
            <a:pPr marL="171450" indent="-171450">
              <a:spcAft>
                <a:spcPts val="500"/>
              </a:spcAft>
              <a:buFont typeface="Arial" panose="020B0604020202020204" pitchFamily="34" charset="0"/>
              <a:buChar char="•"/>
              <a:defRPr sz="1200">
                <a:solidFill>
                  <a:srgbClr val="1E2834"/>
                </a:solidFill>
                <a:latin typeface="Times New Roman"/>
              </a:defRPr>
            </a:pPr>
            <a:r>
              <a:rPr sz="1200" dirty="0">
                <a:latin typeface="Times New Roman" panose="02020603050405020304" pitchFamily="18" charset="0"/>
                <a:cs typeface="Times New Roman" panose="02020603050405020304" pitchFamily="18" charset="0"/>
              </a:rPr>
              <a:t>Passenger crowding</a:t>
            </a:r>
          </a:p>
          <a:p>
            <a:pPr marL="171450" indent="-171450">
              <a:spcAft>
                <a:spcPts val="500"/>
              </a:spcAft>
              <a:buFont typeface="Arial" panose="020B0604020202020204" pitchFamily="34" charset="0"/>
              <a:buChar char="•"/>
              <a:defRPr sz="1200">
                <a:solidFill>
                  <a:srgbClr val="1E2834"/>
                </a:solidFill>
                <a:latin typeface="Times New Roman"/>
              </a:defRPr>
            </a:pPr>
            <a:r>
              <a:rPr sz="1200" dirty="0">
                <a:latin typeface="Times New Roman" panose="02020603050405020304" pitchFamily="18" charset="0"/>
                <a:cs typeface="Times New Roman" panose="02020603050405020304" pitchFamily="18" charset="0"/>
              </a:rPr>
              <a:t>Driver </a:t>
            </a:r>
            <a:r>
              <a:rPr sz="1200" dirty="0" err="1">
                <a:latin typeface="Times New Roman" panose="02020603050405020304" pitchFamily="18" charset="0"/>
                <a:cs typeface="Times New Roman" panose="02020603050405020304" pitchFamily="18" charset="0"/>
              </a:rPr>
              <a:t>behaviour</a:t>
            </a:r>
            <a:endParaRPr sz="1200" dirty="0">
              <a:latin typeface="Times New Roman" panose="02020603050405020304" pitchFamily="18" charset="0"/>
              <a:cs typeface="Times New Roman" panose="02020603050405020304" pitchFamily="18" charset="0"/>
            </a:endParaRPr>
          </a:p>
          <a:p>
            <a:pPr marL="171450" indent="-171450">
              <a:spcAft>
                <a:spcPts val="500"/>
              </a:spcAft>
              <a:buFont typeface="Arial" panose="020B0604020202020204" pitchFamily="34" charset="0"/>
              <a:buChar char="•"/>
              <a:defRPr sz="1200">
                <a:solidFill>
                  <a:srgbClr val="1E2834"/>
                </a:solidFill>
                <a:latin typeface="Times New Roman"/>
              </a:defRPr>
            </a:pPr>
            <a:r>
              <a:rPr sz="1200" dirty="0">
                <a:latin typeface="Times New Roman" panose="02020603050405020304" pitchFamily="18" charset="0"/>
                <a:cs typeface="Times New Roman" panose="02020603050405020304" pitchFamily="18" charset="0"/>
              </a:rPr>
              <a:t>Overall journey experience</a:t>
            </a:r>
          </a:p>
          <a:p>
            <a:pPr marL="171450" indent="-171450">
              <a:spcAft>
                <a:spcPts val="500"/>
              </a:spcAft>
              <a:buFont typeface="Arial" panose="020B0604020202020204" pitchFamily="34" charset="0"/>
              <a:buChar char="•"/>
              <a:defRPr sz="1200">
                <a:solidFill>
                  <a:srgbClr val="1E2834"/>
                </a:solidFill>
                <a:latin typeface="Times New Roman"/>
              </a:defRPr>
            </a:pPr>
            <a:r>
              <a:rPr sz="1200" dirty="0">
                <a:latin typeface="Times New Roman" panose="02020603050405020304" pitchFamily="18" charset="0"/>
                <a:cs typeface="Times New Roman" panose="02020603050405020304" pitchFamily="18" charset="0"/>
              </a:rPr>
              <a:t>Free-text comment</a:t>
            </a:r>
          </a:p>
        </p:txBody>
      </p:sp>
      <p:sp>
        <p:nvSpPr>
          <p:cNvPr id="16" name="Rounded Rectangle 11">
            <a:extLst>
              <a:ext uri="{FF2B5EF4-FFF2-40B4-BE49-F238E27FC236}">
                <a16:creationId xmlns:a16="http://schemas.microsoft.com/office/drawing/2014/main" id="{5DAAAA16-640F-4F09-96D1-048CDF5E9FF0}"/>
              </a:ext>
            </a:extLst>
          </p:cNvPr>
          <p:cNvSpPr/>
          <p:nvPr/>
        </p:nvSpPr>
        <p:spPr>
          <a:xfrm>
            <a:off x="3438184" y="1174842"/>
            <a:ext cx="3243029" cy="2708910"/>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7" name="Rounded Rectangle 12">
            <a:extLst>
              <a:ext uri="{FF2B5EF4-FFF2-40B4-BE49-F238E27FC236}">
                <a16:creationId xmlns:a16="http://schemas.microsoft.com/office/drawing/2014/main" id="{1D736795-A091-4C1A-A59E-F6012714C233}"/>
              </a:ext>
            </a:extLst>
          </p:cNvPr>
          <p:cNvSpPr/>
          <p:nvPr/>
        </p:nvSpPr>
        <p:spPr>
          <a:xfrm>
            <a:off x="4256929" y="1318628"/>
            <a:ext cx="1670426" cy="377190"/>
          </a:xfrm>
          <a:prstGeom prst="roundRect">
            <a:avLst/>
          </a:prstGeom>
          <a:solidFill>
            <a:srgbClr val="B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64C528D3-E858-4D77-A4DC-33817E38F18A}"/>
              </a:ext>
            </a:extLst>
          </p:cNvPr>
          <p:cNvSpPr txBox="1"/>
          <p:nvPr/>
        </p:nvSpPr>
        <p:spPr>
          <a:xfrm>
            <a:off x="4387363" y="1300911"/>
            <a:ext cx="1409557" cy="387798"/>
          </a:xfrm>
          <a:prstGeom prst="rect">
            <a:avLst/>
          </a:prstGeom>
          <a:noFill/>
        </p:spPr>
        <p:txBody>
          <a:bodyPr wrap="square" lIns="18288" tIns="9144" rIns="18288" bIns="9144" anchor="ctr">
            <a:spAutoFit/>
          </a:bodyPr>
          <a:lstStyle/>
          <a:p>
            <a:pPr algn="ctr"/>
            <a:r>
              <a:rPr sz="1200" b="1" dirty="0">
                <a:solidFill>
                  <a:srgbClr val="FFFFFF"/>
                </a:solidFill>
                <a:latin typeface="Times New Roman" panose="02020603050405020304" pitchFamily="18" charset="0"/>
                <a:cs typeface="Times New Roman" panose="02020603050405020304" pitchFamily="18" charset="0"/>
              </a:rPr>
              <a:t>OPERATIONAL </a:t>
            </a:r>
            <a:endParaRPr lang="en-IN" sz="1200" b="1" dirty="0">
              <a:solidFill>
                <a:srgbClr val="FFFFFF"/>
              </a:solidFill>
              <a:latin typeface="Times New Roman" panose="02020603050405020304" pitchFamily="18" charset="0"/>
              <a:cs typeface="Times New Roman" panose="02020603050405020304" pitchFamily="18" charset="0"/>
            </a:endParaRPr>
          </a:p>
          <a:p>
            <a:pPr algn="ctr"/>
            <a:r>
              <a:rPr sz="1200" b="1" dirty="0">
                <a:solidFill>
                  <a:srgbClr val="FFFFFF"/>
                </a:solidFill>
                <a:latin typeface="Times New Roman" panose="02020603050405020304" pitchFamily="18" charset="0"/>
                <a:cs typeface="Times New Roman" panose="02020603050405020304" pitchFamily="18" charset="0"/>
              </a:rPr>
              <a:t>GAP</a:t>
            </a:r>
          </a:p>
        </p:txBody>
      </p:sp>
      <p:sp>
        <p:nvSpPr>
          <p:cNvPr id="19" name="TextBox 18">
            <a:extLst>
              <a:ext uri="{FF2B5EF4-FFF2-40B4-BE49-F238E27FC236}">
                <a16:creationId xmlns:a16="http://schemas.microsoft.com/office/drawing/2014/main" id="{F23BBA72-F272-459B-8AC5-9654430E7516}"/>
              </a:ext>
            </a:extLst>
          </p:cNvPr>
          <p:cNvSpPr txBox="1"/>
          <p:nvPr/>
        </p:nvSpPr>
        <p:spPr>
          <a:xfrm>
            <a:off x="3630213" y="1744055"/>
            <a:ext cx="856111" cy="387798"/>
          </a:xfrm>
          <a:prstGeom prst="rect">
            <a:avLst/>
          </a:prstGeom>
          <a:noFill/>
        </p:spPr>
        <p:txBody>
          <a:bodyPr wrap="square" lIns="18288" tIns="9144" rIns="18288" bIns="9144" anchor="t">
            <a:spAutoFit/>
          </a:bodyPr>
          <a:lstStyle/>
          <a:p>
            <a:pPr algn="l"/>
            <a:r>
              <a:rPr sz="1200" b="1" dirty="0">
                <a:solidFill>
                  <a:srgbClr val="005BA0"/>
                </a:solidFill>
                <a:latin typeface="Times New Roman" panose="02020603050405020304" pitchFamily="18" charset="0"/>
                <a:cs typeface="Times New Roman" panose="02020603050405020304" pitchFamily="18" charset="0"/>
              </a:rPr>
              <a:t>Raw records</a:t>
            </a:r>
          </a:p>
        </p:txBody>
      </p:sp>
      <p:sp>
        <p:nvSpPr>
          <p:cNvPr id="20" name="TextBox 19">
            <a:extLst>
              <a:ext uri="{FF2B5EF4-FFF2-40B4-BE49-F238E27FC236}">
                <a16:creationId xmlns:a16="http://schemas.microsoft.com/office/drawing/2014/main" id="{9C264342-2E68-420C-A88B-06A957DE5C1B}"/>
              </a:ext>
            </a:extLst>
          </p:cNvPr>
          <p:cNvSpPr txBox="1"/>
          <p:nvPr/>
        </p:nvSpPr>
        <p:spPr>
          <a:xfrm>
            <a:off x="4590356" y="1744056"/>
            <a:ext cx="1986825" cy="387798"/>
          </a:xfrm>
          <a:prstGeom prst="rect">
            <a:avLst/>
          </a:prstGeom>
          <a:noFill/>
        </p:spPr>
        <p:txBody>
          <a:bodyPr wrap="square" lIns="18288" tIns="9144" rIns="18288" bIns="9144" anchor="t">
            <a:spAutoFit/>
          </a:bodyPr>
          <a:lstStyle/>
          <a:p>
            <a:pPr algn="l"/>
            <a:r>
              <a:rPr sz="1200" b="0" dirty="0">
                <a:solidFill>
                  <a:srgbClr val="1E2834"/>
                </a:solidFill>
                <a:latin typeface="Times New Roman" panose="02020603050405020304" pitchFamily="18" charset="0"/>
                <a:cs typeface="Times New Roman" panose="02020603050405020304" pitchFamily="18" charset="0"/>
              </a:rPr>
              <a:t>Feedback arrives as individual observations.</a:t>
            </a:r>
          </a:p>
        </p:txBody>
      </p:sp>
      <p:sp>
        <p:nvSpPr>
          <p:cNvPr id="21" name="TextBox 20">
            <a:extLst>
              <a:ext uri="{FF2B5EF4-FFF2-40B4-BE49-F238E27FC236}">
                <a16:creationId xmlns:a16="http://schemas.microsoft.com/office/drawing/2014/main" id="{EAD73765-DF2C-45DB-A095-A8321A339025}"/>
              </a:ext>
            </a:extLst>
          </p:cNvPr>
          <p:cNvSpPr txBox="1"/>
          <p:nvPr/>
        </p:nvSpPr>
        <p:spPr>
          <a:xfrm>
            <a:off x="3630213" y="2237832"/>
            <a:ext cx="994434" cy="387798"/>
          </a:xfrm>
          <a:prstGeom prst="rect">
            <a:avLst/>
          </a:prstGeom>
          <a:noFill/>
        </p:spPr>
        <p:txBody>
          <a:bodyPr wrap="square" lIns="18288" tIns="9144" rIns="18288" bIns="9144" anchor="t">
            <a:spAutoFit/>
          </a:bodyPr>
          <a:lstStyle/>
          <a:p>
            <a:pPr algn="l"/>
            <a:r>
              <a:rPr sz="1200" b="1">
                <a:solidFill>
                  <a:srgbClr val="DD8500"/>
                </a:solidFill>
                <a:latin typeface="Times New Roman" panose="02020603050405020304" pitchFamily="18" charset="0"/>
                <a:cs typeface="Times New Roman" panose="02020603050405020304" pitchFamily="18" charset="0"/>
              </a:rPr>
              <a:t>Hidden patterns</a:t>
            </a:r>
          </a:p>
        </p:txBody>
      </p:sp>
      <p:sp>
        <p:nvSpPr>
          <p:cNvPr id="22" name="TextBox 21">
            <a:extLst>
              <a:ext uri="{FF2B5EF4-FFF2-40B4-BE49-F238E27FC236}">
                <a16:creationId xmlns:a16="http://schemas.microsoft.com/office/drawing/2014/main" id="{C5852719-8031-427D-9416-E10A275BB496}"/>
              </a:ext>
            </a:extLst>
          </p:cNvPr>
          <p:cNvSpPr txBox="1"/>
          <p:nvPr/>
        </p:nvSpPr>
        <p:spPr>
          <a:xfrm>
            <a:off x="4590356" y="2237832"/>
            <a:ext cx="2023160" cy="387798"/>
          </a:xfrm>
          <a:prstGeom prst="rect">
            <a:avLst/>
          </a:prstGeom>
          <a:noFill/>
        </p:spPr>
        <p:txBody>
          <a:bodyPr wrap="square" lIns="18288" tIns="9144" rIns="18288" bIns="9144" anchor="t">
            <a:spAutoFit/>
          </a:bodyPr>
          <a:lstStyle/>
          <a:p>
            <a:pPr algn="l"/>
            <a:r>
              <a:rPr sz="1200" b="0" dirty="0">
                <a:solidFill>
                  <a:srgbClr val="1E2834"/>
                </a:solidFill>
                <a:latin typeface="Times New Roman" panose="02020603050405020304" pitchFamily="18" charset="0"/>
                <a:cs typeface="Times New Roman" panose="02020603050405020304" pitchFamily="18" charset="0"/>
              </a:rPr>
              <a:t>Route and time relationships are difficult to see manually.</a:t>
            </a:r>
          </a:p>
        </p:txBody>
      </p:sp>
      <p:sp>
        <p:nvSpPr>
          <p:cNvPr id="23" name="TextBox 22">
            <a:extLst>
              <a:ext uri="{FF2B5EF4-FFF2-40B4-BE49-F238E27FC236}">
                <a16:creationId xmlns:a16="http://schemas.microsoft.com/office/drawing/2014/main" id="{1CD8CD0A-69BE-420E-9D02-F92DAEA5FB22}"/>
              </a:ext>
            </a:extLst>
          </p:cNvPr>
          <p:cNvSpPr txBox="1"/>
          <p:nvPr/>
        </p:nvSpPr>
        <p:spPr>
          <a:xfrm>
            <a:off x="3630213" y="2731607"/>
            <a:ext cx="923431" cy="387798"/>
          </a:xfrm>
          <a:prstGeom prst="rect">
            <a:avLst/>
          </a:prstGeom>
          <a:noFill/>
        </p:spPr>
        <p:txBody>
          <a:bodyPr wrap="square" lIns="18288" tIns="9144" rIns="18288" bIns="9144" anchor="t">
            <a:spAutoFit/>
          </a:bodyPr>
          <a:lstStyle/>
          <a:p>
            <a:pPr algn="l"/>
            <a:r>
              <a:rPr sz="1200" b="1" dirty="0">
                <a:solidFill>
                  <a:srgbClr val="BE2D41"/>
                </a:solidFill>
                <a:latin typeface="Times New Roman" panose="02020603050405020304" pitchFamily="18" charset="0"/>
                <a:cs typeface="Times New Roman" panose="02020603050405020304" pitchFamily="18" charset="0"/>
              </a:rPr>
              <a:t>Late detection</a:t>
            </a:r>
          </a:p>
        </p:txBody>
      </p:sp>
      <p:sp>
        <p:nvSpPr>
          <p:cNvPr id="24" name="TextBox 23">
            <a:extLst>
              <a:ext uri="{FF2B5EF4-FFF2-40B4-BE49-F238E27FC236}">
                <a16:creationId xmlns:a16="http://schemas.microsoft.com/office/drawing/2014/main" id="{4A8EA7E1-11B7-451D-BAB5-F597A42B072B}"/>
              </a:ext>
            </a:extLst>
          </p:cNvPr>
          <p:cNvSpPr txBox="1"/>
          <p:nvPr/>
        </p:nvSpPr>
        <p:spPr>
          <a:xfrm>
            <a:off x="4590357" y="2731608"/>
            <a:ext cx="2023160" cy="572464"/>
          </a:xfrm>
          <a:prstGeom prst="rect">
            <a:avLst/>
          </a:prstGeom>
          <a:noFill/>
        </p:spPr>
        <p:txBody>
          <a:bodyPr wrap="square" lIns="18288" tIns="9144" rIns="18288" bIns="9144" anchor="t">
            <a:spAutoFit/>
          </a:bodyPr>
          <a:lstStyle/>
          <a:p>
            <a:pPr algn="l"/>
            <a:r>
              <a:rPr sz="1200" b="0" dirty="0">
                <a:solidFill>
                  <a:srgbClr val="1E2834"/>
                </a:solidFill>
                <a:latin typeface="Times New Roman" panose="02020603050405020304" pitchFamily="18" charset="0"/>
                <a:cs typeface="Times New Roman" panose="02020603050405020304" pitchFamily="18" charset="0"/>
              </a:rPr>
              <a:t>Deterioration may only</a:t>
            </a:r>
            <a:r>
              <a:rPr lang="en-IN" sz="1200" b="0" dirty="0">
                <a:solidFill>
                  <a:srgbClr val="1E2834"/>
                </a:solidFill>
                <a:latin typeface="Times New Roman" panose="02020603050405020304" pitchFamily="18" charset="0"/>
                <a:cs typeface="Times New Roman" panose="02020603050405020304" pitchFamily="18" charset="0"/>
              </a:rPr>
              <a:t> </a:t>
            </a:r>
            <a:r>
              <a:rPr sz="1200" b="0" dirty="0">
                <a:solidFill>
                  <a:srgbClr val="1E2834"/>
                </a:solidFill>
                <a:latin typeface="Times New Roman" panose="02020603050405020304" pitchFamily="18" charset="0"/>
                <a:cs typeface="Times New Roman" panose="02020603050405020304" pitchFamily="18" charset="0"/>
              </a:rPr>
              <a:t>become visible after complaints accumulate.</a:t>
            </a:r>
          </a:p>
        </p:txBody>
      </p:sp>
      <p:sp>
        <p:nvSpPr>
          <p:cNvPr id="25" name="TextBox 24">
            <a:extLst>
              <a:ext uri="{FF2B5EF4-FFF2-40B4-BE49-F238E27FC236}">
                <a16:creationId xmlns:a16="http://schemas.microsoft.com/office/drawing/2014/main" id="{4A100B89-2CC8-4B8C-8D43-CA3D1AC88BF2}"/>
              </a:ext>
            </a:extLst>
          </p:cNvPr>
          <p:cNvSpPr txBox="1"/>
          <p:nvPr/>
        </p:nvSpPr>
        <p:spPr>
          <a:xfrm>
            <a:off x="3630213" y="3225384"/>
            <a:ext cx="994434" cy="387798"/>
          </a:xfrm>
          <a:prstGeom prst="rect">
            <a:avLst/>
          </a:prstGeom>
          <a:noFill/>
        </p:spPr>
        <p:txBody>
          <a:bodyPr wrap="square" lIns="18288" tIns="9144" rIns="18288" bIns="9144" anchor="t">
            <a:spAutoFit/>
          </a:bodyPr>
          <a:lstStyle/>
          <a:p>
            <a:pPr algn="l"/>
            <a:r>
              <a:rPr sz="1200" b="1" dirty="0">
                <a:solidFill>
                  <a:srgbClr val="238755"/>
                </a:solidFill>
                <a:latin typeface="Times New Roman" panose="02020603050405020304" pitchFamily="18" charset="0"/>
                <a:cs typeface="Times New Roman" panose="02020603050405020304" pitchFamily="18" charset="0"/>
              </a:rPr>
              <a:t>Decision support</a:t>
            </a:r>
          </a:p>
        </p:txBody>
      </p:sp>
      <p:sp>
        <p:nvSpPr>
          <p:cNvPr id="26" name="TextBox 25">
            <a:extLst>
              <a:ext uri="{FF2B5EF4-FFF2-40B4-BE49-F238E27FC236}">
                <a16:creationId xmlns:a16="http://schemas.microsoft.com/office/drawing/2014/main" id="{BB855C3A-E087-4222-877F-2D0E53E308D5}"/>
              </a:ext>
            </a:extLst>
          </p:cNvPr>
          <p:cNvSpPr txBox="1"/>
          <p:nvPr/>
        </p:nvSpPr>
        <p:spPr>
          <a:xfrm>
            <a:off x="4582475" y="3289853"/>
            <a:ext cx="2023160" cy="387798"/>
          </a:xfrm>
          <a:prstGeom prst="rect">
            <a:avLst/>
          </a:prstGeom>
          <a:noFill/>
        </p:spPr>
        <p:txBody>
          <a:bodyPr wrap="square" lIns="18288" tIns="9144" rIns="18288" bIns="9144" anchor="t">
            <a:spAutoFit/>
          </a:bodyPr>
          <a:lstStyle/>
          <a:p>
            <a:pPr algn="l"/>
            <a:r>
              <a:rPr sz="1200" b="0" dirty="0">
                <a:solidFill>
                  <a:srgbClr val="1E2834"/>
                </a:solidFill>
                <a:latin typeface="Times New Roman" panose="02020603050405020304" pitchFamily="18" charset="0"/>
                <a:cs typeface="Times New Roman" panose="02020603050405020304" pitchFamily="18" charset="0"/>
              </a:rPr>
              <a:t>Operations teams need a single evidence-based view.</a:t>
            </a:r>
          </a:p>
        </p:txBody>
      </p:sp>
      <p:sp>
        <p:nvSpPr>
          <p:cNvPr id="27" name="Rounded Rectangle 22">
            <a:extLst>
              <a:ext uri="{FF2B5EF4-FFF2-40B4-BE49-F238E27FC236}">
                <a16:creationId xmlns:a16="http://schemas.microsoft.com/office/drawing/2014/main" id="{2A383302-B82F-4A17-B8E7-FE378462724E}"/>
              </a:ext>
            </a:extLst>
          </p:cNvPr>
          <p:cNvSpPr/>
          <p:nvPr/>
        </p:nvSpPr>
        <p:spPr>
          <a:xfrm>
            <a:off x="6921250" y="1179947"/>
            <a:ext cx="2023160" cy="2708910"/>
          </a:xfrm>
          <a:prstGeom prst="roundRect">
            <a:avLst/>
          </a:prstGeom>
          <a:solidFill>
            <a:srgbClr val="003E73"/>
          </a:solidFill>
          <a:ln w="8890">
            <a:solidFill>
              <a:srgbClr val="003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89C3BF07-75F8-4DC2-8FDB-5988D0945C53}"/>
              </a:ext>
            </a:extLst>
          </p:cNvPr>
          <p:cNvSpPr txBox="1"/>
          <p:nvPr/>
        </p:nvSpPr>
        <p:spPr>
          <a:xfrm>
            <a:off x="7126995" y="1419977"/>
            <a:ext cx="1577379" cy="203133"/>
          </a:xfrm>
          <a:prstGeom prst="rect">
            <a:avLst/>
          </a:prstGeom>
          <a:noFill/>
        </p:spPr>
        <p:txBody>
          <a:bodyPr wrap="square" lIns="18288" tIns="9144" rIns="18288" bIns="9144" anchor="t">
            <a:spAutoFit/>
          </a:bodyPr>
          <a:lstStyle/>
          <a:p>
            <a:pPr algn="ctr"/>
            <a:r>
              <a:rPr sz="1200" b="1">
                <a:solidFill>
                  <a:srgbClr val="FFDA73"/>
                </a:solidFill>
                <a:latin typeface="Times New Roman" panose="02020603050405020304" pitchFamily="18" charset="0"/>
                <a:cs typeface="Times New Roman" panose="02020603050405020304" pitchFamily="18" charset="0"/>
              </a:rPr>
              <a:t>OBJECTIVE</a:t>
            </a:r>
          </a:p>
        </p:txBody>
      </p:sp>
      <p:sp>
        <p:nvSpPr>
          <p:cNvPr id="29" name="TextBox 28">
            <a:extLst>
              <a:ext uri="{FF2B5EF4-FFF2-40B4-BE49-F238E27FC236}">
                <a16:creationId xmlns:a16="http://schemas.microsoft.com/office/drawing/2014/main" id="{AA4C65F7-D3C1-40F5-B773-9270016692B3}"/>
              </a:ext>
            </a:extLst>
          </p:cNvPr>
          <p:cNvSpPr txBox="1"/>
          <p:nvPr/>
        </p:nvSpPr>
        <p:spPr>
          <a:xfrm>
            <a:off x="7126995" y="1831457"/>
            <a:ext cx="1577379" cy="387798"/>
          </a:xfrm>
          <a:prstGeom prst="rect">
            <a:avLst/>
          </a:prstGeom>
          <a:noFill/>
        </p:spPr>
        <p:txBody>
          <a:bodyPr wrap="square" lIns="18288" tIns="9144" rIns="18288" bIns="9144" anchor="t">
            <a:spAutoFit/>
          </a:bodyPr>
          <a:lstStyle/>
          <a:p>
            <a:pPr algn="ctr"/>
            <a:r>
              <a:rPr sz="1200" b="1">
                <a:solidFill>
                  <a:srgbClr val="FFFFFF"/>
                </a:solidFill>
                <a:latin typeface="Times New Roman" panose="02020603050405020304" pitchFamily="18" charset="0"/>
                <a:cs typeface="Times New Roman" panose="02020603050405020304" pitchFamily="18" charset="0"/>
              </a:rPr>
              <a:t>Build one working pipeline that connects</a:t>
            </a:r>
          </a:p>
        </p:txBody>
      </p:sp>
      <p:sp>
        <p:nvSpPr>
          <p:cNvPr id="30" name="TextBox 29">
            <a:extLst>
              <a:ext uri="{FF2B5EF4-FFF2-40B4-BE49-F238E27FC236}">
                <a16:creationId xmlns:a16="http://schemas.microsoft.com/office/drawing/2014/main" id="{ECACA4B6-ADDA-4ACF-8772-0E6D7633A734}"/>
              </a:ext>
            </a:extLst>
          </p:cNvPr>
          <p:cNvSpPr txBox="1"/>
          <p:nvPr/>
        </p:nvSpPr>
        <p:spPr>
          <a:xfrm>
            <a:off x="7126995" y="2344432"/>
            <a:ext cx="1577379" cy="757130"/>
          </a:xfrm>
          <a:prstGeom prst="rect">
            <a:avLst/>
          </a:prstGeom>
          <a:noFill/>
        </p:spPr>
        <p:txBody>
          <a:bodyPr wrap="square" lIns="18288" tIns="9144" rIns="18288" bIns="9144" anchor="ctr">
            <a:spAutoFit/>
          </a:bodyPr>
          <a:lstStyle/>
          <a:p>
            <a:pPr algn="ctr"/>
            <a:r>
              <a:rPr sz="1200" b="1" dirty="0">
                <a:solidFill>
                  <a:srgbClr val="FFFFFF"/>
                </a:solidFill>
                <a:latin typeface="Times New Roman" panose="02020603050405020304" pitchFamily="18" charset="0"/>
                <a:cs typeface="Times New Roman" panose="02020603050405020304" pitchFamily="18" charset="0"/>
              </a:rPr>
              <a:t>feedback → classification → storage → analytics → operational insight</a:t>
            </a:r>
          </a:p>
        </p:txBody>
      </p:sp>
      <p:sp>
        <p:nvSpPr>
          <p:cNvPr id="31" name="Rounded Rectangle 26">
            <a:extLst>
              <a:ext uri="{FF2B5EF4-FFF2-40B4-BE49-F238E27FC236}">
                <a16:creationId xmlns:a16="http://schemas.microsoft.com/office/drawing/2014/main" id="{C0D5AA25-E4C7-4F71-81A4-AF65BD9BFCD1}"/>
              </a:ext>
            </a:extLst>
          </p:cNvPr>
          <p:cNvSpPr/>
          <p:nvPr/>
        </p:nvSpPr>
        <p:spPr>
          <a:xfrm>
            <a:off x="7298449" y="3340217"/>
            <a:ext cx="1234470" cy="233172"/>
          </a:xfrm>
          <a:prstGeom prst="roundRect">
            <a:avLst/>
          </a:prstGeom>
          <a:solidFill>
            <a:srgbClr val="008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B20BE44C-14E0-4A7F-8A92-200011A8F4B0}"/>
              </a:ext>
            </a:extLst>
          </p:cNvPr>
          <p:cNvSpPr txBox="1"/>
          <p:nvPr/>
        </p:nvSpPr>
        <p:spPr>
          <a:xfrm>
            <a:off x="7319024" y="3348378"/>
            <a:ext cx="1193321" cy="203133"/>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DATA-DRIVEN</a:t>
            </a:r>
          </a:p>
        </p:txBody>
      </p:sp>
      <p:sp>
        <p:nvSpPr>
          <p:cNvPr id="33" name="object 3">
            <a:extLst>
              <a:ext uri="{FF2B5EF4-FFF2-40B4-BE49-F238E27FC236}">
                <a16:creationId xmlns:a16="http://schemas.microsoft.com/office/drawing/2014/main" id="{36F17AE3-9F3A-4F82-B099-DB71A03E7CA4}"/>
              </a:ext>
            </a:extLst>
          </p:cNvPr>
          <p:cNvSpPr txBox="1"/>
          <p:nvPr/>
        </p:nvSpPr>
        <p:spPr>
          <a:xfrm>
            <a:off x="68026" y="4318563"/>
            <a:ext cx="8836596" cy="198131"/>
          </a:xfrm>
          <a:prstGeom prst="rect">
            <a:avLst/>
          </a:prstGeom>
        </p:spPr>
        <p:txBody>
          <a:bodyPr vert="horz" wrap="square" lIns="0" tIns="13335" rIns="0" bIns="0" rtlCol="0" anchor="t">
            <a:spAutoFit/>
          </a:bodyPr>
          <a:lstStyle/>
          <a:p>
            <a:pPr marL="285750" indent="-285750" algn="just">
              <a:buClr>
                <a:srgbClr val="005093"/>
              </a:buClr>
              <a:buFont typeface="Wingdings" panose="05000000000000000000" pitchFamily="2" charset="2"/>
              <a:buChar char="Ø"/>
              <a:tabLst>
                <a:tab pos="180340" algn="l"/>
                <a:tab pos="292735" algn="l"/>
              </a:tabLst>
            </a:pPr>
            <a:r>
              <a:rPr lang="en-US" sz="1200" dirty="0">
                <a:solidFill>
                  <a:srgbClr val="525252"/>
                </a:solidFill>
                <a:latin typeface="Times New Roman" panose="02020603050405020304" pitchFamily="18" charset="0"/>
                <a:cs typeface="Times New Roman" panose="02020603050405020304" pitchFamily="18" charset="0"/>
              </a:rPr>
              <a:t>The challenge is not collecting a complaint; it is identifying recurring patterns across routes, categories, severity and time periods.</a:t>
            </a:r>
          </a:p>
        </p:txBody>
      </p:sp>
    </p:spTree>
    <p:extLst>
      <p:ext uri="{BB962C8B-B14F-4D97-AF65-F5344CB8AC3E}">
        <p14:creationId xmlns:p14="http://schemas.microsoft.com/office/powerpoint/2010/main" val="390659566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942643-4B4B-3AF4-2F08-E12BA79BC8F5}"/>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3</a:t>
            </a:fld>
            <a:endParaRPr lang="en-IN" dirty="0"/>
          </a:p>
        </p:txBody>
      </p:sp>
      <p:sp>
        <p:nvSpPr>
          <p:cNvPr id="10" name="TextBox 9">
            <a:extLst>
              <a:ext uri="{FF2B5EF4-FFF2-40B4-BE49-F238E27FC236}">
                <a16:creationId xmlns:a16="http://schemas.microsoft.com/office/drawing/2014/main" id="{D28E8CE0-38BB-43A5-B4EE-22EBF2325B7C}"/>
              </a:ext>
            </a:extLst>
          </p:cNvPr>
          <p:cNvSpPr txBox="1"/>
          <p:nvPr/>
        </p:nvSpPr>
        <p:spPr bwMode="auto">
          <a:xfrm>
            <a:off x="182078" y="4835723"/>
            <a:ext cx="8595233" cy="307777"/>
          </a:xfrm>
          <a:prstGeom prst="rect">
            <a:avLst/>
          </a:prstGeom>
          <a:noFill/>
          <a:ln w="19050" algn="ctr">
            <a:noFill/>
            <a:miter lim="800000"/>
            <a:headEnd/>
            <a:tailEnd/>
          </a:ln>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	Veritas AI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DPA Hackathon 2026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IARE</a:t>
            </a:r>
          </a:p>
        </p:txBody>
      </p:sp>
      <p:pic>
        <p:nvPicPr>
          <p:cNvPr id="7" name="Picture 6">
            <a:extLst>
              <a:ext uri="{FF2B5EF4-FFF2-40B4-BE49-F238E27FC236}">
                <a16:creationId xmlns:a16="http://schemas.microsoft.com/office/drawing/2014/main" id="{663E3B90-F832-4B7C-A832-B10A9043AD70}"/>
              </a:ext>
            </a:extLst>
          </p:cNvPr>
          <p:cNvPicPr>
            <a:picLocks noChangeAspect="1"/>
          </p:cNvPicPr>
          <p:nvPr/>
        </p:nvPicPr>
        <p:blipFill rotWithShape="1">
          <a:blip r:embed="rId3"/>
          <a:srcRect l="-1949" t="31547" r="1949" b="31097"/>
          <a:stretch/>
        </p:blipFill>
        <p:spPr>
          <a:xfrm>
            <a:off x="6384941" y="144570"/>
            <a:ext cx="1905000" cy="711627"/>
          </a:xfrm>
          <a:prstGeom prst="rect">
            <a:avLst/>
          </a:prstGeom>
        </p:spPr>
      </p:pic>
      <p:sp>
        <p:nvSpPr>
          <p:cNvPr id="11" name="object 2">
            <a:extLst>
              <a:ext uri="{FF2B5EF4-FFF2-40B4-BE49-F238E27FC236}">
                <a16:creationId xmlns:a16="http://schemas.microsoft.com/office/drawing/2014/main" id="{D179FC4C-EAB8-4793-B3BD-05E101B4D037}"/>
              </a:ext>
            </a:extLst>
          </p:cNvPr>
          <p:cNvSpPr txBox="1">
            <a:spLocks/>
          </p:cNvSpPr>
          <p:nvPr/>
        </p:nvSpPr>
        <p:spPr>
          <a:xfrm>
            <a:off x="66039" y="188849"/>
            <a:ext cx="7432040" cy="534120"/>
          </a:xfrm>
          <a:prstGeom prst="rect">
            <a:avLst/>
          </a:prstGeom>
        </p:spPr>
        <p:txBody>
          <a:bodyPr vert="horz" wrap="square" lIns="0" tIns="71754" rIns="0" bIns="0" rtlCol="0" anchor="t">
            <a:spAutoFit/>
          </a:bodyPr>
          <a:lst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a:lstStyle>
          <a:p>
            <a:pPr marL="45085">
              <a:lnSpc>
                <a:spcPct val="100000"/>
              </a:lnSpc>
              <a:spcBef>
                <a:spcPts val="105"/>
              </a:spcBef>
            </a:pPr>
            <a:r>
              <a:rPr lang="en-IN" spc="-30" dirty="0">
                <a:latin typeface="Times New Roman" panose="02020603050405020304" pitchFamily="18" charset="0"/>
                <a:cs typeface="Times New Roman" panose="02020603050405020304" pitchFamily="18" charset="0"/>
              </a:rPr>
              <a:t>Solution Workflow</a:t>
            </a:r>
          </a:p>
        </p:txBody>
      </p:sp>
      <p:sp>
        <p:nvSpPr>
          <p:cNvPr id="8" name="Rounded Rectangle 6">
            <a:extLst>
              <a:ext uri="{FF2B5EF4-FFF2-40B4-BE49-F238E27FC236}">
                <a16:creationId xmlns:a16="http://schemas.microsoft.com/office/drawing/2014/main" id="{2B83FE3D-E8EC-43AC-B614-1AE6517A38F6}"/>
              </a:ext>
            </a:extLst>
          </p:cNvPr>
          <p:cNvSpPr/>
          <p:nvPr/>
        </p:nvSpPr>
        <p:spPr>
          <a:xfrm>
            <a:off x="143319" y="1530387"/>
            <a:ext cx="975312" cy="1881206"/>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9" name="Rounded Rectangle 7">
            <a:extLst>
              <a:ext uri="{FF2B5EF4-FFF2-40B4-BE49-F238E27FC236}">
                <a16:creationId xmlns:a16="http://schemas.microsoft.com/office/drawing/2014/main" id="{BC11E926-95E5-405D-963D-EBF45F0C4EBD}"/>
              </a:ext>
            </a:extLst>
          </p:cNvPr>
          <p:cNvSpPr/>
          <p:nvPr/>
        </p:nvSpPr>
        <p:spPr>
          <a:xfrm>
            <a:off x="225617" y="1681263"/>
            <a:ext cx="294901" cy="233172"/>
          </a:xfrm>
          <a:prstGeom prst="roundRect">
            <a:avLst/>
          </a:prstGeom>
          <a:solidFill>
            <a:srgbClr val="0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200" dirty="0">
                <a:latin typeface="Times New Roman" panose="02020603050405020304" pitchFamily="18" charset="0"/>
                <a:cs typeface="Times New Roman" panose="02020603050405020304" pitchFamily="18" charset="0"/>
              </a:rPr>
              <a:t>1</a:t>
            </a:r>
            <a:endParaRPr sz="1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CC0E0BD-09E6-49BF-8FC2-3DCA27A5420A}"/>
              </a:ext>
            </a:extLst>
          </p:cNvPr>
          <p:cNvSpPr txBox="1"/>
          <p:nvPr/>
        </p:nvSpPr>
        <p:spPr>
          <a:xfrm>
            <a:off x="225617" y="2044737"/>
            <a:ext cx="740682" cy="205740"/>
          </a:xfrm>
          <a:prstGeom prst="rect">
            <a:avLst/>
          </a:prstGeom>
          <a:noFill/>
        </p:spPr>
        <p:txBody>
          <a:bodyPr wrap="square" lIns="18288" tIns="9144" rIns="18288" bIns="9144" anchor="t">
            <a:spAutoFit/>
          </a:bodyPr>
          <a:lstStyle/>
          <a:p>
            <a:pPr algn="ctr"/>
            <a:r>
              <a:rPr sz="1200" b="1">
                <a:solidFill>
                  <a:srgbClr val="005BA0"/>
                </a:solidFill>
                <a:latin typeface="Times New Roman" panose="02020603050405020304" pitchFamily="18" charset="0"/>
                <a:cs typeface="Times New Roman" panose="02020603050405020304" pitchFamily="18" charset="0"/>
              </a:rPr>
              <a:t>Passenger</a:t>
            </a:r>
          </a:p>
        </p:txBody>
      </p:sp>
      <p:sp>
        <p:nvSpPr>
          <p:cNvPr id="13" name="TextBox 12">
            <a:extLst>
              <a:ext uri="{FF2B5EF4-FFF2-40B4-BE49-F238E27FC236}">
                <a16:creationId xmlns:a16="http://schemas.microsoft.com/office/drawing/2014/main" id="{E074C272-4FD5-474C-BED4-72A9DD99C4FB}"/>
              </a:ext>
            </a:extLst>
          </p:cNvPr>
          <p:cNvSpPr txBox="1"/>
          <p:nvPr/>
        </p:nvSpPr>
        <p:spPr>
          <a:xfrm>
            <a:off x="225617" y="2367063"/>
            <a:ext cx="740682" cy="757130"/>
          </a:xfrm>
          <a:prstGeom prst="rect">
            <a:avLst/>
          </a:prstGeom>
          <a:noFill/>
        </p:spPr>
        <p:txBody>
          <a:bodyPr wrap="square" lIns="18288" tIns="9144" rIns="18288" bIns="9144" anchor="t">
            <a:spAutoFit/>
          </a:bodyPr>
          <a:lstStyle/>
          <a:p>
            <a:pPr algn="ctr"/>
            <a:r>
              <a:rPr sz="1200" b="0" dirty="0">
                <a:solidFill>
                  <a:srgbClr val="1E2834"/>
                </a:solidFill>
                <a:latin typeface="Times New Roman" panose="02020603050405020304" pitchFamily="18" charset="0"/>
                <a:cs typeface="Times New Roman" panose="02020603050405020304" pitchFamily="18" charset="0"/>
              </a:rPr>
              <a:t>Submit route, trip,</a:t>
            </a:r>
            <a:br>
              <a:rPr sz="1200" dirty="0">
                <a:latin typeface="Times New Roman" panose="02020603050405020304" pitchFamily="18" charset="0"/>
                <a:cs typeface="Times New Roman" panose="02020603050405020304" pitchFamily="18" charset="0"/>
              </a:rPr>
            </a:br>
            <a:r>
              <a:rPr sz="1200" b="0" dirty="0">
                <a:solidFill>
                  <a:srgbClr val="1E2834"/>
                </a:solidFill>
                <a:latin typeface="Times New Roman" panose="02020603050405020304" pitchFamily="18" charset="0"/>
                <a:cs typeface="Times New Roman" panose="02020603050405020304" pitchFamily="18" charset="0"/>
              </a:rPr>
              <a:t>ratings and comment</a:t>
            </a:r>
          </a:p>
        </p:txBody>
      </p:sp>
      <p:cxnSp>
        <p:nvCxnSpPr>
          <p:cNvPr id="14" name="Connector 11">
            <a:extLst>
              <a:ext uri="{FF2B5EF4-FFF2-40B4-BE49-F238E27FC236}">
                <a16:creationId xmlns:a16="http://schemas.microsoft.com/office/drawing/2014/main" id="{8E02C713-959B-4132-82E0-B8D8BDDF44E4}"/>
              </a:ext>
            </a:extLst>
          </p:cNvPr>
          <p:cNvCxnSpPr>
            <a:cxnSpLocks/>
            <a:stCxn id="8" idx="3"/>
          </p:cNvCxnSpPr>
          <p:nvPr/>
        </p:nvCxnSpPr>
        <p:spPr>
          <a:xfrm>
            <a:off x="1118631" y="2470990"/>
            <a:ext cx="226842" cy="3361"/>
          </a:xfrm>
          <a:prstGeom prst="line">
            <a:avLst/>
          </a:prstGeom>
          <a:ln w="19050">
            <a:solidFill>
              <a:srgbClr val="005BA0"/>
            </a:solidFill>
          </a:ln>
        </p:spPr>
        <p:style>
          <a:lnRef idx="2">
            <a:schemeClr val="accent1"/>
          </a:lnRef>
          <a:fillRef idx="0">
            <a:schemeClr val="accent1"/>
          </a:fillRef>
          <a:effectRef idx="1">
            <a:schemeClr val="accent1"/>
          </a:effectRef>
          <a:fontRef idx="minor">
            <a:schemeClr val="tx1"/>
          </a:fontRef>
        </p:style>
      </p:cxnSp>
      <p:sp>
        <p:nvSpPr>
          <p:cNvPr id="15" name="Rounded Rectangle 12">
            <a:extLst>
              <a:ext uri="{FF2B5EF4-FFF2-40B4-BE49-F238E27FC236}">
                <a16:creationId xmlns:a16="http://schemas.microsoft.com/office/drawing/2014/main" id="{0CB980BF-51B0-4E70-95E0-A08D80B6C15E}"/>
              </a:ext>
            </a:extLst>
          </p:cNvPr>
          <p:cNvSpPr/>
          <p:nvPr/>
        </p:nvSpPr>
        <p:spPr>
          <a:xfrm>
            <a:off x="1345475" y="1537108"/>
            <a:ext cx="925853" cy="1874485"/>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dirty="0">
              <a:latin typeface="Times New Roman" panose="02020603050405020304" pitchFamily="18" charset="0"/>
              <a:cs typeface="Times New Roman" panose="02020603050405020304" pitchFamily="18" charset="0"/>
            </a:endParaRPr>
          </a:p>
        </p:txBody>
      </p:sp>
      <p:sp>
        <p:nvSpPr>
          <p:cNvPr id="16" name="Rounded Rectangle 13">
            <a:extLst>
              <a:ext uri="{FF2B5EF4-FFF2-40B4-BE49-F238E27FC236}">
                <a16:creationId xmlns:a16="http://schemas.microsoft.com/office/drawing/2014/main" id="{660C9475-E490-48F7-A886-9F82AB0187BD}"/>
              </a:ext>
            </a:extLst>
          </p:cNvPr>
          <p:cNvSpPr/>
          <p:nvPr/>
        </p:nvSpPr>
        <p:spPr>
          <a:xfrm>
            <a:off x="1415715" y="1684556"/>
            <a:ext cx="294901" cy="233172"/>
          </a:xfrm>
          <a:prstGeom prst="roundRect">
            <a:avLst/>
          </a:prstGeom>
          <a:solidFill>
            <a:srgbClr val="DD8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200" dirty="0">
                <a:latin typeface="Times New Roman" panose="02020603050405020304" pitchFamily="18" charset="0"/>
                <a:cs typeface="Times New Roman" panose="02020603050405020304" pitchFamily="18" charset="0"/>
              </a:rPr>
              <a:t>2</a:t>
            </a:r>
            <a:endParaRPr sz="12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F6A52343-536D-4371-80F9-16ED33ADFDFE}"/>
              </a:ext>
            </a:extLst>
          </p:cNvPr>
          <p:cNvSpPr txBox="1"/>
          <p:nvPr/>
        </p:nvSpPr>
        <p:spPr>
          <a:xfrm>
            <a:off x="1415715" y="2048030"/>
            <a:ext cx="740682" cy="205740"/>
          </a:xfrm>
          <a:prstGeom prst="rect">
            <a:avLst/>
          </a:prstGeom>
          <a:noFill/>
        </p:spPr>
        <p:txBody>
          <a:bodyPr wrap="square" lIns="18288" tIns="9144" rIns="18288" bIns="9144" anchor="t">
            <a:spAutoFit/>
          </a:bodyPr>
          <a:lstStyle/>
          <a:p>
            <a:pPr algn="ctr"/>
            <a:r>
              <a:rPr sz="1200" b="1">
                <a:solidFill>
                  <a:srgbClr val="DD8500"/>
                </a:solidFill>
                <a:latin typeface="Times New Roman" panose="02020603050405020304" pitchFamily="18" charset="0"/>
                <a:cs typeface="Times New Roman" panose="02020603050405020304" pitchFamily="18" charset="0"/>
              </a:rPr>
              <a:t>Classify</a:t>
            </a:r>
          </a:p>
        </p:txBody>
      </p:sp>
      <p:sp>
        <p:nvSpPr>
          <p:cNvPr id="18" name="TextBox 17">
            <a:extLst>
              <a:ext uri="{FF2B5EF4-FFF2-40B4-BE49-F238E27FC236}">
                <a16:creationId xmlns:a16="http://schemas.microsoft.com/office/drawing/2014/main" id="{13E76C4B-20C7-432B-BC48-497FDD9ED3A6}"/>
              </a:ext>
            </a:extLst>
          </p:cNvPr>
          <p:cNvSpPr txBox="1"/>
          <p:nvPr/>
        </p:nvSpPr>
        <p:spPr>
          <a:xfrm>
            <a:off x="1345473" y="2370356"/>
            <a:ext cx="925853" cy="941796"/>
          </a:xfrm>
          <a:prstGeom prst="rect">
            <a:avLst/>
          </a:prstGeom>
          <a:noFill/>
        </p:spPr>
        <p:txBody>
          <a:bodyPr wrap="square" lIns="18288" tIns="9144" rIns="18288" bIns="9144" anchor="t">
            <a:spAutoFit/>
          </a:bodyPr>
          <a:lstStyle/>
          <a:p>
            <a:pPr algn="ctr"/>
            <a:r>
              <a:rPr sz="1200" b="0" dirty="0">
                <a:solidFill>
                  <a:srgbClr val="1E2834"/>
                </a:solidFill>
                <a:latin typeface="Times New Roman" panose="02020603050405020304" pitchFamily="18" charset="0"/>
                <a:cs typeface="Times New Roman" panose="02020603050405020304" pitchFamily="18" charset="0"/>
              </a:rPr>
              <a:t>Category </a:t>
            </a:r>
            <a:endParaRPr lang="en-IN" sz="1200" b="0" dirty="0">
              <a:solidFill>
                <a:srgbClr val="1E2834"/>
              </a:solidFill>
              <a:latin typeface="Times New Roman" panose="02020603050405020304" pitchFamily="18" charset="0"/>
              <a:cs typeface="Times New Roman" panose="02020603050405020304" pitchFamily="18" charset="0"/>
            </a:endParaRPr>
          </a:p>
          <a:p>
            <a:pPr algn="ctr"/>
            <a:r>
              <a:rPr sz="1200" b="0" dirty="0">
                <a:solidFill>
                  <a:srgbClr val="1E2834"/>
                </a:solidFill>
                <a:latin typeface="Times New Roman" panose="02020603050405020304" pitchFamily="18" charset="0"/>
                <a:cs typeface="Times New Roman" panose="02020603050405020304" pitchFamily="18" charset="0"/>
              </a:rPr>
              <a:t>+ </a:t>
            </a:r>
            <a:endParaRPr lang="en-IN" sz="1200" b="0" dirty="0">
              <a:solidFill>
                <a:srgbClr val="1E2834"/>
              </a:solidFill>
              <a:latin typeface="Times New Roman" panose="02020603050405020304" pitchFamily="18" charset="0"/>
              <a:cs typeface="Times New Roman" panose="02020603050405020304" pitchFamily="18" charset="0"/>
            </a:endParaRPr>
          </a:p>
          <a:p>
            <a:pPr algn="ctr"/>
            <a:r>
              <a:rPr lang="en-IN" sz="1200" dirty="0">
                <a:solidFill>
                  <a:srgbClr val="1E2834"/>
                </a:solidFill>
                <a:latin typeface="Times New Roman" panose="02020603050405020304" pitchFamily="18" charset="0"/>
                <a:cs typeface="Times New Roman" panose="02020603050405020304" pitchFamily="18" charset="0"/>
              </a:rPr>
              <a:t>S</a:t>
            </a:r>
            <a:r>
              <a:rPr sz="1200" b="0" dirty="0" err="1">
                <a:solidFill>
                  <a:srgbClr val="1E2834"/>
                </a:solidFill>
                <a:latin typeface="Times New Roman" panose="02020603050405020304" pitchFamily="18" charset="0"/>
                <a:cs typeface="Times New Roman" panose="02020603050405020304" pitchFamily="18" charset="0"/>
              </a:rPr>
              <a:t>everity</a:t>
            </a:r>
            <a:br>
              <a:rPr sz="1200" dirty="0">
                <a:latin typeface="Times New Roman" panose="02020603050405020304" pitchFamily="18" charset="0"/>
                <a:cs typeface="Times New Roman" panose="02020603050405020304" pitchFamily="18" charset="0"/>
              </a:rPr>
            </a:br>
            <a:r>
              <a:rPr sz="1200" b="0" dirty="0">
                <a:solidFill>
                  <a:srgbClr val="1E2834"/>
                </a:solidFill>
                <a:latin typeface="Times New Roman" panose="02020603050405020304" pitchFamily="18" charset="0"/>
                <a:cs typeface="Times New Roman" panose="02020603050405020304" pitchFamily="18" charset="0"/>
              </a:rPr>
              <a:t>+ </a:t>
            </a:r>
            <a:endParaRPr lang="en-IN" sz="1200" b="0" dirty="0">
              <a:solidFill>
                <a:srgbClr val="1E2834"/>
              </a:solidFill>
              <a:latin typeface="Times New Roman" panose="02020603050405020304" pitchFamily="18" charset="0"/>
              <a:cs typeface="Times New Roman" panose="02020603050405020304" pitchFamily="18" charset="0"/>
            </a:endParaRPr>
          </a:p>
          <a:p>
            <a:pPr algn="ctr"/>
            <a:r>
              <a:rPr lang="en-IN" sz="1200" b="0" dirty="0">
                <a:solidFill>
                  <a:srgbClr val="1E2834"/>
                </a:solidFill>
                <a:latin typeface="Times New Roman" panose="02020603050405020304" pitchFamily="18" charset="0"/>
                <a:cs typeface="Times New Roman" panose="02020603050405020304" pitchFamily="18" charset="0"/>
              </a:rPr>
              <a:t>C</a:t>
            </a:r>
            <a:r>
              <a:rPr sz="1200" b="0" dirty="0" err="1">
                <a:solidFill>
                  <a:srgbClr val="1E2834"/>
                </a:solidFill>
                <a:latin typeface="Times New Roman" panose="02020603050405020304" pitchFamily="18" charset="0"/>
                <a:cs typeface="Times New Roman" panose="02020603050405020304" pitchFamily="18" charset="0"/>
              </a:rPr>
              <a:t>onfidence</a:t>
            </a:r>
            <a:endParaRPr sz="1200" b="0" dirty="0">
              <a:solidFill>
                <a:srgbClr val="1E2834"/>
              </a:solidFill>
              <a:latin typeface="Times New Roman" panose="02020603050405020304" pitchFamily="18" charset="0"/>
              <a:cs typeface="Times New Roman" panose="02020603050405020304" pitchFamily="18" charset="0"/>
            </a:endParaRPr>
          </a:p>
        </p:txBody>
      </p:sp>
      <p:cxnSp>
        <p:nvCxnSpPr>
          <p:cNvPr id="19" name="Connector 17">
            <a:extLst>
              <a:ext uri="{FF2B5EF4-FFF2-40B4-BE49-F238E27FC236}">
                <a16:creationId xmlns:a16="http://schemas.microsoft.com/office/drawing/2014/main" id="{ECA3A5F9-1246-4B55-9643-4205DBBE63B9}"/>
              </a:ext>
            </a:extLst>
          </p:cNvPr>
          <p:cNvCxnSpPr>
            <a:cxnSpLocks/>
            <a:stCxn id="15" idx="3"/>
            <a:endCxn id="20" idx="1"/>
          </p:cNvCxnSpPr>
          <p:nvPr/>
        </p:nvCxnSpPr>
        <p:spPr>
          <a:xfrm flipV="1">
            <a:off x="2271328" y="2473411"/>
            <a:ext cx="234318" cy="940"/>
          </a:xfrm>
          <a:prstGeom prst="line">
            <a:avLst/>
          </a:prstGeom>
          <a:ln w="19050">
            <a:solidFill>
              <a:srgbClr val="DD8500"/>
            </a:solidFill>
          </a:ln>
        </p:spPr>
        <p:style>
          <a:lnRef idx="2">
            <a:schemeClr val="accent1"/>
          </a:lnRef>
          <a:fillRef idx="0">
            <a:schemeClr val="accent1"/>
          </a:fillRef>
          <a:effectRef idx="1">
            <a:schemeClr val="accent1"/>
          </a:effectRef>
          <a:fontRef idx="minor">
            <a:schemeClr val="tx1"/>
          </a:fontRef>
        </p:style>
      </p:cxnSp>
      <p:sp>
        <p:nvSpPr>
          <p:cNvPr id="20" name="Rounded Rectangle 18">
            <a:extLst>
              <a:ext uri="{FF2B5EF4-FFF2-40B4-BE49-F238E27FC236}">
                <a16:creationId xmlns:a16="http://schemas.microsoft.com/office/drawing/2014/main" id="{388E6D77-B1B1-4E2A-B7D7-00F18C6EDAEA}"/>
              </a:ext>
            </a:extLst>
          </p:cNvPr>
          <p:cNvSpPr/>
          <p:nvPr/>
        </p:nvSpPr>
        <p:spPr>
          <a:xfrm>
            <a:off x="2505646" y="1532808"/>
            <a:ext cx="925853" cy="1881205"/>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21" name="Rounded Rectangle 19">
            <a:extLst>
              <a:ext uri="{FF2B5EF4-FFF2-40B4-BE49-F238E27FC236}">
                <a16:creationId xmlns:a16="http://schemas.microsoft.com/office/drawing/2014/main" id="{05FA7106-B6DA-4AC6-A858-CAEDFDD59361}"/>
              </a:ext>
            </a:extLst>
          </p:cNvPr>
          <p:cNvSpPr/>
          <p:nvPr/>
        </p:nvSpPr>
        <p:spPr>
          <a:xfrm>
            <a:off x="2587944" y="1683685"/>
            <a:ext cx="294901" cy="233172"/>
          </a:xfrm>
          <a:prstGeom prst="roundRect">
            <a:avLst/>
          </a:prstGeom>
          <a:solidFill>
            <a:srgbClr val="008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200" dirty="0">
                <a:latin typeface="Times New Roman" panose="02020603050405020304" pitchFamily="18" charset="0"/>
                <a:cs typeface="Times New Roman" panose="02020603050405020304" pitchFamily="18" charset="0"/>
              </a:rPr>
              <a:t>3</a:t>
            </a:r>
            <a:endParaRPr sz="120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A003A6F8-96AB-4B47-B1FE-3C04949E3C15}"/>
              </a:ext>
            </a:extLst>
          </p:cNvPr>
          <p:cNvSpPr txBox="1"/>
          <p:nvPr/>
        </p:nvSpPr>
        <p:spPr>
          <a:xfrm>
            <a:off x="2587944" y="2047159"/>
            <a:ext cx="740682" cy="205740"/>
          </a:xfrm>
          <a:prstGeom prst="rect">
            <a:avLst/>
          </a:prstGeom>
          <a:noFill/>
        </p:spPr>
        <p:txBody>
          <a:bodyPr wrap="square" lIns="18288" tIns="9144" rIns="18288" bIns="9144" anchor="t">
            <a:spAutoFit/>
          </a:bodyPr>
          <a:lstStyle/>
          <a:p>
            <a:pPr algn="ctr"/>
            <a:r>
              <a:rPr sz="1200" b="1">
                <a:solidFill>
                  <a:srgbClr val="008BBE"/>
                </a:solidFill>
                <a:latin typeface="Times New Roman" panose="02020603050405020304" pitchFamily="18" charset="0"/>
                <a:cs typeface="Times New Roman" panose="02020603050405020304" pitchFamily="18" charset="0"/>
              </a:rPr>
              <a:t>Persist</a:t>
            </a:r>
          </a:p>
        </p:txBody>
      </p:sp>
      <p:sp>
        <p:nvSpPr>
          <p:cNvPr id="23" name="TextBox 22">
            <a:extLst>
              <a:ext uri="{FF2B5EF4-FFF2-40B4-BE49-F238E27FC236}">
                <a16:creationId xmlns:a16="http://schemas.microsoft.com/office/drawing/2014/main" id="{C346E345-1E95-4EF7-B390-553CB3077D31}"/>
              </a:ext>
            </a:extLst>
          </p:cNvPr>
          <p:cNvSpPr txBox="1"/>
          <p:nvPr/>
        </p:nvSpPr>
        <p:spPr>
          <a:xfrm>
            <a:off x="2533568" y="2355769"/>
            <a:ext cx="889090" cy="757130"/>
          </a:xfrm>
          <a:prstGeom prst="rect">
            <a:avLst/>
          </a:prstGeom>
          <a:noFill/>
        </p:spPr>
        <p:txBody>
          <a:bodyPr wrap="square" lIns="18288" tIns="9144" rIns="18288" bIns="9144" anchor="t">
            <a:spAutoFit/>
          </a:bodyPr>
          <a:lstStyle/>
          <a:p>
            <a:pPr algn="ctr"/>
            <a:r>
              <a:rPr sz="1200" b="0" dirty="0" err="1">
                <a:solidFill>
                  <a:srgbClr val="1E2834"/>
                </a:solidFill>
                <a:latin typeface="Times New Roman" panose="02020603050405020304" pitchFamily="18" charset="0"/>
                <a:cs typeface="Times New Roman" panose="02020603050405020304" pitchFamily="18" charset="0"/>
              </a:rPr>
              <a:t>FastAPI</a:t>
            </a:r>
            <a:r>
              <a:rPr sz="1200" b="0" dirty="0">
                <a:solidFill>
                  <a:srgbClr val="1E2834"/>
                </a:solidFill>
                <a:latin typeface="Times New Roman" panose="02020603050405020304" pitchFamily="18" charset="0"/>
                <a:cs typeface="Times New Roman" panose="02020603050405020304" pitchFamily="18" charset="0"/>
              </a:rPr>
              <a:t> validation</a:t>
            </a:r>
            <a:br>
              <a:rPr sz="1200" dirty="0">
                <a:latin typeface="Times New Roman" panose="02020603050405020304" pitchFamily="18" charset="0"/>
                <a:cs typeface="Times New Roman" panose="02020603050405020304" pitchFamily="18" charset="0"/>
              </a:rPr>
            </a:br>
            <a:r>
              <a:rPr sz="1200" b="0" dirty="0">
                <a:solidFill>
                  <a:srgbClr val="1E2834"/>
                </a:solidFill>
                <a:latin typeface="Times New Roman" panose="02020603050405020304" pitchFamily="18" charset="0"/>
                <a:cs typeface="Times New Roman" panose="02020603050405020304" pitchFamily="18" charset="0"/>
              </a:rPr>
              <a:t>+ </a:t>
            </a:r>
            <a:r>
              <a:rPr sz="1200" b="0" dirty="0" err="1">
                <a:solidFill>
                  <a:srgbClr val="1E2834"/>
                </a:solidFill>
                <a:latin typeface="Times New Roman" panose="02020603050405020304" pitchFamily="18" charset="0"/>
                <a:cs typeface="Times New Roman" panose="02020603050405020304" pitchFamily="18" charset="0"/>
              </a:rPr>
              <a:t>SQLAlchemy</a:t>
            </a:r>
            <a:endParaRPr sz="1200" b="0" dirty="0">
              <a:solidFill>
                <a:srgbClr val="1E2834"/>
              </a:solidFill>
              <a:latin typeface="Times New Roman" panose="02020603050405020304" pitchFamily="18" charset="0"/>
              <a:cs typeface="Times New Roman" panose="02020603050405020304" pitchFamily="18" charset="0"/>
            </a:endParaRPr>
          </a:p>
        </p:txBody>
      </p:sp>
      <p:cxnSp>
        <p:nvCxnSpPr>
          <p:cNvPr id="24" name="Connector 23">
            <a:extLst>
              <a:ext uri="{FF2B5EF4-FFF2-40B4-BE49-F238E27FC236}">
                <a16:creationId xmlns:a16="http://schemas.microsoft.com/office/drawing/2014/main" id="{9C3DA628-C502-46BE-820B-651E40A8595E}"/>
              </a:ext>
            </a:extLst>
          </p:cNvPr>
          <p:cNvCxnSpPr>
            <a:cxnSpLocks/>
            <a:stCxn id="20" idx="3"/>
            <a:endCxn id="25" idx="1"/>
          </p:cNvCxnSpPr>
          <p:nvPr/>
        </p:nvCxnSpPr>
        <p:spPr>
          <a:xfrm>
            <a:off x="3431499" y="2473411"/>
            <a:ext cx="231196" cy="871"/>
          </a:xfrm>
          <a:prstGeom prst="line">
            <a:avLst/>
          </a:prstGeom>
          <a:ln w="19050">
            <a:solidFill>
              <a:srgbClr val="008BBE"/>
            </a:solidFill>
          </a:ln>
        </p:spPr>
        <p:style>
          <a:lnRef idx="2">
            <a:schemeClr val="accent1"/>
          </a:lnRef>
          <a:fillRef idx="0">
            <a:schemeClr val="accent1"/>
          </a:fillRef>
          <a:effectRef idx="1">
            <a:schemeClr val="accent1"/>
          </a:effectRef>
          <a:fontRef idx="minor">
            <a:schemeClr val="tx1"/>
          </a:fontRef>
        </p:style>
      </p:cxnSp>
      <p:sp>
        <p:nvSpPr>
          <p:cNvPr id="25" name="Rounded Rectangle 24">
            <a:extLst>
              <a:ext uri="{FF2B5EF4-FFF2-40B4-BE49-F238E27FC236}">
                <a16:creationId xmlns:a16="http://schemas.microsoft.com/office/drawing/2014/main" id="{2003D6ED-CBB6-4575-89BC-3B02E36B3AB3}"/>
              </a:ext>
            </a:extLst>
          </p:cNvPr>
          <p:cNvSpPr/>
          <p:nvPr/>
        </p:nvSpPr>
        <p:spPr>
          <a:xfrm>
            <a:off x="3662695" y="1533679"/>
            <a:ext cx="942978" cy="1881205"/>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26" name="Rounded Rectangle 25">
            <a:extLst>
              <a:ext uri="{FF2B5EF4-FFF2-40B4-BE49-F238E27FC236}">
                <a16:creationId xmlns:a16="http://schemas.microsoft.com/office/drawing/2014/main" id="{F3D5F4D5-C681-49F3-8753-F29A8F4A8464}"/>
              </a:ext>
            </a:extLst>
          </p:cNvPr>
          <p:cNvSpPr/>
          <p:nvPr/>
        </p:nvSpPr>
        <p:spPr>
          <a:xfrm>
            <a:off x="3762117" y="1684556"/>
            <a:ext cx="294901" cy="233172"/>
          </a:xfrm>
          <a:prstGeom prst="roundRect">
            <a:avLst/>
          </a:prstGeom>
          <a:solidFill>
            <a:srgbClr val="238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200" dirty="0">
                <a:latin typeface="Times New Roman" panose="02020603050405020304" pitchFamily="18" charset="0"/>
                <a:cs typeface="Times New Roman" panose="02020603050405020304" pitchFamily="18" charset="0"/>
              </a:rPr>
              <a:t>4</a:t>
            </a:r>
            <a:endParaRPr sz="1200"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20A80B6E-8CCA-4CC0-BABE-5B065D585D8F}"/>
              </a:ext>
            </a:extLst>
          </p:cNvPr>
          <p:cNvSpPr txBox="1"/>
          <p:nvPr/>
        </p:nvSpPr>
        <p:spPr>
          <a:xfrm>
            <a:off x="3762117" y="2048030"/>
            <a:ext cx="740682" cy="205740"/>
          </a:xfrm>
          <a:prstGeom prst="rect">
            <a:avLst/>
          </a:prstGeom>
          <a:noFill/>
        </p:spPr>
        <p:txBody>
          <a:bodyPr wrap="square" lIns="18288" tIns="9144" rIns="18288" bIns="9144" anchor="t">
            <a:spAutoFit/>
          </a:bodyPr>
          <a:lstStyle/>
          <a:p>
            <a:pPr algn="ctr"/>
            <a:r>
              <a:rPr sz="1200" b="1">
                <a:solidFill>
                  <a:srgbClr val="238755"/>
                </a:solidFill>
                <a:latin typeface="Times New Roman" panose="02020603050405020304" pitchFamily="18" charset="0"/>
                <a:cs typeface="Times New Roman" panose="02020603050405020304" pitchFamily="18" charset="0"/>
              </a:rPr>
              <a:t>Analyze</a:t>
            </a:r>
          </a:p>
        </p:txBody>
      </p:sp>
      <p:sp>
        <p:nvSpPr>
          <p:cNvPr id="28" name="TextBox 27">
            <a:extLst>
              <a:ext uri="{FF2B5EF4-FFF2-40B4-BE49-F238E27FC236}">
                <a16:creationId xmlns:a16="http://schemas.microsoft.com/office/drawing/2014/main" id="{71B3BE66-EF37-4FE0-AF47-BB067D78FF5A}"/>
              </a:ext>
            </a:extLst>
          </p:cNvPr>
          <p:cNvSpPr txBox="1"/>
          <p:nvPr/>
        </p:nvSpPr>
        <p:spPr>
          <a:xfrm>
            <a:off x="3674302" y="2369433"/>
            <a:ext cx="922529" cy="757130"/>
          </a:xfrm>
          <a:prstGeom prst="rect">
            <a:avLst/>
          </a:prstGeom>
          <a:noFill/>
        </p:spPr>
        <p:txBody>
          <a:bodyPr wrap="square" lIns="18288" tIns="9144" rIns="18288" bIns="9144" anchor="t">
            <a:spAutoFit/>
          </a:bodyPr>
          <a:lstStyle/>
          <a:p>
            <a:pPr algn="ctr"/>
            <a:r>
              <a:rPr sz="1200" b="0" dirty="0">
                <a:solidFill>
                  <a:srgbClr val="1E2834"/>
                </a:solidFill>
                <a:latin typeface="Times New Roman" panose="02020603050405020304" pitchFamily="18" charset="0"/>
                <a:cs typeface="Times New Roman" panose="02020603050405020304" pitchFamily="18" charset="0"/>
              </a:rPr>
              <a:t>Pandas </a:t>
            </a:r>
            <a:endParaRPr lang="en-IN" sz="1200" b="0" dirty="0">
              <a:solidFill>
                <a:srgbClr val="1E2834"/>
              </a:solidFill>
              <a:latin typeface="Times New Roman" panose="02020603050405020304" pitchFamily="18" charset="0"/>
              <a:cs typeface="Times New Roman" panose="02020603050405020304" pitchFamily="18" charset="0"/>
            </a:endParaRPr>
          </a:p>
          <a:p>
            <a:pPr algn="ctr"/>
            <a:r>
              <a:rPr sz="1200" b="0" dirty="0">
                <a:solidFill>
                  <a:srgbClr val="1E2834"/>
                </a:solidFill>
                <a:latin typeface="Times New Roman" panose="02020603050405020304" pitchFamily="18" charset="0"/>
                <a:cs typeface="Times New Roman" panose="02020603050405020304" pitchFamily="18" charset="0"/>
              </a:rPr>
              <a:t>+ </a:t>
            </a:r>
            <a:endParaRPr lang="en-IN" sz="1200" b="0" dirty="0">
              <a:solidFill>
                <a:srgbClr val="1E2834"/>
              </a:solidFill>
              <a:latin typeface="Times New Roman" panose="02020603050405020304" pitchFamily="18" charset="0"/>
              <a:cs typeface="Times New Roman" panose="02020603050405020304" pitchFamily="18" charset="0"/>
            </a:endParaRPr>
          </a:p>
          <a:p>
            <a:pPr algn="ctr"/>
            <a:r>
              <a:rPr sz="1200" b="0" dirty="0">
                <a:solidFill>
                  <a:srgbClr val="1E2834"/>
                </a:solidFill>
                <a:latin typeface="Times New Roman" panose="02020603050405020304" pitchFamily="18" charset="0"/>
                <a:cs typeface="Times New Roman" panose="02020603050405020304" pitchFamily="18" charset="0"/>
              </a:rPr>
              <a:t>NumPy</a:t>
            </a:r>
            <a:br>
              <a:rPr sz="1200" dirty="0">
                <a:latin typeface="Times New Roman" panose="02020603050405020304" pitchFamily="18" charset="0"/>
                <a:cs typeface="Times New Roman" panose="02020603050405020304" pitchFamily="18" charset="0"/>
              </a:rPr>
            </a:br>
            <a:r>
              <a:rPr sz="1200" b="0" dirty="0">
                <a:solidFill>
                  <a:srgbClr val="1E2834"/>
                </a:solidFill>
                <a:latin typeface="Times New Roman" panose="02020603050405020304" pitchFamily="18" charset="0"/>
                <a:cs typeface="Times New Roman" panose="02020603050405020304" pitchFamily="18" charset="0"/>
              </a:rPr>
              <a:t>aggregations</a:t>
            </a:r>
          </a:p>
        </p:txBody>
      </p:sp>
      <p:cxnSp>
        <p:nvCxnSpPr>
          <p:cNvPr id="29" name="Connector 29">
            <a:extLst>
              <a:ext uri="{FF2B5EF4-FFF2-40B4-BE49-F238E27FC236}">
                <a16:creationId xmlns:a16="http://schemas.microsoft.com/office/drawing/2014/main" id="{6359822D-951B-4E14-87BA-CAC6372320E3}"/>
              </a:ext>
            </a:extLst>
          </p:cNvPr>
          <p:cNvCxnSpPr>
            <a:cxnSpLocks/>
            <a:stCxn id="25" idx="3"/>
          </p:cNvCxnSpPr>
          <p:nvPr/>
        </p:nvCxnSpPr>
        <p:spPr>
          <a:xfrm>
            <a:off x="4605673" y="2474282"/>
            <a:ext cx="240035" cy="0"/>
          </a:xfrm>
          <a:prstGeom prst="line">
            <a:avLst/>
          </a:prstGeom>
          <a:ln w="19050">
            <a:solidFill>
              <a:srgbClr val="238755"/>
            </a:solidFill>
          </a:ln>
        </p:spPr>
        <p:style>
          <a:lnRef idx="2">
            <a:schemeClr val="accent1"/>
          </a:lnRef>
          <a:fillRef idx="0">
            <a:schemeClr val="accent1"/>
          </a:fillRef>
          <a:effectRef idx="1">
            <a:schemeClr val="accent1"/>
          </a:effectRef>
          <a:fontRef idx="minor">
            <a:schemeClr val="tx1"/>
          </a:fontRef>
        </p:style>
      </p:cxnSp>
      <p:sp>
        <p:nvSpPr>
          <p:cNvPr id="30" name="Rounded Rectangle 30">
            <a:extLst>
              <a:ext uri="{FF2B5EF4-FFF2-40B4-BE49-F238E27FC236}">
                <a16:creationId xmlns:a16="http://schemas.microsoft.com/office/drawing/2014/main" id="{4163430E-1532-4924-A437-633ACCAE50E7}"/>
              </a:ext>
            </a:extLst>
          </p:cNvPr>
          <p:cNvSpPr/>
          <p:nvPr/>
        </p:nvSpPr>
        <p:spPr>
          <a:xfrm>
            <a:off x="4836869" y="1529333"/>
            <a:ext cx="925853" cy="1881204"/>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31" name="Rounded Rectangle 31">
            <a:extLst>
              <a:ext uri="{FF2B5EF4-FFF2-40B4-BE49-F238E27FC236}">
                <a16:creationId xmlns:a16="http://schemas.microsoft.com/office/drawing/2014/main" id="{5D53D7DD-4124-4679-BEA7-4A1F34D06CC2}"/>
              </a:ext>
            </a:extLst>
          </p:cNvPr>
          <p:cNvSpPr/>
          <p:nvPr/>
        </p:nvSpPr>
        <p:spPr>
          <a:xfrm>
            <a:off x="4919167" y="1680210"/>
            <a:ext cx="294901" cy="233172"/>
          </a:xfrm>
          <a:prstGeom prst="roundRect">
            <a:avLst/>
          </a:prstGeom>
          <a:solidFill>
            <a:srgbClr val="B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200" dirty="0">
                <a:latin typeface="Times New Roman" panose="02020603050405020304" pitchFamily="18" charset="0"/>
                <a:cs typeface="Times New Roman" panose="02020603050405020304" pitchFamily="18" charset="0"/>
              </a:rPr>
              <a:t>5</a:t>
            </a:r>
            <a:endParaRPr sz="1200"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4E6AF42F-1F8D-4228-9F55-ADBA2C15FC12}"/>
              </a:ext>
            </a:extLst>
          </p:cNvPr>
          <p:cNvSpPr txBox="1"/>
          <p:nvPr/>
        </p:nvSpPr>
        <p:spPr>
          <a:xfrm>
            <a:off x="4919167" y="2043684"/>
            <a:ext cx="740682" cy="205740"/>
          </a:xfrm>
          <a:prstGeom prst="rect">
            <a:avLst/>
          </a:prstGeom>
          <a:noFill/>
        </p:spPr>
        <p:txBody>
          <a:bodyPr wrap="square" lIns="18288" tIns="9144" rIns="18288" bIns="9144" anchor="t">
            <a:spAutoFit/>
          </a:bodyPr>
          <a:lstStyle/>
          <a:p>
            <a:pPr algn="ctr"/>
            <a:r>
              <a:rPr sz="1200" b="1">
                <a:solidFill>
                  <a:srgbClr val="BE2D41"/>
                </a:solidFill>
                <a:latin typeface="Times New Roman" panose="02020603050405020304" pitchFamily="18" charset="0"/>
                <a:cs typeface="Times New Roman" panose="02020603050405020304" pitchFamily="18" charset="0"/>
              </a:rPr>
              <a:t>Detect</a:t>
            </a:r>
          </a:p>
        </p:txBody>
      </p:sp>
      <p:sp>
        <p:nvSpPr>
          <p:cNvPr id="33" name="TextBox 32">
            <a:extLst>
              <a:ext uri="{FF2B5EF4-FFF2-40B4-BE49-F238E27FC236}">
                <a16:creationId xmlns:a16="http://schemas.microsoft.com/office/drawing/2014/main" id="{FDA1D4F5-4F94-4AEA-BF0D-CA08DFD38636}"/>
              </a:ext>
            </a:extLst>
          </p:cNvPr>
          <p:cNvSpPr txBox="1"/>
          <p:nvPr/>
        </p:nvSpPr>
        <p:spPr>
          <a:xfrm>
            <a:off x="4845708" y="2366010"/>
            <a:ext cx="917013" cy="572464"/>
          </a:xfrm>
          <a:prstGeom prst="rect">
            <a:avLst/>
          </a:prstGeom>
          <a:noFill/>
        </p:spPr>
        <p:txBody>
          <a:bodyPr wrap="square" lIns="18288" tIns="9144" rIns="18288" bIns="9144" anchor="t">
            <a:spAutoFit/>
          </a:bodyPr>
          <a:lstStyle/>
          <a:p>
            <a:pPr algn="ctr"/>
            <a:r>
              <a:rPr sz="1200" b="0" dirty="0">
                <a:solidFill>
                  <a:srgbClr val="1E2834"/>
                </a:solidFill>
                <a:latin typeface="Times New Roman" panose="02020603050405020304" pitchFamily="18" charset="0"/>
                <a:cs typeface="Times New Roman" panose="02020603050405020304" pitchFamily="18" charset="0"/>
              </a:rPr>
              <a:t>Route ranking +</a:t>
            </a:r>
            <a:br>
              <a:rPr sz="1200" dirty="0">
                <a:latin typeface="Times New Roman" panose="02020603050405020304" pitchFamily="18" charset="0"/>
                <a:cs typeface="Times New Roman" panose="02020603050405020304" pitchFamily="18" charset="0"/>
              </a:rPr>
            </a:br>
            <a:r>
              <a:rPr lang="en-IN" sz="1200" dirty="0">
                <a:solidFill>
                  <a:srgbClr val="1E2834"/>
                </a:solidFill>
                <a:latin typeface="Times New Roman" panose="02020603050405020304" pitchFamily="18" charset="0"/>
                <a:cs typeface="Times New Roman" panose="02020603050405020304" pitchFamily="18" charset="0"/>
              </a:rPr>
              <a:t>D</a:t>
            </a:r>
            <a:r>
              <a:rPr sz="1200" b="0" dirty="0" err="1">
                <a:solidFill>
                  <a:srgbClr val="1E2834"/>
                </a:solidFill>
                <a:latin typeface="Times New Roman" panose="02020603050405020304" pitchFamily="18" charset="0"/>
                <a:cs typeface="Times New Roman" panose="02020603050405020304" pitchFamily="18" charset="0"/>
              </a:rPr>
              <a:t>eterioration</a:t>
            </a:r>
            <a:endParaRPr sz="1200" b="0" dirty="0">
              <a:solidFill>
                <a:srgbClr val="1E2834"/>
              </a:solidFill>
              <a:latin typeface="Times New Roman" panose="02020603050405020304" pitchFamily="18" charset="0"/>
              <a:cs typeface="Times New Roman" panose="02020603050405020304" pitchFamily="18" charset="0"/>
            </a:endParaRPr>
          </a:p>
        </p:txBody>
      </p:sp>
      <p:cxnSp>
        <p:nvCxnSpPr>
          <p:cNvPr id="34" name="Connector 35">
            <a:extLst>
              <a:ext uri="{FF2B5EF4-FFF2-40B4-BE49-F238E27FC236}">
                <a16:creationId xmlns:a16="http://schemas.microsoft.com/office/drawing/2014/main" id="{BAB39D8C-3ECA-4A08-9AB5-B3418A287182}"/>
              </a:ext>
            </a:extLst>
          </p:cNvPr>
          <p:cNvCxnSpPr>
            <a:cxnSpLocks/>
          </p:cNvCxnSpPr>
          <p:nvPr/>
        </p:nvCxnSpPr>
        <p:spPr>
          <a:xfrm>
            <a:off x="5762723" y="2407158"/>
            <a:ext cx="240036" cy="0"/>
          </a:xfrm>
          <a:prstGeom prst="line">
            <a:avLst/>
          </a:prstGeom>
          <a:ln w="19050">
            <a:solidFill>
              <a:srgbClr val="BE2D41"/>
            </a:solidFill>
          </a:ln>
        </p:spPr>
        <p:style>
          <a:lnRef idx="2">
            <a:schemeClr val="accent1"/>
          </a:lnRef>
          <a:fillRef idx="0">
            <a:schemeClr val="accent1"/>
          </a:fillRef>
          <a:effectRef idx="1">
            <a:schemeClr val="accent1"/>
          </a:effectRef>
          <a:fontRef idx="minor">
            <a:schemeClr val="tx1"/>
          </a:fontRef>
        </p:style>
      </p:cxnSp>
      <p:sp>
        <p:nvSpPr>
          <p:cNvPr id="35" name="Rounded Rectangle 36">
            <a:extLst>
              <a:ext uri="{FF2B5EF4-FFF2-40B4-BE49-F238E27FC236}">
                <a16:creationId xmlns:a16="http://schemas.microsoft.com/office/drawing/2014/main" id="{BF172F23-DB80-4E3C-B593-3A413BCBA5D3}"/>
              </a:ext>
            </a:extLst>
          </p:cNvPr>
          <p:cNvSpPr/>
          <p:nvPr/>
        </p:nvSpPr>
        <p:spPr>
          <a:xfrm>
            <a:off x="6002759" y="1529334"/>
            <a:ext cx="942978" cy="1881203"/>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36" name="Rounded Rectangle 37">
            <a:extLst>
              <a:ext uri="{FF2B5EF4-FFF2-40B4-BE49-F238E27FC236}">
                <a16:creationId xmlns:a16="http://schemas.microsoft.com/office/drawing/2014/main" id="{EB7B11F5-712A-49D9-9695-98600EE1B20F}"/>
              </a:ext>
            </a:extLst>
          </p:cNvPr>
          <p:cNvSpPr/>
          <p:nvPr/>
        </p:nvSpPr>
        <p:spPr>
          <a:xfrm>
            <a:off x="6068778" y="1680210"/>
            <a:ext cx="294901" cy="233172"/>
          </a:xfrm>
          <a:prstGeom prst="roundRect">
            <a:avLst/>
          </a:prstGeom>
          <a:solidFill>
            <a:srgbClr val="4C22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200" dirty="0">
                <a:latin typeface="Times New Roman" panose="02020603050405020304" pitchFamily="18" charset="0"/>
                <a:cs typeface="Times New Roman" panose="02020603050405020304" pitchFamily="18" charset="0"/>
              </a:rPr>
              <a:t>6</a:t>
            </a:r>
            <a:endParaRPr sz="1200"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13E9A0C6-9D9C-4565-9246-ADE047F5DA8A}"/>
              </a:ext>
            </a:extLst>
          </p:cNvPr>
          <p:cNvSpPr txBox="1"/>
          <p:nvPr/>
        </p:nvSpPr>
        <p:spPr>
          <a:xfrm>
            <a:off x="6086386" y="2043684"/>
            <a:ext cx="740682" cy="205740"/>
          </a:xfrm>
          <a:prstGeom prst="rect">
            <a:avLst/>
          </a:prstGeom>
          <a:noFill/>
        </p:spPr>
        <p:txBody>
          <a:bodyPr wrap="square" lIns="18288" tIns="9144" rIns="18288" bIns="9144" anchor="t">
            <a:spAutoFit/>
          </a:bodyPr>
          <a:lstStyle/>
          <a:p>
            <a:pPr algn="ctr"/>
            <a:r>
              <a:rPr sz="1200" b="1" dirty="0">
                <a:solidFill>
                  <a:srgbClr val="4C2270"/>
                </a:solidFill>
                <a:latin typeface="Times New Roman" panose="02020603050405020304" pitchFamily="18" charset="0"/>
                <a:cs typeface="Times New Roman" panose="02020603050405020304" pitchFamily="18" charset="0"/>
              </a:rPr>
              <a:t>Act</a:t>
            </a:r>
          </a:p>
        </p:txBody>
      </p:sp>
      <p:sp>
        <p:nvSpPr>
          <p:cNvPr id="38" name="TextBox 37">
            <a:extLst>
              <a:ext uri="{FF2B5EF4-FFF2-40B4-BE49-F238E27FC236}">
                <a16:creationId xmlns:a16="http://schemas.microsoft.com/office/drawing/2014/main" id="{B9E51AFA-A419-4AD3-8CF0-DEE6578FAA1A}"/>
              </a:ext>
            </a:extLst>
          </p:cNvPr>
          <p:cNvSpPr txBox="1"/>
          <p:nvPr/>
        </p:nvSpPr>
        <p:spPr>
          <a:xfrm>
            <a:off x="6011043" y="2370695"/>
            <a:ext cx="934694" cy="757130"/>
          </a:xfrm>
          <a:prstGeom prst="rect">
            <a:avLst/>
          </a:prstGeom>
          <a:noFill/>
        </p:spPr>
        <p:txBody>
          <a:bodyPr wrap="square" lIns="18288" tIns="9144" rIns="18288" bIns="9144" anchor="t">
            <a:spAutoFit/>
          </a:bodyPr>
          <a:lstStyle/>
          <a:p>
            <a:pPr algn="ctr"/>
            <a:r>
              <a:rPr sz="1200" b="0" dirty="0">
                <a:solidFill>
                  <a:srgbClr val="1E2834"/>
                </a:solidFill>
                <a:latin typeface="Times New Roman" panose="02020603050405020304" pitchFamily="18" charset="0"/>
                <a:cs typeface="Times New Roman" panose="02020603050405020304" pitchFamily="18" charset="0"/>
              </a:rPr>
              <a:t>Admin dashboard</a:t>
            </a:r>
            <a:br>
              <a:rPr sz="1200" dirty="0">
                <a:latin typeface="Times New Roman" panose="02020603050405020304" pitchFamily="18" charset="0"/>
                <a:cs typeface="Times New Roman" panose="02020603050405020304" pitchFamily="18" charset="0"/>
              </a:rPr>
            </a:br>
            <a:r>
              <a:rPr sz="1200" b="0" dirty="0">
                <a:solidFill>
                  <a:srgbClr val="1E2834"/>
                </a:solidFill>
                <a:latin typeface="Times New Roman" panose="02020603050405020304" pitchFamily="18" charset="0"/>
                <a:cs typeface="Times New Roman" panose="02020603050405020304" pitchFamily="18" charset="0"/>
              </a:rPr>
              <a:t>+ </a:t>
            </a:r>
            <a:endParaRPr lang="en-IN" sz="1200" b="0" dirty="0">
              <a:solidFill>
                <a:srgbClr val="1E2834"/>
              </a:solidFill>
              <a:latin typeface="Times New Roman" panose="02020603050405020304" pitchFamily="18" charset="0"/>
              <a:cs typeface="Times New Roman" panose="02020603050405020304" pitchFamily="18" charset="0"/>
            </a:endParaRPr>
          </a:p>
          <a:p>
            <a:pPr algn="ctr"/>
            <a:r>
              <a:rPr lang="en-IN" sz="1200" dirty="0">
                <a:solidFill>
                  <a:srgbClr val="1E2834"/>
                </a:solidFill>
                <a:latin typeface="Times New Roman" panose="02020603050405020304" pitchFamily="18" charset="0"/>
                <a:cs typeface="Times New Roman" panose="02020603050405020304" pitchFamily="18" charset="0"/>
              </a:rPr>
              <a:t>I</a:t>
            </a:r>
            <a:r>
              <a:rPr sz="1200" b="0" dirty="0" err="1">
                <a:solidFill>
                  <a:srgbClr val="1E2834"/>
                </a:solidFill>
                <a:latin typeface="Times New Roman" panose="02020603050405020304" pitchFamily="18" charset="0"/>
                <a:cs typeface="Times New Roman" panose="02020603050405020304" pitchFamily="18" charset="0"/>
              </a:rPr>
              <a:t>nsights</a:t>
            </a:r>
            <a:endParaRPr sz="1200" b="0" dirty="0">
              <a:solidFill>
                <a:srgbClr val="1E2834"/>
              </a:solidFill>
              <a:latin typeface="Times New Roman" panose="02020603050405020304" pitchFamily="18" charset="0"/>
              <a:cs typeface="Times New Roman" panose="02020603050405020304" pitchFamily="18" charset="0"/>
            </a:endParaRPr>
          </a:p>
        </p:txBody>
      </p:sp>
      <p:sp>
        <p:nvSpPr>
          <p:cNvPr id="39" name="Rounded Rectangle 41">
            <a:extLst>
              <a:ext uri="{FF2B5EF4-FFF2-40B4-BE49-F238E27FC236}">
                <a16:creationId xmlns:a16="http://schemas.microsoft.com/office/drawing/2014/main" id="{796306C9-9730-444D-8B49-15B3D560AB39}"/>
              </a:ext>
            </a:extLst>
          </p:cNvPr>
          <p:cNvSpPr/>
          <p:nvPr/>
        </p:nvSpPr>
        <p:spPr>
          <a:xfrm>
            <a:off x="628889" y="3989055"/>
            <a:ext cx="5605219" cy="432054"/>
          </a:xfrm>
          <a:prstGeom prst="roundRect">
            <a:avLst/>
          </a:prstGeom>
          <a:solidFill>
            <a:srgbClr val="EBF1F7"/>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537C83E9-7E30-4B20-B39F-8291B401D028}"/>
              </a:ext>
            </a:extLst>
          </p:cNvPr>
          <p:cNvSpPr txBox="1"/>
          <p:nvPr/>
        </p:nvSpPr>
        <p:spPr>
          <a:xfrm>
            <a:off x="726843" y="4091925"/>
            <a:ext cx="5363711" cy="203133"/>
          </a:xfrm>
          <a:prstGeom prst="rect">
            <a:avLst/>
          </a:prstGeom>
          <a:noFill/>
        </p:spPr>
        <p:txBody>
          <a:bodyPr wrap="square" lIns="18288" tIns="9144" rIns="18288" bIns="9144" anchor="t">
            <a:spAutoFit/>
          </a:bodyPr>
          <a:lstStyle/>
          <a:p>
            <a:pPr algn="ctr"/>
            <a:r>
              <a:rPr lang="en-IN" sz="1200" b="1" dirty="0">
                <a:solidFill>
                  <a:srgbClr val="003E73"/>
                </a:solidFill>
                <a:latin typeface="Times New Roman" panose="02020603050405020304" pitchFamily="18" charset="0"/>
                <a:cs typeface="Times New Roman" panose="02020603050405020304" pitchFamily="18" charset="0"/>
              </a:rPr>
              <a:t>• </a:t>
            </a:r>
            <a:r>
              <a:rPr sz="1200" b="1" dirty="0">
                <a:solidFill>
                  <a:srgbClr val="003E73"/>
                </a:solidFill>
                <a:latin typeface="Times New Roman" panose="02020603050405020304" pitchFamily="18" charset="0"/>
                <a:cs typeface="Times New Roman" panose="02020603050405020304" pitchFamily="18" charset="0"/>
              </a:rPr>
              <a:t>10 routes  •  50+ trips  •  200+ feedback records  •  approximately 60 days of data</a:t>
            </a:r>
          </a:p>
        </p:txBody>
      </p:sp>
      <p:sp>
        <p:nvSpPr>
          <p:cNvPr id="41" name="Rounded Rectangle 43">
            <a:extLst>
              <a:ext uri="{FF2B5EF4-FFF2-40B4-BE49-F238E27FC236}">
                <a16:creationId xmlns:a16="http://schemas.microsoft.com/office/drawing/2014/main" id="{88479FB5-4518-4EFE-B652-8359D57F4518}"/>
              </a:ext>
            </a:extLst>
          </p:cNvPr>
          <p:cNvSpPr/>
          <p:nvPr/>
        </p:nvSpPr>
        <p:spPr>
          <a:xfrm>
            <a:off x="7351959" y="1330452"/>
            <a:ext cx="1532110" cy="2503170"/>
          </a:xfrm>
          <a:prstGeom prst="roundRect">
            <a:avLst/>
          </a:prstGeom>
          <a:solidFill>
            <a:srgbClr val="003E73"/>
          </a:solidFill>
          <a:ln w="8890">
            <a:solidFill>
              <a:srgbClr val="003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5506765A-B596-4D90-B5A6-5DD89C1FB639}"/>
              </a:ext>
            </a:extLst>
          </p:cNvPr>
          <p:cNvSpPr txBox="1"/>
          <p:nvPr/>
        </p:nvSpPr>
        <p:spPr>
          <a:xfrm>
            <a:off x="7551179" y="1439132"/>
            <a:ext cx="1133669" cy="387798"/>
          </a:xfrm>
          <a:prstGeom prst="rect">
            <a:avLst/>
          </a:prstGeom>
          <a:noFill/>
        </p:spPr>
        <p:txBody>
          <a:bodyPr wrap="square" lIns="18288" tIns="9144" rIns="18288" bIns="9144" anchor="t">
            <a:spAutoFit/>
          </a:bodyPr>
          <a:lstStyle/>
          <a:p>
            <a:pPr algn="ctr"/>
            <a:r>
              <a:rPr sz="1200" b="1" dirty="0">
                <a:solidFill>
                  <a:srgbClr val="FFDA73"/>
                </a:solidFill>
                <a:latin typeface="Times New Roman" panose="02020603050405020304" pitchFamily="18" charset="0"/>
                <a:cs typeface="Times New Roman" panose="02020603050405020304" pitchFamily="18" charset="0"/>
              </a:rPr>
              <a:t>KEY PRINCIPLE</a:t>
            </a:r>
          </a:p>
        </p:txBody>
      </p:sp>
      <p:sp>
        <p:nvSpPr>
          <p:cNvPr id="43" name="TextBox 42">
            <a:extLst>
              <a:ext uri="{FF2B5EF4-FFF2-40B4-BE49-F238E27FC236}">
                <a16:creationId xmlns:a16="http://schemas.microsoft.com/office/drawing/2014/main" id="{22564FD8-C177-49B4-A715-A4FBE9DFE0E6}"/>
              </a:ext>
            </a:extLst>
          </p:cNvPr>
          <p:cNvSpPr txBox="1"/>
          <p:nvPr/>
        </p:nvSpPr>
        <p:spPr>
          <a:xfrm>
            <a:off x="7621832" y="2008519"/>
            <a:ext cx="1063016" cy="1126462"/>
          </a:xfrm>
          <a:prstGeom prst="rect">
            <a:avLst/>
          </a:prstGeom>
          <a:noFill/>
        </p:spPr>
        <p:txBody>
          <a:bodyPr wrap="square" lIns="18288" tIns="9144" rIns="18288" bIns="9144" anchor="ctr">
            <a:spAutoFit/>
          </a:bodyPr>
          <a:lstStyle/>
          <a:p>
            <a:pPr algn="ctr"/>
            <a:r>
              <a:rPr sz="1200" b="1" dirty="0">
                <a:solidFill>
                  <a:srgbClr val="FFFFFF"/>
                </a:solidFill>
                <a:latin typeface="Times New Roman" panose="02020603050405020304" pitchFamily="18" charset="0"/>
                <a:cs typeface="Times New Roman" panose="02020603050405020304" pitchFamily="18" charset="0"/>
              </a:rPr>
              <a:t>Dashboard values are computed from underlying feedback records.</a:t>
            </a:r>
          </a:p>
        </p:txBody>
      </p:sp>
      <p:sp>
        <p:nvSpPr>
          <p:cNvPr id="44" name="TextBox 43">
            <a:extLst>
              <a:ext uri="{FF2B5EF4-FFF2-40B4-BE49-F238E27FC236}">
                <a16:creationId xmlns:a16="http://schemas.microsoft.com/office/drawing/2014/main" id="{DB36A6DA-38EE-4AD0-B6D0-8178CBF518F8}"/>
              </a:ext>
            </a:extLst>
          </p:cNvPr>
          <p:cNvSpPr txBox="1"/>
          <p:nvPr/>
        </p:nvSpPr>
        <p:spPr>
          <a:xfrm>
            <a:off x="7621832" y="3279177"/>
            <a:ext cx="1063016" cy="387798"/>
          </a:xfrm>
          <a:prstGeom prst="rect">
            <a:avLst/>
          </a:prstGeom>
          <a:noFill/>
        </p:spPr>
        <p:txBody>
          <a:bodyPr wrap="square" lIns="18288" tIns="9144" rIns="18288" bIns="9144" anchor="t">
            <a:spAutoFit/>
          </a:bodyPr>
          <a:lstStyle/>
          <a:p>
            <a:pPr algn="ctr"/>
            <a:r>
              <a:rPr sz="1200" b="0" dirty="0">
                <a:solidFill>
                  <a:srgbClr val="DCE8F2"/>
                </a:solidFill>
                <a:latin typeface="Times New Roman" panose="02020603050405020304" pitchFamily="18" charset="0"/>
                <a:cs typeface="Times New Roman" panose="02020603050405020304" pitchFamily="18" charset="0"/>
              </a:rPr>
              <a:t>Not hard-coded UI content.</a:t>
            </a:r>
          </a:p>
        </p:txBody>
      </p:sp>
    </p:spTree>
    <p:extLst>
      <p:ext uri="{BB962C8B-B14F-4D97-AF65-F5344CB8AC3E}">
        <p14:creationId xmlns:p14="http://schemas.microsoft.com/office/powerpoint/2010/main" val="164406478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942643-4B4B-3AF4-2F08-E12BA79BC8F5}"/>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4</a:t>
            </a:fld>
            <a:endParaRPr lang="en-IN" dirty="0"/>
          </a:p>
        </p:txBody>
      </p:sp>
      <p:sp>
        <p:nvSpPr>
          <p:cNvPr id="10" name="TextBox 9">
            <a:extLst>
              <a:ext uri="{FF2B5EF4-FFF2-40B4-BE49-F238E27FC236}">
                <a16:creationId xmlns:a16="http://schemas.microsoft.com/office/drawing/2014/main" id="{D28E8CE0-38BB-43A5-B4EE-22EBF2325B7C}"/>
              </a:ext>
            </a:extLst>
          </p:cNvPr>
          <p:cNvSpPr txBox="1"/>
          <p:nvPr/>
        </p:nvSpPr>
        <p:spPr bwMode="auto">
          <a:xfrm>
            <a:off x="182078" y="4835723"/>
            <a:ext cx="8595233" cy="307777"/>
          </a:xfrm>
          <a:prstGeom prst="rect">
            <a:avLst/>
          </a:prstGeom>
          <a:noFill/>
          <a:ln w="19050" algn="ctr">
            <a:noFill/>
            <a:miter lim="800000"/>
            <a:headEnd/>
            <a:tailEnd/>
          </a:ln>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	Veritas AI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DPA Hackathon 2026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IARE</a:t>
            </a:r>
          </a:p>
        </p:txBody>
      </p:sp>
      <p:pic>
        <p:nvPicPr>
          <p:cNvPr id="7" name="Picture 6">
            <a:extLst>
              <a:ext uri="{FF2B5EF4-FFF2-40B4-BE49-F238E27FC236}">
                <a16:creationId xmlns:a16="http://schemas.microsoft.com/office/drawing/2014/main" id="{663E3B90-F832-4B7C-A832-B10A9043AD70}"/>
              </a:ext>
            </a:extLst>
          </p:cNvPr>
          <p:cNvPicPr>
            <a:picLocks noChangeAspect="1"/>
          </p:cNvPicPr>
          <p:nvPr/>
        </p:nvPicPr>
        <p:blipFill rotWithShape="1">
          <a:blip r:embed="rId3"/>
          <a:srcRect l="-1949" t="31547" r="1949" b="31097"/>
          <a:stretch/>
        </p:blipFill>
        <p:spPr>
          <a:xfrm>
            <a:off x="6384941" y="144570"/>
            <a:ext cx="1905000" cy="711627"/>
          </a:xfrm>
          <a:prstGeom prst="rect">
            <a:avLst/>
          </a:prstGeom>
        </p:spPr>
      </p:pic>
      <p:sp>
        <p:nvSpPr>
          <p:cNvPr id="11" name="object 2">
            <a:extLst>
              <a:ext uri="{FF2B5EF4-FFF2-40B4-BE49-F238E27FC236}">
                <a16:creationId xmlns:a16="http://schemas.microsoft.com/office/drawing/2014/main" id="{D179FC4C-EAB8-4793-B3BD-05E101B4D037}"/>
              </a:ext>
            </a:extLst>
          </p:cNvPr>
          <p:cNvSpPr txBox="1">
            <a:spLocks/>
          </p:cNvSpPr>
          <p:nvPr/>
        </p:nvSpPr>
        <p:spPr>
          <a:xfrm>
            <a:off x="66039" y="188849"/>
            <a:ext cx="7432040" cy="534120"/>
          </a:xfrm>
          <a:prstGeom prst="rect">
            <a:avLst/>
          </a:prstGeom>
        </p:spPr>
        <p:txBody>
          <a:bodyPr vert="horz" wrap="square" lIns="0" tIns="71754" rIns="0" bIns="0" rtlCol="0" anchor="t">
            <a:spAutoFit/>
          </a:bodyPr>
          <a:lst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a:lstStyle>
          <a:p>
            <a:pPr marL="45085">
              <a:lnSpc>
                <a:spcPct val="100000"/>
              </a:lnSpc>
              <a:spcBef>
                <a:spcPts val="105"/>
              </a:spcBef>
            </a:pPr>
            <a:r>
              <a:rPr lang="en-IN" spc="-30" dirty="0">
                <a:latin typeface="Times New Roman" panose="02020603050405020304" pitchFamily="18" charset="0"/>
                <a:cs typeface="Times New Roman" panose="02020603050405020304" pitchFamily="18" charset="0"/>
              </a:rPr>
              <a:t>Real System Architecture</a:t>
            </a:r>
          </a:p>
        </p:txBody>
      </p:sp>
      <p:sp>
        <p:nvSpPr>
          <p:cNvPr id="49" name="Rounded Rectangle 11">
            <a:extLst>
              <a:ext uri="{FF2B5EF4-FFF2-40B4-BE49-F238E27FC236}">
                <a16:creationId xmlns:a16="http://schemas.microsoft.com/office/drawing/2014/main" id="{F6D65EE7-262A-4765-9701-970C1ED96CE1}"/>
              </a:ext>
            </a:extLst>
          </p:cNvPr>
          <p:cNvSpPr/>
          <p:nvPr/>
        </p:nvSpPr>
        <p:spPr>
          <a:xfrm>
            <a:off x="294407" y="1873586"/>
            <a:ext cx="4217773" cy="641923"/>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50" name="Rounded Rectangle 12">
            <a:extLst>
              <a:ext uri="{FF2B5EF4-FFF2-40B4-BE49-F238E27FC236}">
                <a16:creationId xmlns:a16="http://schemas.microsoft.com/office/drawing/2014/main" id="{2266DBA1-D6DA-49D9-A185-D91C7B3D12CB}"/>
              </a:ext>
            </a:extLst>
          </p:cNvPr>
          <p:cNvSpPr/>
          <p:nvPr/>
        </p:nvSpPr>
        <p:spPr>
          <a:xfrm>
            <a:off x="445286" y="1969599"/>
            <a:ext cx="965768" cy="233172"/>
          </a:xfrm>
          <a:prstGeom prst="roundRect">
            <a:avLst/>
          </a:prstGeom>
          <a:solidFill>
            <a:srgbClr val="008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05A9972F-3533-4B23-9FDA-F1B5A50BDF8A}"/>
              </a:ext>
            </a:extLst>
          </p:cNvPr>
          <p:cNvSpPr txBox="1"/>
          <p:nvPr/>
        </p:nvSpPr>
        <p:spPr>
          <a:xfrm>
            <a:off x="465861" y="1993149"/>
            <a:ext cx="864129" cy="172355"/>
          </a:xfrm>
          <a:prstGeom prst="rect">
            <a:avLst/>
          </a:prstGeom>
          <a:noFill/>
        </p:spPr>
        <p:txBody>
          <a:bodyPr wrap="square" lIns="18288" tIns="9144" rIns="18288" bIns="9144" anchor="ctr">
            <a:spAutoFit/>
          </a:bodyPr>
          <a:lstStyle/>
          <a:p>
            <a:pPr algn="ctr"/>
            <a:r>
              <a:rPr sz="1000" b="1" dirty="0">
                <a:solidFill>
                  <a:srgbClr val="FFFFFF"/>
                </a:solidFill>
                <a:latin typeface="Times New Roman" panose="02020603050405020304" pitchFamily="18" charset="0"/>
                <a:cs typeface="Times New Roman" panose="02020603050405020304" pitchFamily="18" charset="0"/>
              </a:rPr>
              <a:t>FRONTEND</a:t>
            </a:r>
          </a:p>
        </p:txBody>
      </p:sp>
      <p:sp>
        <p:nvSpPr>
          <p:cNvPr id="52" name="TextBox 51">
            <a:extLst>
              <a:ext uri="{FF2B5EF4-FFF2-40B4-BE49-F238E27FC236}">
                <a16:creationId xmlns:a16="http://schemas.microsoft.com/office/drawing/2014/main" id="{67C2290C-87AE-460F-9E67-D7416536FE35}"/>
              </a:ext>
            </a:extLst>
          </p:cNvPr>
          <p:cNvSpPr txBox="1"/>
          <p:nvPr/>
        </p:nvSpPr>
        <p:spPr>
          <a:xfrm>
            <a:off x="1494588" y="1921592"/>
            <a:ext cx="3017592" cy="572464"/>
          </a:xfrm>
          <a:prstGeom prst="rect">
            <a:avLst/>
          </a:prstGeom>
          <a:noFill/>
        </p:spPr>
        <p:txBody>
          <a:bodyPr wrap="square" lIns="18288" tIns="9144" rIns="18288" bIns="9144" anchor="t">
            <a:spAutoFit/>
          </a:bodyPr>
          <a:lstStyle/>
          <a:p>
            <a:pPr algn="l"/>
            <a:r>
              <a:rPr lang="en-IN" sz="1200" b="1" dirty="0">
                <a:solidFill>
                  <a:srgbClr val="1E2834"/>
                </a:solidFill>
                <a:latin typeface="Times New Roman" panose="02020603050405020304" pitchFamily="18" charset="0"/>
                <a:cs typeface="Times New Roman" panose="02020603050405020304" pitchFamily="18" charset="0"/>
              </a:rPr>
              <a:t>• </a:t>
            </a:r>
            <a:r>
              <a:rPr sz="1200" b="1" dirty="0">
                <a:solidFill>
                  <a:srgbClr val="1E2834"/>
                </a:solidFill>
                <a:latin typeface="Times New Roman" panose="02020603050405020304" pitchFamily="18" charset="0"/>
                <a:cs typeface="Times New Roman" panose="02020603050405020304" pitchFamily="18" charset="0"/>
              </a:rPr>
              <a:t>React + TypeScript + </a:t>
            </a:r>
            <a:r>
              <a:rPr sz="1200" b="1" dirty="0" err="1">
                <a:solidFill>
                  <a:srgbClr val="1E2834"/>
                </a:solidFill>
                <a:latin typeface="Times New Roman" panose="02020603050405020304" pitchFamily="18" charset="0"/>
                <a:cs typeface="Times New Roman" panose="02020603050405020304" pitchFamily="18" charset="0"/>
              </a:rPr>
              <a:t>Vite</a:t>
            </a:r>
            <a:br>
              <a:rPr sz="1200" dirty="0">
                <a:latin typeface="Times New Roman" panose="02020603050405020304" pitchFamily="18" charset="0"/>
                <a:cs typeface="Times New Roman" panose="02020603050405020304" pitchFamily="18" charset="0"/>
              </a:rPr>
            </a:br>
            <a:r>
              <a:rPr lang="en-IN" sz="1200" b="1" dirty="0">
                <a:solidFill>
                  <a:srgbClr val="1E2834"/>
                </a:solidFill>
                <a:latin typeface="Times New Roman" panose="02020603050405020304" pitchFamily="18" charset="0"/>
                <a:cs typeface="Times New Roman" panose="02020603050405020304" pitchFamily="18" charset="0"/>
              </a:rPr>
              <a:t>• </a:t>
            </a:r>
            <a:r>
              <a:rPr sz="1200" b="1" dirty="0">
                <a:solidFill>
                  <a:srgbClr val="1E2834"/>
                </a:solidFill>
                <a:latin typeface="Times New Roman" panose="02020603050405020304" pitchFamily="18" charset="0"/>
                <a:cs typeface="Times New Roman" panose="02020603050405020304" pitchFamily="18" charset="0"/>
              </a:rPr>
              <a:t>Tailwind CSS • React Router </a:t>
            </a:r>
            <a:endParaRPr lang="en-IN" sz="1200" b="1" dirty="0">
              <a:solidFill>
                <a:srgbClr val="1E2834"/>
              </a:solidFill>
              <a:latin typeface="Times New Roman" panose="02020603050405020304" pitchFamily="18" charset="0"/>
              <a:cs typeface="Times New Roman" panose="02020603050405020304" pitchFamily="18" charset="0"/>
            </a:endParaRPr>
          </a:p>
          <a:p>
            <a:pPr algn="l"/>
            <a:r>
              <a:rPr sz="1200" b="1" dirty="0">
                <a:solidFill>
                  <a:srgbClr val="1E2834"/>
                </a:solidFill>
                <a:latin typeface="Times New Roman" panose="02020603050405020304" pitchFamily="18" charset="0"/>
                <a:cs typeface="Times New Roman" panose="02020603050405020304" pitchFamily="18" charset="0"/>
              </a:rPr>
              <a:t>• Recharts</a:t>
            </a:r>
            <a:r>
              <a:rPr lang="en-IN" sz="1200" b="1" dirty="0">
                <a:solidFill>
                  <a:srgbClr val="1E2834"/>
                </a:solidFill>
                <a:latin typeface="Times New Roman" panose="02020603050405020304" pitchFamily="18" charset="0"/>
                <a:cs typeface="Times New Roman" panose="02020603050405020304" pitchFamily="18" charset="0"/>
              </a:rPr>
              <a:t> • </a:t>
            </a:r>
            <a:r>
              <a:rPr sz="1200" b="1" dirty="0" err="1">
                <a:solidFill>
                  <a:srgbClr val="1E2834"/>
                </a:solidFill>
                <a:latin typeface="Times New Roman" panose="02020603050405020304" pitchFamily="18" charset="0"/>
                <a:cs typeface="Times New Roman" panose="02020603050405020304" pitchFamily="18" charset="0"/>
              </a:rPr>
              <a:t>Lucide</a:t>
            </a:r>
            <a:r>
              <a:rPr sz="1200" b="1" dirty="0">
                <a:solidFill>
                  <a:srgbClr val="1E2834"/>
                </a:solidFill>
                <a:latin typeface="Times New Roman" panose="02020603050405020304" pitchFamily="18" charset="0"/>
                <a:cs typeface="Times New Roman" panose="02020603050405020304" pitchFamily="18" charset="0"/>
              </a:rPr>
              <a:t> React</a:t>
            </a:r>
          </a:p>
        </p:txBody>
      </p:sp>
      <p:sp>
        <p:nvSpPr>
          <p:cNvPr id="54" name="Rounded Rectangle 16">
            <a:extLst>
              <a:ext uri="{FF2B5EF4-FFF2-40B4-BE49-F238E27FC236}">
                <a16:creationId xmlns:a16="http://schemas.microsoft.com/office/drawing/2014/main" id="{34CE9E97-8653-4797-89A4-2184792319D0}"/>
              </a:ext>
            </a:extLst>
          </p:cNvPr>
          <p:cNvSpPr/>
          <p:nvPr/>
        </p:nvSpPr>
        <p:spPr>
          <a:xfrm>
            <a:off x="294407" y="2646071"/>
            <a:ext cx="4217775" cy="425196"/>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55" name="Rounded Rectangle 17">
            <a:extLst>
              <a:ext uri="{FF2B5EF4-FFF2-40B4-BE49-F238E27FC236}">
                <a16:creationId xmlns:a16="http://schemas.microsoft.com/office/drawing/2014/main" id="{972375B6-720A-4C79-BB26-D061D5455F8A}"/>
              </a:ext>
            </a:extLst>
          </p:cNvPr>
          <p:cNvSpPr/>
          <p:nvPr/>
        </p:nvSpPr>
        <p:spPr>
          <a:xfrm>
            <a:off x="445285" y="2742083"/>
            <a:ext cx="946429" cy="233172"/>
          </a:xfrm>
          <a:prstGeom prst="roundRect">
            <a:avLst/>
          </a:prstGeom>
          <a:solidFill>
            <a:srgbClr val="DD8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973B5B12-1A54-407A-8532-F21CD14D31CB}"/>
              </a:ext>
            </a:extLst>
          </p:cNvPr>
          <p:cNvSpPr txBox="1"/>
          <p:nvPr/>
        </p:nvSpPr>
        <p:spPr>
          <a:xfrm>
            <a:off x="465861" y="2765633"/>
            <a:ext cx="864129" cy="172355"/>
          </a:xfrm>
          <a:prstGeom prst="rect">
            <a:avLst/>
          </a:prstGeom>
          <a:noFill/>
        </p:spPr>
        <p:txBody>
          <a:bodyPr wrap="square" lIns="18288" tIns="9144" rIns="18288" bIns="9144" anchor="ctr">
            <a:spAutoFit/>
          </a:bodyPr>
          <a:lstStyle/>
          <a:p>
            <a:pPr algn="ctr"/>
            <a:r>
              <a:rPr sz="1000" b="1" dirty="0">
                <a:solidFill>
                  <a:srgbClr val="FFFFFF"/>
                </a:solidFill>
                <a:latin typeface="Times New Roman" panose="02020603050405020304" pitchFamily="18" charset="0"/>
                <a:cs typeface="Times New Roman" panose="02020603050405020304" pitchFamily="18" charset="0"/>
              </a:rPr>
              <a:t>API</a:t>
            </a:r>
          </a:p>
        </p:txBody>
      </p:sp>
      <p:sp>
        <p:nvSpPr>
          <p:cNvPr id="57" name="TextBox 56">
            <a:extLst>
              <a:ext uri="{FF2B5EF4-FFF2-40B4-BE49-F238E27FC236}">
                <a16:creationId xmlns:a16="http://schemas.microsoft.com/office/drawing/2014/main" id="{CE507B1E-E66E-402C-8FEC-935038EBDFBE}"/>
              </a:ext>
            </a:extLst>
          </p:cNvPr>
          <p:cNvSpPr txBox="1"/>
          <p:nvPr/>
        </p:nvSpPr>
        <p:spPr>
          <a:xfrm>
            <a:off x="1452814" y="2661793"/>
            <a:ext cx="3079944" cy="387798"/>
          </a:xfrm>
          <a:prstGeom prst="rect">
            <a:avLst/>
          </a:prstGeom>
          <a:noFill/>
        </p:spPr>
        <p:txBody>
          <a:bodyPr wrap="square" lIns="18288" tIns="9144" rIns="18288" bIns="9144" anchor="t">
            <a:spAutoFit/>
          </a:bodyPr>
          <a:lstStyle/>
          <a:p>
            <a:pPr algn="l"/>
            <a:r>
              <a:rPr lang="en-IN" sz="1200" b="1" dirty="0">
                <a:solidFill>
                  <a:srgbClr val="1E2834"/>
                </a:solidFill>
                <a:latin typeface="Times New Roman" panose="02020603050405020304" pitchFamily="18" charset="0"/>
                <a:cs typeface="Times New Roman" panose="02020603050405020304" pitchFamily="18" charset="0"/>
              </a:rPr>
              <a:t>• </a:t>
            </a:r>
            <a:r>
              <a:rPr sz="1200" b="1" dirty="0" err="1">
                <a:solidFill>
                  <a:srgbClr val="1E2834"/>
                </a:solidFill>
                <a:latin typeface="Times New Roman" panose="02020603050405020304" pitchFamily="18" charset="0"/>
                <a:cs typeface="Times New Roman" panose="02020603050405020304" pitchFamily="18" charset="0"/>
              </a:rPr>
              <a:t>FastAPI</a:t>
            </a:r>
            <a:r>
              <a:rPr sz="1200" b="1" dirty="0">
                <a:solidFill>
                  <a:srgbClr val="1E2834"/>
                </a:solidFill>
                <a:latin typeface="Times New Roman" panose="02020603050405020304" pitchFamily="18" charset="0"/>
                <a:cs typeface="Times New Roman" panose="02020603050405020304" pitchFamily="18" charset="0"/>
              </a:rPr>
              <a:t> + </a:t>
            </a:r>
            <a:r>
              <a:rPr sz="1200" b="1" dirty="0" err="1">
                <a:solidFill>
                  <a:srgbClr val="1E2834"/>
                </a:solidFill>
                <a:latin typeface="Times New Roman" panose="02020603050405020304" pitchFamily="18" charset="0"/>
                <a:cs typeface="Times New Roman" panose="02020603050405020304" pitchFamily="18" charset="0"/>
              </a:rPr>
              <a:t>Uvicorn</a:t>
            </a:r>
            <a:r>
              <a:rPr lang="en-IN" sz="1200" b="1" dirty="0">
                <a:solidFill>
                  <a:srgbClr val="1E2834"/>
                </a:solidFill>
                <a:latin typeface="Times New Roman" panose="02020603050405020304" pitchFamily="18" charset="0"/>
                <a:cs typeface="Times New Roman" panose="02020603050405020304" pitchFamily="18" charset="0"/>
              </a:rPr>
              <a:t> • </a:t>
            </a:r>
            <a:r>
              <a:rPr sz="1200" b="1" dirty="0" err="1">
                <a:solidFill>
                  <a:srgbClr val="1E2834"/>
                </a:solidFill>
                <a:latin typeface="Times New Roman" panose="02020603050405020304" pitchFamily="18" charset="0"/>
                <a:cs typeface="Times New Roman" panose="02020603050405020304" pitchFamily="18" charset="0"/>
              </a:rPr>
              <a:t>Pydantic</a:t>
            </a:r>
            <a:r>
              <a:rPr sz="1200" b="1" dirty="0">
                <a:solidFill>
                  <a:srgbClr val="1E2834"/>
                </a:solidFill>
                <a:latin typeface="Times New Roman" panose="02020603050405020304" pitchFamily="18" charset="0"/>
                <a:cs typeface="Times New Roman" panose="02020603050405020304" pitchFamily="18" charset="0"/>
              </a:rPr>
              <a:t> validation </a:t>
            </a:r>
            <a:endParaRPr lang="en-IN" sz="1200" b="1" dirty="0">
              <a:solidFill>
                <a:srgbClr val="1E2834"/>
              </a:solidFill>
              <a:latin typeface="Times New Roman" panose="02020603050405020304" pitchFamily="18" charset="0"/>
              <a:cs typeface="Times New Roman" panose="02020603050405020304" pitchFamily="18" charset="0"/>
            </a:endParaRPr>
          </a:p>
          <a:p>
            <a:pPr algn="l"/>
            <a:r>
              <a:rPr sz="1200" b="1" dirty="0">
                <a:solidFill>
                  <a:srgbClr val="1E2834"/>
                </a:solidFill>
                <a:latin typeface="Times New Roman" panose="02020603050405020304" pitchFamily="18" charset="0"/>
                <a:cs typeface="Times New Roman" panose="02020603050405020304" pitchFamily="18" charset="0"/>
              </a:rPr>
              <a:t>• REST API • JWT authentication</a:t>
            </a:r>
          </a:p>
        </p:txBody>
      </p:sp>
      <p:sp>
        <p:nvSpPr>
          <p:cNvPr id="59" name="Rounded Rectangle 21">
            <a:extLst>
              <a:ext uri="{FF2B5EF4-FFF2-40B4-BE49-F238E27FC236}">
                <a16:creationId xmlns:a16="http://schemas.microsoft.com/office/drawing/2014/main" id="{C9F2922A-4F98-4A6E-88B4-57280E78F2FF}"/>
              </a:ext>
            </a:extLst>
          </p:cNvPr>
          <p:cNvSpPr/>
          <p:nvPr/>
        </p:nvSpPr>
        <p:spPr>
          <a:xfrm>
            <a:off x="294407" y="3222141"/>
            <a:ext cx="4217775" cy="605455"/>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dirty="0">
              <a:latin typeface="Times New Roman" panose="02020603050405020304" pitchFamily="18" charset="0"/>
              <a:cs typeface="Times New Roman" panose="02020603050405020304" pitchFamily="18" charset="0"/>
            </a:endParaRPr>
          </a:p>
        </p:txBody>
      </p:sp>
      <p:sp>
        <p:nvSpPr>
          <p:cNvPr id="60" name="Rounded Rectangle 22">
            <a:extLst>
              <a:ext uri="{FF2B5EF4-FFF2-40B4-BE49-F238E27FC236}">
                <a16:creationId xmlns:a16="http://schemas.microsoft.com/office/drawing/2014/main" id="{673FE847-D618-4321-80FF-E055F61F1AD5}"/>
              </a:ext>
            </a:extLst>
          </p:cNvPr>
          <p:cNvSpPr/>
          <p:nvPr/>
        </p:nvSpPr>
        <p:spPr>
          <a:xfrm>
            <a:off x="445286" y="3318155"/>
            <a:ext cx="946428" cy="233172"/>
          </a:xfrm>
          <a:prstGeom prst="roundRect">
            <a:avLst/>
          </a:prstGeom>
          <a:solidFill>
            <a:srgbClr val="238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61" name="TextBox 60">
            <a:extLst>
              <a:ext uri="{FF2B5EF4-FFF2-40B4-BE49-F238E27FC236}">
                <a16:creationId xmlns:a16="http://schemas.microsoft.com/office/drawing/2014/main" id="{EA543A20-64C2-4A78-8E18-63DE24359952}"/>
              </a:ext>
            </a:extLst>
          </p:cNvPr>
          <p:cNvSpPr txBox="1"/>
          <p:nvPr/>
        </p:nvSpPr>
        <p:spPr>
          <a:xfrm>
            <a:off x="465861" y="3351936"/>
            <a:ext cx="925851" cy="172355"/>
          </a:xfrm>
          <a:prstGeom prst="rect">
            <a:avLst/>
          </a:prstGeom>
          <a:noFill/>
        </p:spPr>
        <p:txBody>
          <a:bodyPr wrap="square" lIns="18288" tIns="9144" rIns="18288" bIns="9144" anchor="ctr">
            <a:spAutoFit/>
          </a:bodyPr>
          <a:lstStyle/>
          <a:p>
            <a:pPr algn="ctr"/>
            <a:r>
              <a:rPr sz="1000" b="1" dirty="0">
                <a:solidFill>
                  <a:srgbClr val="FFFFFF"/>
                </a:solidFill>
                <a:latin typeface="Times New Roman" panose="02020603050405020304" pitchFamily="18" charset="0"/>
                <a:cs typeface="Times New Roman" panose="02020603050405020304" pitchFamily="18" charset="0"/>
              </a:rPr>
              <a:t>PERSISTENCE</a:t>
            </a:r>
          </a:p>
        </p:txBody>
      </p:sp>
      <p:sp>
        <p:nvSpPr>
          <p:cNvPr id="62" name="TextBox 61">
            <a:extLst>
              <a:ext uri="{FF2B5EF4-FFF2-40B4-BE49-F238E27FC236}">
                <a16:creationId xmlns:a16="http://schemas.microsoft.com/office/drawing/2014/main" id="{B37B95FD-0E2C-4B80-A34D-9A14A1B9895D}"/>
              </a:ext>
            </a:extLst>
          </p:cNvPr>
          <p:cNvSpPr txBox="1"/>
          <p:nvPr/>
        </p:nvSpPr>
        <p:spPr>
          <a:xfrm>
            <a:off x="1494587" y="3270148"/>
            <a:ext cx="3077411" cy="572464"/>
          </a:xfrm>
          <a:prstGeom prst="rect">
            <a:avLst/>
          </a:prstGeom>
          <a:noFill/>
        </p:spPr>
        <p:txBody>
          <a:bodyPr wrap="square" lIns="18288" tIns="9144" rIns="18288" bIns="9144" anchor="t">
            <a:spAutoFit/>
          </a:bodyPr>
          <a:lstStyle/>
          <a:p>
            <a:pPr algn="l"/>
            <a:r>
              <a:rPr lang="en-IN" sz="1200" b="1" dirty="0">
                <a:solidFill>
                  <a:srgbClr val="1E2834"/>
                </a:solidFill>
                <a:latin typeface="Times New Roman" panose="02020603050405020304" pitchFamily="18" charset="0"/>
                <a:cs typeface="Times New Roman" panose="02020603050405020304" pitchFamily="18" charset="0"/>
              </a:rPr>
              <a:t>• </a:t>
            </a:r>
            <a:r>
              <a:rPr sz="1200" b="1" dirty="0" err="1">
                <a:solidFill>
                  <a:srgbClr val="1E2834"/>
                </a:solidFill>
                <a:latin typeface="Times New Roman" panose="02020603050405020304" pitchFamily="18" charset="0"/>
                <a:cs typeface="Times New Roman" panose="02020603050405020304" pitchFamily="18" charset="0"/>
              </a:rPr>
              <a:t>SQLAlchemy</a:t>
            </a:r>
            <a:r>
              <a:rPr sz="1200" b="1" dirty="0">
                <a:solidFill>
                  <a:srgbClr val="1E2834"/>
                </a:solidFill>
                <a:latin typeface="Times New Roman" panose="02020603050405020304" pitchFamily="18" charset="0"/>
                <a:cs typeface="Times New Roman" panose="02020603050405020304" pitchFamily="18" charset="0"/>
              </a:rPr>
              <a:t> ORM</a:t>
            </a:r>
            <a:r>
              <a:rPr lang="en-IN" sz="1200" b="1" dirty="0">
                <a:solidFill>
                  <a:srgbClr val="1E2834"/>
                </a:solidFill>
                <a:latin typeface="Times New Roman" panose="02020603050405020304" pitchFamily="18" charset="0"/>
                <a:cs typeface="Times New Roman" panose="02020603050405020304" pitchFamily="18" charset="0"/>
              </a:rPr>
              <a:t> </a:t>
            </a:r>
          </a:p>
          <a:p>
            <a:pPr algn="l"/>
            <a:r>
              <a:rPr lang="en-IN" sz="1200" b="1" dirty="0">
                <a:solidFill>
                  <a:srgbClr val="1E2834"/>
                </a:solidFill>
                <a:latin typeface="Times New Roman" panose="02020603050405020304" pitchFamily="18" charset="0"/>
                <a:cs typeface="Times New Roman" panose="02020603050405020304" pitchFamily="18" charset="0"/>
              </a:rPr>
              <a:t>• </a:t>
            </a:r>
            <a:r>
              <a:rPr sz="1200" b="1" dirty="0">
                <a:solidFill>
                  <a:srgbClr val="1E2834"/>
                </a:solidFill>
                <a:latin typeface="Times New Roman" panose="02020603050405020304" pitchFamily="18" charset="0"/>
                <a:cs typeface="Times New Roman" panose="02020603050405020304" pitchFamily="18" charset="0"/>
              </a:rPr>
              <a:t>SQLite for local development </a:t>
            </a:r>
            <a:endParaRPr lang="en-IN" sz="1200" b="1" dirty="0">
              <a:solidFill>
                <a:srgbClr val="1E2834"/>
              </a:solidFill>
              <a:latin typeface="Times New Roman" panose="02020603050405020304" pitchFamily="18" charset="0"/>
              <a:cs typeface="Times New Roman" panose="02020603050405020304" pitchFamily="18" charset="0"/>
            </a:endParaRPr>
          </a:p>
          <a:p>
            <a:pPr algn="l"/>
            <a:r>
              <a:rPr sz="1200" b="1" dirty="0">
                <a:solidFill>
                  <a:srgbClr val="1E2834"/>
                </a:solidFill>
                <a:latin typeface="Times New Roman" panose="02020603050405020304" pitchFamily="18" charset="0"/>
                <a:cs typeface="Times New Roman" panose="02020603050405020304" pitchFamily="18" charset="0"/>
              </a:rPr>
              <a:t>• PostgreSQL-compatible architecture</a:t>
            </a:r>
          </a:p>
        </p:txBody>
      </p:sp>
      <p:sp>
        <p:nvSpPr>
          <p:cNvPr id="64" name="Rounded Rectangle 26">
            <a:extLst>
              <a:ext uri="{FF2B5EF4-FFF2-40B4-BE49-F238E27FC236}">
                <a16:creationId xmlns:a16="http://schemas.microsoft.com/office/drawing/2014/main" id="{07D436CD-B156-42DA-8D54-1BF416699606}"/>
              </a:ext>
            </a:extLst>
          </p:cNvPr>
          <p:cNvSpPr/>
          <p:nvPr/>
        </p:nvSpPr>
        <p:spPr>
          <a:xfrm>
            <a:off x="294405" y="3988803"/>
            <a:ext cx="4217775" cy="550076"/>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65" name="Rounded Rectangle 27">
            <a:extLst>
              <a:ext uri="{FF2B5EF4-FFF2-40B4-BE49-F238E27FC236}">
                <a16:creationId xmlns:a16="http://schemas.microsoft.com/office/drawing/2014/main" id="{032D345A-49E7-44AA-9A8D-9AB531624749}"/>
              </a:ext>
            </a:extLst>
          </p:cNvPr>
          <p:cNvSpPr/>
          <p:nvPr/>
        </p:nvSpPr>
        <p:spPr>
          <a:xfrm>
            <a:off x="445284" y="4022521"/>
            <a:ext cx="946428" cy="330242"/>
          </a:xfrm>
          <a:prstGeom prst="roundRect">
            <a:avLst/>
          </a:prstGeom>
          <a:solidFill>
            <a:srgbClr val="B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66" name="TextBox 65">
            <a:extLst>
              <a:ext uri="{FF2B5EF4-FFF2-40B4-BE49-F238E27FC236}">
                <a16:creationId xmlns:a16="http://schemas.microsoft.com/office/drawing/2014/main" id="{F008E63E-8D2B-470A-A4A7-E4B172B07D17}"/>
              </a:ext>
            </a:extLst>
          </p:cNvPr>
          <p:cNvSpPr txBox="1"/>
          <p:nvPr/>
        </p:nvSpPr>
        <p:spPr>
          <a:xfrm>
            <a:off x="465859" y="4031421"/>
            <a:ext cx="864129" cy="326243"/>
          </a:xfrm>
          <a:prstGeom prst="rect">
            <a:avLst/>
          </a:prstGeom>
          <a:noFill/>
        </p:spPr>
        <p:txBody>
          <a:bodyPr wrap="square" lIns="18288" tIns="9144" rIns="18288" bIns="9144" anchor="ctr">
            <a:spAutoFit/>
          </a:bodyPr>
          <a:lstStyle/>
          <a:p>
            <a:pPr algn="ctr"/>
            <a:r>
              <a:rPr sz="1000" b="1" dirty="0">
                <a:solidFill>
                  <a:srgbClr val="FFFFFF"/>
                </a:solidFill>
                <a:latin typeface="Times New Roman" panose="02020603050405020304" pitchFamily="18" charset="0"/>
                <a:cs typeface="Times New Roman" panose="02020603050405020304" pitchFamily="18" charset="0"/>
              </a:rPr>
              <a:t>ANALYTICS</a:t>
            </a:r>
            <a:endParaRPr lang="en-IN" sz="1000" b="1" dirty="0">
              <a:solidFill>
                <a:srgbClr val="FFFFFF"/>
              </a:solidFill>
              <a:latin typeface="Times New Roman" panose="02020603050405020304" pitchFamily="18" charset="0"/>
              <a:cs typeface="Times New Roman" panose="02020603050405020304" pitchFamily="18" charset="0"/>
            </a:endParaRPr>
          </a:p>
          <a:p>
            <a:pPr algn="ctr"/>
            <a:r>
              <a:rPr sz="1000" b="1" dirty="0">
                <a:solidFill>
                  <a:srgbClr val="FFFFFF"/>
                </a:solidFill>
                <a:latin typeface="Times New Roman" panose="02020603050405020304" pitchFamily="18" charset="0"/>
                <a:cs typeface="Times New Roman" panose="02020603050405020304" pitchFamily="18" charset="0"/>
              </a:rPr>
              <a:t> / AI</a:t>
            </a:r>
          </a:p>
        </p:txBody>
      </p:sp>
      <p:sp>
        <p:nvSpPr>
          <p:cNvPr id="67" name="TextBox 66">
            <a:extLst>
              <a:ext uri="{FF2B5EF4-FFF2-40B4-BE49-F238E27FC236}">
                <a16:creationId xmlns:a16="http://schemas.microsoft.com/office/drawing/2014/main" id="{4728E28D-CB00-4F0F-86CC-C3397C57B7E5}"/>
              </a:ext>
            </a:extLst>
          </p:cNvPr>
          <p:cNvSpPr txBox="1"/>
          <p:nvPr/>
        </p:nvSpPr>
        <p:spPr>
          <a:xfrm>
            <a:off x="1494585" y="4036810"/>
            <a:ext cx="2777559" cy="387798"/>
          </a:xfrm>
          <a:prstGeom prst="rect">
            <a:avLst/>
          </a:prstGeom>
          <a:noFill/>
        </p:spPr>
        <p:txBody>
          <a:bodyPr wrap="square" lIns="18288" tIns="9144" rIns="18288" bIns="9144" anchor="t">
            <a:spAutoFit/>
          </a:bodyPr>
          <a:lstStyle/>
          <a:p>
            <a:pPr algn="l"/>
            <a:r>
              <a:rPr lang="en-IN" sz="1200" b="1" dirty="0">
                <a:solidFill>
                  <a:srgbClr val="1E2834"/>
                </a:solidFill>
                <a:latin typeface="Times New Roman" panose="02020603050405020304" pitchFamily="18" charset="0"/>
                <a:cs typeface="Times New Roman" panose="02020603050405020304" pitchFamily="18" charset="0"/>
              </a:rPr>
              <a:t>• </a:t>
            </a:r>
            <a:r>
              <a:rPr sz="1200" b="1" dirty="0">
                <a:solidFill>
                  <a:srgbClr val="1E2834"/>
                </a:solidFill>
                <a:latin typeface="Times New Roman" panose="02020603050405020304" pitchFamily="18" charset="0"/>
                <a:cs typeface="Times New Roman" panose="02020603050405020304" pitchFamily="18" charset="0"/>
              </a:rPr>
              <a:t>Pandas + NumPy</a:t>
            </a:r>
            <a:br>
              <a:rPr sz="1200" dirty="0">
                <a:latin typeface="Times New Roman" panose="02020603050405020304" pitchFamily="18" charset="0"/>
                <a:cs typeface="Times New Roman" panose="02020603050405020304" pitchFamily="18" charset="0"/>
              </a:rPr>
            </a:br>
            <a:r>
              <a:rPr lang="en-IN" sz="1200" b="1" dirty="0">
                <a:solidFill>
                  <a:srgbClr val="1E2834"/>
                </a:solidFill>
                <a:latin typeface="Times New Roman" panose="02020603050405020304" pitchFamily="18" charset="0"/>
                <a:cs typeface="Times New Roman" panose="02020603050405020304" pitchFamily="18" charset="0"/>
              </a:rPr>
              <a:t>• </a:t>
            </a:r>
            <a:r>
              <a:rPr sz="1200" b="1" dirty="0">
                <a:solidFill>
                  <a:srgbClr val="1E2834"/>
                </a:solidFill>
                <a:latin typeface="Times New Roman" panose="02020603050405020304" pitchFamily="18" charset="0"/>
                <a:cs typeface="Times New Roman" panose="02020603050405020304" pitchFamily="18" charset="0"/>
              </a:rPr>
              <a:t>Modular local rule-based NLP classifier</a:t>
            </a:r>
          </a:p>
        </p:txBody>
      </p:sp>
      <p:sp>
        <p:nvSpPr>
          <p:cNvPr id="68" name="TextBox 67">
            <a:extLst>
              <a:ext uri="{FF2B5EF4-FFF2-40B4-BE49-F238E27FC236}">
                <a16:creationId xmlns:a16="http://schemas.microsoft.com/office/drawing/2014/main" id="{960AAFD9-47DE-47E8-9B84-590FFC16A209}"/>
              </a:ext>
            </a:extLst>
          </p:cNvPr>
          <p:cNvSpPr txBox="1"/>
          <p:nvPr/>
        </p:nvSpPr>
        <p:spPr>
          <a:xfrm>
            <a:off x="5072644" y="1277921"/>
            <a:ext cx="3223340" cy="203133"/>
          </a:xfrm>
          <a:prstGeom prst="rect">
            <a:avLst/>
          </a:prstGeom>
          <a:noFill/>
        </p:spPr>
        <p:txBody>
          <a:bodyPr wrap="square" lIns="18288" tIns="9144" rIns="18288" bIns="9144" anchor="t">
            <a:spAutoFit/>
          </a:bodyPr>
          <a:lstStyle/>
          <a:p>
            <a:pPr algn="ctr"/>
            <a:r>
              <a:rPr sz="1200" b="1" dirty="0">
                <a:solidFill>
                  <a:srgbClr val="003E73"/>
                </a:solidFill>
                <a:latin typeface="Times New Roman" panose="02020603050405020304" pitchFamily="18" charset="0"/>
                <a:cs typeface="Times New Roman" panose="02020603050405020304" pitchFamily="18" charset="0"/>
              </a:rPr>
              <a:t>RUNTIME DATA PATH</a:t>
            </a:r>
          </a:p>
        </p:txBody>
      </p:sp>
      <p:sp>
        <p:nvSpPr>
          <p:cNvPr id="69" name="Rounded Rectangle 32">
            <a:extLst>
              <a:ext uri="{FF2B5EF4-FFF2-40B4-BE49-F238E27FC236}">
                <a16:creationId xmlns:a16="http://schemas.microsoft.com/office/drawing/2014/main" id="{4E2ADACE-D586-4537-818B-31C80640F3EA}"/>
              </a:ext>
            </a:extLst>
          </p:cNvPr>
          <p:cNvSpPr/>
          <p:nvPr/>
        </p:nvSpPr>
        <p:spPr>
          <a:xfrm>
            <a:off x="5454799" y="1591465"/>
            <a:ext cx="2571814" cy="253746"/>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70" name="TextBox 69">
            <a:extLst>
              <a:ext uri="{FF2B5EF4-FFF2-40B4-BE49-F238E27FC236}">
                <a16:creationId xmlns:a16="http://schemas.microsoft.com/office/drawing/2014/main" id="{48D63A78-A622-4994-B7BD-5CF21887EB43}"/>
              </a:ext>
            </a:extLst>
          </p:cNvPr>
          <p:cNvSpPr txBox="1"/>
          <p:nvPr/>
        </p:nvSpPr>
        <p:spPr>
          <a:xfrm>
            <a:off x="5557672" y="1625755"/>
            <a:ext cx="2366069" cy="203133"/>
          </a:xfrm>
          <a:prstGeom prst="rect">
            <a:avLst/>
          </a:prstGeom>
          <a:noFill/>
        </p:spPr>
        <p:txBody>
          <a:bodyPr wrap="square" lIns="18288" tIns="9144" rIns="18288" bIns="9144" anchor="t">
            <a:spAutoFit/>
          </a:bodyPr>
          <a:lstStyle/>
          <a:p>
            <a:pPr algn="ctr"/>
            <a:r>
              <a:rPr sz="1200" b="1" dirty="0">
                <a:solidFill>
                  <a:srgbClr val="005BA0"/>
                </a:solidFill>
                <a:latin typeface="Times New Roman" panose="02020603050405020304" pitchFamily="18" charset="0"/>
                <a:cs typeface="Times New Roman" panose="02020603050405020304" pitchFamily="18" charset="0"/>
              </a:rPr>
              <a:t>Feedback request</a:t>
            </a:r>
          </a:p>
        </p:txBody>
      </p:sp>
      <p:sp>
        <p:nvSpPr>
          <p:cNvPr id="72" name="Rounded Rectangle 35">
            <a:extLst>
              <a:ext uri="{FF2B5EF4-FFF2-40B4-BE49-F238E27FC236}">
                <a16:creationId xmlns:a16="http://schemas.microsoft.com/office/drawing/2014/main" id="{521154A9-D2EB-44A2-AA90-22CCD0FA4823}"/>
              </a:ext>
            </a:extLst>
          </p:cNvPr>
          <p:cNvSpPr/>
          <p:nvPr/>
        </p:nvSpPr>
        <p:spPr>
          <a:xfrm>
            <a:off x="5454799" y="2047049"/>
            <a:ext cx="2571814" cy="253746"/>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73" name="TextBox 72">
            <a:extLst>
              <a:ext uri="{FF2B5EF4-FFF2-40B4-BE49-F238E27FC236}">
                <a16:creationId xmlns:a16="http://schemas.microsoft.com/office/drawing/2014/main" id="{B690DC53-D57A-4558-8382-6B54F9349AAE}"/>
              </a:ext>
            </a:extLst>
          </p:cNvPr>
          <p:cNvSpPr txBox="1"/>
          <p:nvPr/>
        </p:nvSpPr>
        <p:spPr>
          <a:xfrm>
            <a:off x="5557672" y="2075425"/>
            <a:ext cx="2366069" cy="203133"/>
          </a:xfrm>
          <a:prstGeom prst="rect">
            <a:avLst/>
          </a:prstGeom>
          <a:noFill/>
        </p:spPr>
        <p:txBody>
          <a:bodyPr wrap="square" lIns="18288" tIns="9144" rIns="18288" bIns="9144" anchor="t">
            <a:spAutoFit/>
          </a:bodyPr>
          <a:lstStyle/>
          <a:p>
            <a:pPr algn="ctr"/>
            <a:r>
              <a:rPr sz="1200" b="1">
                <a:solidFill>
                  <a:srgbClr val="DD8500"/>
                </a:solidFill>
                <a:latin typeface="Times New Roman" panose="02020603050405020304" pitchFamily="18" charset="0"/>
                <a:cs typeface="Times New Roman" panose="02020603050405020304" pitchFamily="18" charset="0"/>
              </a:rPr>
              <a:t>FastAPI endpoint</a:t>
            </a:r>
          </a:p>
        </p:txBody>
      </p:sp>
      <p:sp>
        <p:nvSpPr>
          <p:cNvPr id="75" name="Rounded Rectangle 38">
            <a:extLst>
              <a:ext uri="{FF2B5EF4-FFF2-40B4-BE49-F238E27FC236}">
                <a16:creationId xmlns:a16="http://schemas.microsoft.com/office/drawing/2014/main" id="{86717804-E032-466C-BE65-5F8E149A61A5}"/>
              </a:ext>
            </a:extLst>
          </p:cNvPr>
          <p:cNvSpPr/>
          <p:nvPr/>
        </p:nvSpPr>
        <p:spPr>
          <a:xfrm>
            <a:off x="5454799" y="2486903"/>
            <a:ext cx="2571814" cy="253746"/>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76" name="TextBox 75">
            <a:extLst>
              <a:ext uri="{FF2B5EF4-FFF2-40B4-BE49-F238E27FC236}">
                <a16:creationId xmlns:a16="http://schemas.microsoft.com/office/drawing/2014/main" id="{A747B91D-90B3-44C9-B0CC-E22E81604521}"/>
              </a:ext>
            </a:extLst>
          </p:cNvPr>
          <p:cNvSpPr txBox="1"/>
          <p:nvPr/>
        </p:nvSpPr>
        <p:spPr>
          <a:xfrm>
            <a:off x="5557672" y="2521193"/>
            <a:ext cx="2366069" cy="203133"/>
          </a:xfrm>
          <a:prstGeom prst="rect">
            <a:avLst/>
          </a:prstGeom>
          <a:noFill/>
        </p:spPr>
        <p:txBody>
          <a:bodyPr wrap="square" lIns="18288" tIns="9144" rIns="18288" bIns="9144" anchor="t">
            <a:spAutoFit/>
          </a:bodyPr>
          <a:lstStyle/>
          <a:p>
            <a:pPr algn="ctr"/>
            <a:r>
              <a:rPr sz="1200" b="1">
                <a:solidFill>
                  <a:srgbClr val="008BBE"/>
                </a:solidFill>
                <a:latin typeface="Times New Roman" panose="02020603050405020304" pitchFamily="18" charset="0"/>
                <a:cs typeface="Times New Roman" panose="02020603050405020304" pitchFamily="18" charset="0"/>
              </a:rPr>
              <a:t>Validated model</a:t>
            </a:r>
          </a:p>
        </p:txBody>
      </p:sp>
      <p:sp>
        <p:nvSpPr>
          <p:cNvPr id="78" name="Rounded Rectangle 41">
            <a:extLst>
              <a:ext uri="{FF2B5EF4-FFF2-40B4-BE49-F238E27FC236}">
                <a16:creationId xmlns:a16="http://schemas.microsoft.com/office/drawing/2014/main" id="{BFC85816-7F0F-4E74-81B2-A7FB28FC2915}"/>
              </a:ext>
            </a:extLst>
          </p:cNvPr>
          <p:cNvSpPr/>
          <p:nvPr/>
        </p:nvSpPr>
        <p:spPr>
          <a:xfrm>
            <a:off x="5458229" y="2896723"/>
            <a:ext cx="2571814" cy="253746"/>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79" name="TextBox 78">
            <a:extLst>
              <a:ext uri="{FF2B5EF4-FFF2-40B4-BE49-F238E27FC236}">
                <a16:creationId xmlns:a16="http://schemas.microsoft.com/office/drawing/2014/main" id="{1072DAB0-BF53-4A09-AAF4-4E23CF9448FB}"/>
              </a:ext>
            </a:extLst>
          </p:cNvPr>
          <p:cNvSpPr txBox="1"/>
          <p:nvPr/>
        </p:nvSpPr>
        <p:spPr>
          <a:xfrm>
            <a:off x="5561102" y="2931012"/>
            <a:ext cx="2366069" cy="203133"/>
          </a:xfrm>
          <a:prstGeom prst="rect">
            <a:avLst/>
          </a:prstGeom>
          <a:noFill/>
        </p:spPr>
        <p:txBody>
          <a:bodyPr wrap="square" lIns="18288" tIns="9144" rIns="18288" bIns="9144" anchor="t">
            <a:spAutoFit/>
          </a:bodyPr>
          <a:lstStyle/>
          <a:p>
            <a:pPr algn="ctr"/>
            <a:r>
              <a:rPr sz="1200" b="1">
                <a:solidFill>
                  <a:srgbClr val="238755"/>
                </a:solidFill>
                <a:latin typeface="Times New Roman" panose="02020603050405020304" pitchFamily="18" charset="0"/>
                <a:cs typeface="Times New Roman" panose="02020603050405020304" pitchFamily="18" charset="0"/>
              </a:rPr>
              <a:t>Database record</a:t>
            </a:r>
          </a:p>
        </p:txBody>
      </p:sp>
      <p:sp>
        <p:nvSpPr>
          <p:cNvPr id="81" name="Rounded Rectangle 44">
            <a:extLst>
              <a:ext uri="{FF2B5EF4-FFF2-40B4-BE49-F238E27FC236}">
                <a16:creationId xmlns:a16="http://schemas.microsoft.com/office/drawing/2014/main" id="{B08AB10F-983E-4FA8-BC11-8A42059695BF}"/>
              </a:ext>
            </a:extLst>
          </p:cNvPr>
          <p:cNvSpPr/>
          <p:nvPr/>
        </p:nvSpPr>
        <p:spPr>
          <a:xfrm>
            <a:off x="5454799" y="3343203"/>
            <a:ext cx="2571814" cy="253746"/>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82" name="TextBox 81">
            <a:extLst>
              <a:ext uri="{FF2B5EF4-FFF2-40B4-BE49-F238E27FC236}">
                <a16:creationId xmlns:a16="http://schemas.microsoft.com/office/drawing/2014/main" id="{1C945C37-B4B5-4E75-BEF5-D21034E5AECA}"/>
              </a:ext>
            </a:extLst>
          </p:cNvPr>
          <p:cNvSpPr txBox="1"/>
          <p:nvPr/>
        </p:nvSpPr>
        <p:spPr>
          <a:xfrm>
            <a:off x="5557672" y="3377493"/>
            <a:ext cx="2366069" cy="203133"/>
          </a:xfrm>
          <a:prstGeom prst="rect">
            <a:avLst/>
          </a:prstGeom>
          <a:noFill/>
        </p:spPr>
        <p:txBody>
          <a:bodyPr wrap="square" lIns="18288" tIns="9144" rIns="18288" bIns="9144" anchor="t">
            <a:spAutoFit/>
          </a:bodyPr>
          <a:lstStyle/>
          <a:p>
            <a:pPr algn="ctr"/>
            <a:r>
              <a:rPr sz="1200" b="1">
                <a:solidFill>
                  <a:srgbClr val="BE2D41"/>
                </a:solidFill>
                <a:latin typeface="Times New Roman" panose="02020603050405020304" pitchFamily="18" charset="0"/>
                <a:cs typeface="Times New Roman" panose="02020603050405020304" pitchFamily="18" charset="0"/>
              </a:rPr>
              <a:t>Analytics result</a:t>
            </a:r>
          </a:p>
        </p:txBody>
      </p:sp>
      <p:sp>
        <p:nvSpPr>
          <p:cNvPr id="84" name="Rounded Rectangle 47">
            <a:extLst>
              <a:ext uri="{FF2B5EF4-FFF2-40B4-BE49-F238E27FC236}">
                <a16:creationId xmlns:a16="http://schemas.microsoft.com/office/drawing/2014/main" id="{6B01584B-9A79-4CBD-8EB0-891DA0263C06}"/>
              </a:ext>
            </a:extLst>
          </p:cNvPr>
          <p:cNvSpPr/>
          <p:nvPr/>
        </p:nvSpPr>
        <p:spPr>
          <a:xfrm>
            <a:off x="5454799" y="3780541"/>
            <a:ext cx="2571814" cy="253746"/>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85" name="TextBox 84">
            <a:extLst>
              <a:ext uri="{FF2B5EF4-FFF2-40B4-BE49-F238E27FC236}">
                <a16:creationId xmlns:a16="http://schemas.microsoft.com/office/drawing/2014/main" id="{ECCF795D-9BE2-418A-A303-85EFAC6DBCED}"/>
              </a:ext>
            </a:extLst>
          </p:cNvPr>
          <p:cNvSpPr txBox="1"/>
          <p:nvPr/>
        </p:nvSpPr>
        <p:spPr>
          <a:xfrm>
            <a:off x="5557672" y="3814831"/>
            <a:ext cx="2366069" cy="203133"/>
          </a:xfrm>
          <a:prstGeom prst="rect">
            <a:avLst/>
          </a:prstGeom>
          <a:noFill/>
        </p:spPr>
        <p:txBody>
          <a:bodyPr wrap="square" lIns="18288" tIns="9144" rIns="18288" bIns="9144" anchor="t">
            <a:spAutoFit/>
          </a:bodyPr>
          <a:lstStyle/>
          <a:p>
            <a:pPr algn="ctr"/>
            <a:r>
              <a:rPr sz="1200" b="1">
                <a:solidFill>
                  <a:srgbClr val="4C2270"/>
                </a:solidFill>
                <a:latin typeface="Times New Roman" panose="02020603050405020304" pitchFamily="18" charset="0"/>
                <a:cs typeface="Times New Roman" panose="02020603050405020304" pitchFamily="18" charset="0"/>
              </a:rPr>
              <a:t>Dashboard view</a:t>
            </a:r>
          </a:p>
        </p:txBody>
      </p:sp>
      <p:sp>
        <p:nvSpPr>
          <p:cNvPr id="87" name="Rounded Rectangle 11">
            <a:extLst>
              <a:ext uri="{FF2B5EF4-FFF2-40B4-BE49-F238E27FC236}">
                <a16:creationId xmlns:a16="http://schemas.microsoft.com/office/drawing/2014/main" id="{BD0DC902-2370-471F-9D56-409D3931C73D}"/>
              </a:ext>
            </a:extLst>
          </p:cNvPr>
          <p:cNvSpPr/>
          <p:nvPr/>
        </p:nvSpPr>
        <p:spPr>
          <a:xfrm>
            <a:off x="294405" y="1282855"/>
            <a:ext cx="4200629" cy="425196"/>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dirty="0">
              <a:latin typeface="Times New Roman" panose="02020603050405020304" pitchFamily="18" charset="0"/>
              <a:cs typeface="Times New Roman" panose="02020603050405020304" pitchFamily="18" charset="0"/>
            </a:endParaRPr>
          </a:p>
        </p:txBody>
      </p:sp>
      <p:sp>
        <p:nvSpPr>
          <p:cNvPr id="88" name="Rounded Rectangle 7">
            <a:extLst>
              <a:ext uri="{FF2B5EF4-FFF2-40B4-BE49-F238E27FC236}">
                <a16:creationId xmlns:a16="http://schemas.microsoft.com/office/drawing/2014/main" id="{2EFA6276-CDAF-4CD6-AC81-FFA9F402E3E1}"/>
              </a:ext>
            </a:extLst>
          </p:cNvPr>
          <p:cNvSpPr/>
          <p:nvPr/>
        </p:nvSpPr>
        <p:spPr>
          <a:xfrm>
            <a:off x="445286" y="1364891"/>
            <a:ext cx="965768" cy="233172"/>
          </a:xfrm>
          <a:prstGeom prst="roundRect">
            <a:avLst/>
          </a:prstGeom>
          <a:solidFill>
            <a:srgbClr val="0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89" name="TextBox 88">
            <a:extLst>
              <a:ext uri="{FF2B5EF4-FFF2-40B4-BE49-F238E27FC236}">
                <a16:creationId xmlns:a16="http://schemas.microsoft.com/office/drawing/2014/main" id="{A10F0B9B-FE76-4BD1-AB28-603781541505}"/>
              </a:ext>
            </a:extLst>
          </p:cNvPr>
          <p:cNvSpPr txBox="1"/>
          <p:nvPr/>
        </p:nvSpPr>
        <p:spPr>
          <a:xfrm>
            <a:off x="465861" y="1388442"/>
            <a:ext cx="864129" cy="172355"/>
          </a:xfrm>
          <a:prstGeom prst="rect">
            <a:avLst/>
          </a:prstGeom>
          <a:noFill/>
        </p:spPr>
        <p:txBody>
          <a:bodyPr wrap="square" lIns="18288" tIns="9144" rIns="18288" bIns="9144" anchor="ctr">
            <a:spAutoFit/>
          </a:bodyPr>
          <a:lstStyle/>
          <a:p>
            <a:pPr algn="ctr"/>
            <a:r>
              <a:rPr sz="1000" b="1" dirty="0">
                <a:solidFill>
                  <a:srgbClr val="FFFFFF"/>
                </a:solidFill>
                <a:latin typeface="Times New Roman" panose="02020603050405020304" pitchFamily="18" charset="0"/>
                <a:cs typeface="Times New Roman" panose="02020603050405020304" pitchFamily="18" charset="0"/>
              </a:rPr>
              <a:t>USERS</a:t>
            </a:r>
          </a:p>
        </p:txBody>
      </p:sp>
      <p:sp>
        <p:nvSpPr>
          <p:cNvPr id="90" name="TextBox 89">
            <a:extLst>
              <a:ext uri="{FF2B5EF4-FFF2-40B4-BE49-F238E27FC236}">
                <a16:creationId xmlns:a16="http://schemas.microsoft.com/office/drawing/2014/main" id="{C6F442E3-07F7-4019-B2EB-3915A6B7F6D5}"/>
              </a:ext>
            </a:extLst>
          </p:cNvPr>
          <p:cNvSpPr txBox="1"/>
          <p:nvPr/>
        </p:nvSpPr>
        <p:spPr>
          <a:xfrm>
            <a:off x="1518589" y="1376382"/>
            <a:ext cx="2777559" cy="203133"/>
          </a:xfrm>
          <a:prstGeom prst="rect">
            <a:avLst/>
          </a:prstGeom>
          <a:noFill/>
        </p:spPr>
        <p:txBody>
          <a:bodyPr wrap="square" lIns="18288" tIns="9144" rIns="18288" bIns="9144" anchor="t">
            <a:spAutoFit/>
          </a:bodyPr>
          <a:lstStyle/>
          <a:p>
            <a:pPr algn="l"/>
            <a:r>
              <a:rPr lang="en-IN" sz="1200" b="1" dirty="0">
                <a:solidFill>
                  <a:srgbClr val="1E2834"/>
                </a:solidFill>
                <a:latin typeface="Times New Roman" panose="02020603050405020304" pitchFamily="18" charset="0"/>
                <a:cs typeface="Times New Roman" panose="02020603050405020304" pitchFamily="18" charset="0"/>
              </a:rPr>
              <a:t>• </a:t>
            </a:r>
            <a:r>
              <a:rPr sz="1200" b="1" dirty="0">
                <a:solidFill>
                  <a:srgbClr val="1E2834"/>
                </a:solidFill>
                <a:latin typeface="Times New Roman" panose="02020603050405020304" pitchFamily="18" charset="0"/>
                <a:cs typeface="Times New Roman" panose="02020603050405020304" pitchFamily="18" charset="0"/>
              </a:rPr>
              <a:t>Passenger / Operations Admin</a:t>
            </a:r>
          </a:p>
        </p:txBody>
      </p:sp>
      <p:cxnSp>
        <p:nvCxnSpPr>
          <p:cNvPr id="99" name="Straight Arrow Connector 98">
            <a:extLst>
              <a:ext uri="{FF2B5EF4-FFF2-40B4-BE49-F238E27FC236}">
                <a16:creationId xmlns:a16="http://schemas.microsoft.com/office/drawing/2014/main" id="{B5B340DB-B1A6-476E-B455-3EBD10E882A4}"/>
              </a:ext>
            </a:extLst>
          </p:cNvPr>
          <p:cNvCxnSpPr>
            <a:stCxn id="69" idx="2"/>
            <a:endCxn id="72" idx="0"/>
          </p:cNvCxnSpPr>
          <p:nvPr/>
        </p:nvCxnSpPr>
        <p:spPr>
          <a:xfrm>
            <a:off x="6740706" y="1845211"/>
            <a:ext cx="0" cy="201838"/>
          </a:xfrm>
          <a:prstGeom prst="straightConnector1">
            <a:avLst/>
          </a:prstGeom>
          <a:ln w="285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73D87980-37C9-45C7-A704-F2E87BA60BAA}"/>
              </a:ext>
            </a:extLst>
          </p:cNvPr>
          <p:cNvCxnSpPr>
            <a:stCxn id="72" idx="2"/>
            <a:endCxn id="75" idx="0"/>
          </p:cNvCxnSpPr>
          <p:nvPr/>
        </p:nvCxnSpPr>
        <p:spPr>
          <a:xfrm>
            <a:off x="6740706" y="2300795"/>
            <a:ext cx="0" cy="186108"/>
          </a:xfrm>
          <a:prstGeom prst="straightConnector1">
            <a:avLst/>
          </a:prstGeom>
          <a:ln w="285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3D5AAFF2-295D-446C-9FA8-342DF19A3534}"/>
              </a:ext>
            </a:extLst>
          </p:cNvPr>
          <p:cNvCxnSpPr>
            <a:cxnSpLocks/>
            <a:stCxn id="75" idx="2"/>
            <a:endCxn id="78" idx="0"/>
          </p:cNvCxnSpPr>
          <p:nvPr/>
        </p:nvCxnSpPr>
        <p:spPr>
          <a:xfrm>
            <a:off x="6740706" y="2740649"/>
            <a:ext cx="3430" cy="156074"/>
          </a:xfrm>
          <a:prstGeom prst="straightConnector1">
            <a:avLst/>
          </a:prstGeom>
          <a:ln w="285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1F479A7C-6A95-411D-B458-B22BCE030628}"/>
              </a:ext>
            </a:extLst>
          </p:cNvPr>
          <p:cNvCxnSpPr>
            <a:stCxn id="78" idx="2"/>
            <a:endCxn id="81" idx="0"/>
          </p:cNvCxnSpPr>
          <p:nvPr/>
        </p:nvCxnSpPr>
        <p:spPr>
          <a:xfrm flipH="1">
            <a:off x="6740706" y="3150469"/>
            <a:ext cx="3430" cy="192734"/>
          </a:xfrm>
          <a:prstGeom prst="straightConnector1">
            <a:avLst/>
          </a:prstGeom>
          <a:ln w="285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88D796A0-F4A0-49D8-9AC5-5B7E11362077}"/>
              </a:ext>
            </a:extLst>
          </p:cNvPr>
          <p:cNvCxnSpPr>
            <a:stCxn id="81" idx="2"/>
            <a:endCxn id="84" idx="0"/>
          </p:cNvCxnSpPr>
          <p:nvPr/>
        </p:nvCxnSpPr>
        <p:spPr>
          <a:xfrm>
            <a:off x="6740706" y="3596949"/>
            <a:ext cx="0" cy="183592"/>
          </a:xfrm>
          <a:prstGeom prst="straightConnector1">
            <a:avLst/>
          </a:prstGeom>
          <a:ln w="285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786935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942643-4B4B-3AF4-2F08-E12BA79BC8F5}"/>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5</a:t>
            </a:fld>
            <a:endParaRPr lang="en-IN" dirty="0"/>
          </a:p>
        </p:txBody>
      </p:sp>
      <p:sp>
        <p:nvSpPr>
          <p:cNvPr id="10" name="TextBox 9">
            <a:extLst>
              <a:ext uri="{FF2B5EF4-FFF2-40B4-BE49-F238E27FC236}">
                <a16:creationId xmlns:a16="http://schemas.microsoft.com/office/drawing/2014/main" id="{D28E8CE0-38BB-43A5-B4EE-22EBF2325B7C}"/>
              </a:ext>
            </a:extLst>
          </p:cNvPr>
          <p:cNvSpPr txBox="1"/>
          <p:nvPr/>
        </p:nvSpPr>
        <p:spPr bwMode="auto">
          <a:xfrm>
            <a:off x="182078" y="4835723"/>
            <a:ext cx="8595233" cy="307777"/>
          </a:xfrm>
          <a:prstGeom prst="rect">
            <a:avLst/>
          </a:prstGeom>
          <a:noFill/>
          <a:ln w="19050" algn="ctr">
            <a:noFill/>
            <a:miter lim="800000"/>
            <a:headEnd/>
            <a:tailEnd/>
          </a:ln>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	Veritas AI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DPA Hackathon 2026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IARE</a:t>
            </a:r>
          </a:p>
        </p:txBody>
      </p:sp>
      <p:pic>
        <p:nvPicPr>
          <p:cNvPr id="7" name="Picture 6">
            <a:extLst>
              <a:ext uri="{FF2B5EF4-FFF2-40B4-BE49-F238E27FC236}">
                <a16:creationId xmlns:a16="http://schemas.microsoft.com/office/drawing/2014/main" id="{663E3B90-F832-4B7C-A832-B10A9043AD70}"/>
              </a:ext>
            </a:extLst>
          </p:cNvPr>
          <p:cNvPicPr>
            <a:picLocks noChangeAspect="1"/>
          </p:cNvPicPr>
          <p:nvPr/>
        </p:nvPicPr>
        <p:blipFill rotWithShape="1">
          <a:blip r:embed="rId3"/>
          <a:srcRect l="-1949" t="31547" r="1949" b="31097"/>
          <a:stretch/>
        </p:blipFill>
        <p:spPr>
          <a:xfrm>
            <a:off x="6384941" y="144570"/>
            <a:ext cx="1905000" cy="711627"/>
          </a:xfrm>
          <a:prstGeom prst="rect">
            <a:avLst/>
          </a:prstGeom>
        </p:spPr>
      </p:pic>
      <p:sp>
        <p:nvSpPr>
          <p:cNvPr id="11" name="object 2">
            <a:extLst>
              <a:ext uri="{FF2B5EF4-FFF2-40B4-BE49-F238E27FC236}">
                <a16:creationId xmlns:a16="http://schemas.microsoft.com/office/drawing/2014/main" id="{D179FC4C-EAB8-4793-B3BD-05E101B4D037}"/>
              </a:ext>
            </a:extLst>
          </p:cNvPr>
          <p:cNvSpPr txBox="1">
            <a:spLocks/>
          </p:cNvSpPr>
          <p:nvPr/>
        </p:nvSpPr>
        <p:spPr>
          <a:xfrm>
            <a:off x="66039" y="188849"/>
            <a:ext cx="7432040" cy="534120"/>
          </a:xfrm>
          <a:prstGeom prst="rect">
            <a:avLst/>
          </a:prstGeom>
        </p:spPr>
        <p:txBody>
          <a:bodyPr vert="horz" wrap="square" lIns="0" tIns="71754" rIns="0" bIns="0" rtlCol="0" anchor="t">
            <a:spAutoFit/>
          </a:bodyPr>
          <a:lst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a:lstStyle>
          <a:p>
            <a:pPr marL="45085">
              <a:lnSpc>
                <a:spcPct val="100000"/>
              </a:lnSpc>
              <a:spcBef>
                <a:spcPts val="105"/>
              </a:spcBef>
            </a:pPr>
            <a:r>
              <a:rPr lang="en-IN" spc="-30" dirty="0">
                <a:latin typeface="Times New Roman" panose="02020603050405020304" pitchFamily="18" charset="0"/>
                <a:cs typeface="Times New Roman" panose="02020603050405020304" pitchFamily="18" charset="0"/>
              </a:rPr>
              <a:t>Technology Stack &amp; Backend Design</a:t>
            </a:r>
          </a:p>
        </p:txBody>
      </p:sp>
      <p:sp>
        <p:nvSpPr>
          <p:cNvPr id="44" name="Rounded Rectangle 6">
            <a:extLst>
              <a:ext uri="{FF2B5EF4-FFF2-40B4-BE49-F238E27FC236}">
                <a16:creationId xmlns:a16="http://schemas.microsoft.com/office/drawing/2014/main" id="{E9833F9E-CE6F-4972-8446-8D50B2C27D43}"/>
              </a:ext>
            </a:extLst>
          </p:cNvPr>
          <p:cNvSpPr/>
          <p:nvPr/>
        </p:nvSpPr>
        <p:spPr>
          <a:xfrm>
            <a:off x="182078" y="1217294"/>
            <a:ext cx="2777559" cy="2412455"/>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45" name="Rounded Rectangle 7">
            <a:extLst>
              <a:ext uri="{FF2B5EF4-FFF2-40B4-BE49-F238E27FC236}">
                <a16:creationId xmlns:a16="http://schemas.microsoft.com/office/drawing/2014/main" id="{A41B8E55-B9F6-4D51-B230-503B5190A2C4}"/>
              </a:ext>
            </a:extLst>
          </p:cNvPr>
          <p:cNvSpPr/>
          <p:nvPr/>
        </p:nvSpPr>
        <p:spPr>
          <a:xfrm>
            <a:off x="751061" y="1388295"/>
            <a:ext cx="1480679" cy="254432"/>
          </a:xfrm>
          <a:prstGeom prst="roundRect">
            <a:avLst/>
          </a:prstGeom>
          <a:solidFill>
            <a:srgbClr val="0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865D3DC1-6C1B-496D-A94B-CB54889E651E}"/>
              </a:ext>
            </a:extLst>
          </p:cNvPr>
          <p:cNvSpPr txBox="1"/>
          <p:nvPr/>
        </p:nvSpPr>
        <p:spPr>
          <a:xfrm>
            <a:off x="680135" y="1409522"/>
            <a:ext cx="1641412" cy="203133"/>
          </a:xfrm>
          <a:prstGeom prst="rect">
            <a:avLst/>
          </a:prstGeom>
          <a:noFill/>
        </p:spPr>
        <p:txBody>
          <a:bodyPr wrap="square" lIns="18288" tIns="9144" rIns="18288" bIns="9144" anchor="ctr">
            <a:spAutoFit/>
          </a:bodyPr>
          <a:lstStyle/>
          <a:p>
            <a:pPr algn="ctr"/>
            <a:r>
              <a:rPr lang="en-IN" sz="1200" b="1" dirty="0">
                <a:solidFill>
                  <a:srgbClr val="FFFFFF"/>
                </a:solidFill>
                <a:latin typeface="Times New Roman" panose="02020603050405020304" pitchFamily="18" charset="0"/>
                <a:cs typeface="Times New Roman" panose="02020603050405020304" pitchFamily="18" charset="0"/>
              </a:rPr>
              <a:t>FRONTEND</a:t>
            </a:r>
            <a:endParaRPr sz="1200" b="1" dirty="0">
              <a:solidFill>
                <a:srgbClr val="FFFFFF"/>
              </a:solidFill>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AC486527-F1F1-454B-AE27-F081B7317FA3}"/>
              </a:ext>
            </a:extLst>
          </p:cNvPr>
          <p:cNvSpPr txBox="1"/>
          <p:nvPr/>
        </p:nvSpPr>
        <p:spPr>
          <a:xfrm>
            <a:off x="337463" y="1744911"/>
            <a:ext cx="2516254" cy="1769715"/>
          </a:xfrm>
          <a:prstGeom prst="rect">
            <a:avLst/>
          </a:prstGeom>
          <a:noFill/>
        </p:spPr>
        <p:txBody>
          <a:bodyPr wrap="square">
            <a:spAutoFit/>
          </a:bodyPr>
          <a:lstStyle/>
          <a:p>
            <a:pPr marL="171450" indent="-171450">
              <a:spcAft>
                <a:spcPts val="500"/>
              </a:spcAft>
              <a:buFont typeface="Arial" panose="020B0604020202020204" pitchFamily="34" charset="0"/>
              <a:buChar char="•"/>
              <a:defRPr sz="1200">
                <a:solidFill>
                  <a:srgbClr val="1E2834"/>
                </a:solidFill>
                <a:latin typeface="Times New Roman"/>
              </a:defRPr>
            </a:pPr>
            <a:r>
              <a:rPr lang="en-IN" sz="1200" dirty="0">
                <a:latin typeface="Times New Roman" panose="02020603050405020304" pitchFamily="18" charset="0"/>
                <a:cs typeface="Times New Roman" panose="02020603050405020304" pitchFamily="18" charset="0"/>
              </a:rPr>
              <a:t>React</a:t>
            </a:r>
            <a:endParaRPr lang="en-IN" sz="1200" dirty="0">
              <a:solidFill>
                <a:srgbClr val="1E2834"/>
              </a:solidFill>
              <a:latin typeface="Times New Roman" panose="02020603050405020304" pitchFamily="18" charset="0"/>
              <a:cs typeface="Times New Roman" panose="02020603050405020304" pitchFamily="18" charset="0"/>
            </a:endParaRPr>
          </a:p>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a:solidFill>
                  <a:srgbClr val="1E2834"/>
                </a:solidFill>
                <a:latin typeface="Times New Roman" panose="02020603050405020304" pitchFamily="18" charset="0"/>
                <a:cs typeface="Times New Roman" panose="02020603050405020304" pitchFamily="18" charset="0"/>
              </a:rPr>
              <a:t>TypeScript</a:t>
            </a:r>
          </a:p>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err="1">
                <a:solidFill>
                  <a:srgbClr val="1E2834"/>
                </a:solidFill>
                <a:latin typeface="Times New Roman" panose="02020603050405020304" pitchFamily="18" charset="0"/>
                <a:cs typeface="Times New Roman" panose="02020603050405020304" pitchFamily="18" charset="0"/>
              </a:rPr>
              <a:t>Vite</a:t>
            </a:r>
            <a:endParaRPr lang="en-IN" sz="1200" dirty="0">
              <a:solidFill>
                <a:srgbClr val="1E2834"/>
              </a:solidFill>
              <a:latin typeface="Times New Roman" panose="02020603050405020304" pitchFamily="18" charset="0"/>
              <a:cs typeface="Times New Roman" panose="02020603050405020304" pitchFamily="18" charset="0"/>
            </a:endParaRPr>
          </a:p>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a:solidFill>
                  <a:srgbClr val="1E2834"/>
                </a:solidFill>
                <a:latin typeface="Times New Roman" panose="02020603050405020304" pitchFamily="18" charset="0"/>
                <a:cs typeface="Times New Roman" panose="02020603050405020304" pitchFamily="18" charset="0"/>
              </a:rPr>
              <a:t>Tailwind CSS</a:t>
            </a:r>
          </a:p>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a:solidFill>
                  <a:srgbClr val="1E2834"/>
                </a:solidFill>
                <a:latin typeface="Times New Roman" panose="02020603050405020304" pitchFamily="18" charset="0"/>
                <a:cs typeface="Times New Roman" panose="02020603050405020304" pitchFamily="18" charset="0"/>
              </a:rPr>
              <a:t>React Router</a:t>
            </a:r>
          </a:p>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a:solidFill>
                  <a:srgbClr val="1E2834"/>
                </a:solidFill>
                <a:latin typeface="Times New Roman" panose="02020603050405020304" pitchFamily="18" charset="0"/>
                <a:cs typeface="Times New Roman" panose="02020603050405020304" pitchFamily="18" charset="0"/>
              </a:rPr>
              <a:t>Recharts</a:t>
            </a:r>
            <a:endParaRPr lang="en-IN" sz="1200" dirty="0">
              <a:solidFill>
                <a:srgbClr val="1E2834"/>
              </a:solidFill>
              <a:latin typeface="Times New Roman" panose="02020603050405020304" pitchFamily="18" charset="0"/>
              <a:cs typeface="Times New Roman" panose="02020603050405020304" pitchFamily="18" charset="0"/>
            </a:endParaRPr>
          </a:p>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err="1">
                <a:solidFill>
                  <a:srgbClr val="1E2834"/>
                </a:solidFill>
                <a:latin typeface="Times New Roman" panose="02020603050405020304" pitchFamily="18" charset="0"/>
                <a:cs typeface="Times New Roman" panose="02020603050405020304" pitchFamily="18" charset="0"/>
              </a:rPr>
              <a:t>Lucide</a:t>
            </a:r>
            <a:r>
              <a:rPr lang="en-IN" sz="1200" b="0" dirty="0">
                <a:solidFill>
                  <a:srgbClr val="1E2834"/>
                </a:solidFill>
                <a:latin typeface="Times New Roman" panose="02020603050405020304" pitchFamily="18" charset="0"/>
                <a:cs typeface="Times New Roman" panose="02020603050405020304" pitchFamily="18" charset="0"/>
              </a:rPr>
              <a:t> React</a:t>
            </a:r>
          </a:p>
        </p:txBody>
      </p:sp>
      <p:sp>
        <p:nvSpPr>
          <p:cNvPr id="96" name="object 3">
            <a:extLst>
              <a:ext uri="{FF2B5EF4-FFF2-40B4-BE49-F238E27FC236}">
                <a16:creationId xmlns:a16="http://schemas.microsoft.com/office/drawing/2014/main" id="{02C969AF-60CD-4745-8626-25F8AF3CE1E9}"/>
              </a:ext>
            </a:extLst>
          </p:cNvPr>
          <p:cNvSpPr txBox="1"/>
          <p:nvPr/>
        </p:nvSpPr>
        <p:spPr>
          <a:xfrm>
            <a:off x="59421" y="4496705"/>
            <a:ext cx="8836596" cy="198131"/>
          </a:xfrm>
          <a:prstGeom prst="rect">
            <a:avLst/>
          </a:prstGeom>
        </p:spPr>
        <p:txBody>
          <a:bodyPr vert="horz" wrap="square" lIns="0" tIns="13335" rIns="0" bIns="0" rtlCol="0" anchor="t">
            <a:spAutoFit/>
          </a:bodyPr>
          <a:lstStyle/>
          <a:p>
            <a:pPr marL="285750" indent="-285750" algn="just">
              <a:buClr>
                <a:srgbClr val="005093"/>
              </a:buClr>
              <a:buFont typeface="Wingdings" panose="05000000000000000000" pitchFamily="2" charset="2"/>
              <a:buChar char="Ø"/>
              <a:tabLst>
                <a:tab pos="180340" algn="l"/>
                <a:tab pos="292735" algn="l"/>
              </a:tabLst>
            </a:pPr>
            <a:r>
              <a:rPr lang="en-US" sz="1200" dirty="0">
                <a:solidFill>
                  <a:srgbClr val="525252"/>
                </a:solidFill>
                <a:latin typeface="Times New Roman" panose="02020603050405020304" pitchFamily="18" charset="0"/>
                <a:cs typeface="Times New Roman" panose="02020603050405020304" pitchFamily="18" charset="0"/>
              </a:rPr>
              <a:t>One stored record can feed classification, complaint counts, route ratings, time analysis and deterioration detection.</a:t>
            </a:r>
          </a:p>
        </p:txBody>
      </p:sp>
      <p:sp>
        <p:nvSpPr>
          <p:cNvPr id="115" name="Rounded Rectangle 6">
            <a:extLst>
              <a:ext uri="{FF2B5EF4-FFF2-40B4-BE49-F238E27FC236}">
                <a16:creationId xmlns:a16="http://schemas.microsoft.com/office/drawing/2014/main" id="{AE4A77F6-FAB5-4BBB-A1F0-9B0706A477A7}"/>
              </a:ext>
            </a:extLst>
          </p:cNvPr>
          <p:cNvSpPr/>
          <p:nvPr/>
        </p:nvSpPr>
        <p:spPr>
          <a:xfrm>
            <a:off x="3105528" y="1238768"/>
            <a:ext cx="2777559" cy="2390981"/>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18" name="TextBox 117">
            <a:extLst>
              <a:ext uri="{FF2B5EF4-FFF2-40B4-BE49-F238E27FC236}">
                <a16:creationId xmlns:a16="http://schemas.microsoft.com/office/drawing/2014/main" id="{240308F9-FFB7-4A61-8C35-90A80C58D532}"/>
              </a:ext>
            </a:extLst>
          </p:cNvPr>
          <p:cNvSpPr txBox="1"/>
          <p:nvPr/>
        </p:nvSpPr>
        <p:spPr>
          <a:xfrm>
            <a:off x="3313873" y="1761680"/>
            <a:ext cx="2516254" cy="1769715"/>
          </a:xfrm>
          <a:prstGeom prst="rect">
            <a:avLst/>
          </a:prstGeom>
          <a:noFill/>
        </p:spPr>
        <p:txBody>
          <a:bodyPr wrap="square">
            <a:spAutoFit/>
          </a:bodyPr>
          <a:lstStyle/>
          <a:p>
            <a:pPr marL="171450" indent="-171450">
              <a:spcAft>
                <a:spcPts val="500"/>
              </a:spcAft>
              <a:buFont typeface="Arial" panose="020B0604020202020204" pitchFamily="34" charset="0"/>
              <a:buChar char="•"/>
              <a:defRPr sz="1200">
                <a:solidFill>
                  <a:srgbClr val="1E2834"/>
                </a:solidFill>
                <a:latin typeface="Times New Roman"/>
              </a:defRPr>
            </a:pPr>
            <a:r>
              <a:rPr lang="en-IN" sz="1200" dirty="0">
                <a:latin typeface="Times New Roman" panose="02020603050405020304" pitchFamily="18" charset="0"/>
                <a:cs typeface="Times New Roman" panose="02020603050405020304" pitchFamily="18" charset="0"/>
              </a:rPr>
              <a:t>Python</a:t>
            </a:r>
            <a:endParaRPr lang="en-IN" sz="1200" dirty="0">
              <a:solidFill>
                <a:srgbClr val="1E2834"/>
              </a:solidFill>
              <a:latin typeface="Times New Roman" panose="02020603050405020304" pitchFamily="18" charset="0"/>
              <a:cs typeface="Times New Roman" panose="02020603050405020304" pitchFamily="18" charset="0"/>
            </a:endParaRPr>
          </a:p>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err="1">
                <a:solidFill>
                  <a:srgbClr val="1E2834"/>
                </a:solidFill>
                <a:latin typeface="Times New Roman" panose="02020603050405020304" pitchFamily="18" charset="0"/>
                <a:cs typeface="Times New Roman" panose="02020603050405020304" pitchFamily="18" charset="0"/>
              </a:rPr>
              <a:t>FastAPI</a:t>
            </a:r>
            <a:endParaRPr lang="en-IN" sz="1200" b="0" dirty="0">
              <a:solidFill>
                <a:srgbClr val="1E2834"/>
              </a:solidFill>
              <a:latin typeface="Times New Roman" panose="02020603050405020304" pitchFamily="18" charset="0"/>
              <a:cs typeface="Times New Roman" panose="02020603050405020304" pitchFamily="18" charset="0"/>
            </a:endParaRPr>
          </a:p>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err="1">
                <a:solidFill>
                  <a:srgbClr val="1E2834"/>
                </a:solidFill>
                <a:latin typeface="Times New Roman" panose="02020603050405020304" pitchFamily="18" charset="0"/>
                <a:cs typeface="Times New Roman" panose="02020603050405020304" pitchFamily="18" charset="0"/>
              </a:rPr>
              <a:t>Uvicorn</a:t>
            </a:r>
            <a:endParaRPr lang="en-IN" sz="1200" dirty="0">
              <a:solidFill>
                <a:srgbClr val="1E2834"/>
              </a:solidFill>
              <a:latin typeface="Times New Roman" panose="02020603050405020304" pitchFamily="18" charset="0"/>
              <a:cs typeface="Times New Roman" panose="02020603050405020304" pitchFamily="18" charset="0"/>
            </a:endParaRPr>
          </a:p>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err="1">
                <a:solidFill>
                  <a:srgbClr val="1E2834"/>
                </a:solidFill>
                <a:latin typeface="Times New Roman" panose="02020603050405020304" pitchFamily="18" charset="0"/>
                <a:cs typeface="Times New Roman" panose="02020603050405020304" pitchFamily="18" charset="0"/>
              </a:rPr>
              <a:t>Pydantic</a:t>
            </a:r>
            <a:r>
              <a:rPr lang="en-IN" sz="1200" b="0" dirty="0">
                <a:solidFill>
                  <a:srgbClr val="1E2834"/>
                </a:solidFill>
                <a:latin typeface="Times New Roman" panose="02020603050405020304" pitchFamily="18" charset="0"/>
                <a:cs typeface="Times New Roman" panose="02020603050405020304" pitchFamily="18" charset="0"/>
              </a:rPr>
              <a:t> </a:t>
            </a:r>
          </a:p>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a:solidFill>
                  <a:srgbClr val="1E2834"/>
                </a:solidFill>
                <a:latin typeface="Times New Roman" panose="02020603050405020304" pitchFamily="18" charset="0"/>
                <a:cs typeface="Times New Roman" panose="02020603050405020304" pitchFamily="18" charset="0"/>
              </a:rPr>
              <a:t>React Router</a:t>
            </a:r>
          </a:p>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a:solidFill>
                  <a:srgbClr val="1E2834"/>
                </a:solidFill>
                <a:latin typeface="Times New Roman" panose="02020603050405020304" pitchFamily="18" charset="0"/>
                <a:cs typeface="Times New Roman" panose="02020603050405020304" pitchFamily="18" charset="0"/>
              </a:rPr>
              <a:t>SQL Alchemy</a:t>
            </a:r>
            <a:endParaRPr lang="en-IN" sz="1200" dirty="0">
              <a:solidFill>
                <a:srgbClr val="1E2834"/>
              </a:solidFill>
              <a:latin typeface="Times New Roman" panose="02020603050405020304" pitchFamily="18" charset="0"/>
              <a:cs typeface="Times New Roman" panose="02020603050405020304" pitchFamily="18" charset="0"/>
            </a:endParaRPr>
          </a:p>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a:solidFill>
                  <a:srgbClr val="1E2834"/>
                </a:solidFill>
                <a:latin typeface="Times New Roman" panose="02020603050405020304" pitchFamily="18" charset="0"/>
                <a:cs typeface="Times New Roman" panose="02020603050405020304" pitchFamily="18" charset="0"/>
              </a:rPr>
              <a:t>JWT authentication</a:t>
            </a:r>
          </a:p>
        </p:txBody>
      </p:sp>
      <p:sp>
        <p:nvSpPr>
          <p:cNvPr id="120" name="Rounded Rectangle 17">
            <a:extLst>
              <a:ext uri="{FF2B5EF4-FFF2-40B4-BE49-F238E27FC236}">
                <a16:creationId xmlns:a16="http://schemas.microsoft.com/office/drawing/2014/main" id="{6E30D421-6707-41D6-8C43-55467FB3FB47}"/>
              </a:ext>
            </a:extLst>
          </p:cNvPr>
          <p:cNvSpPr/>
          <p:nvPr/>
        </p:nvSpPr>
        <p:spPr>
          <a:xfrm>
            <a:off x="3805233" y="1395074"/>
            <a:ext cx="1480679" cy="233172"/>
          </a:xfrm>
          <a:prstGeom prst="roundRect">
            <a:avLst/>
          </a:prstGeom>
          <a:solidFill>
            <a:srgbClr val="DD8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21" name="TextBox 120">
            <a:extLst>
              <a:ext uri="{FF2B5EF4-FFF2-40B4-BE49-F238E27FC236}">
                <a16:creationId xmlns:a16="http://schemas.microsoft.com/office/drawing/2014/main" id="{F42893CC-2A92-411B-8562-788AE7B1A79A}"/>
              </a:ext>
            </a:extLst>
          </p:cNvPr>
          <p:cNvSpPr txBox="1"/>
          <p:nvPr/>
        </p:nvSpPr>
        <p:spPr>
          <a:xfrm>
            <a:off x="3724866" y="1404751"/>
            <a:ext cx="1641412" cy="203133"/>
          </a:xfrm>
          <a:prstGeom prst="rect">
            <a:avLst/>
          </a:prstGeom>
          <a:noFill/>
        </p:spPr>
        <p:txBody>
          <a:bodyPr wrap="square" lIns="18288" tIns="9144" rIns="18288" bIns="9144" anchor="ctr">
            <a:spAutoFit/>
          </a:bodyPr>
          <a:lstStyle/>
          <a:p>
            <a:pPr algn="ctr"/>
            <a:r>
              <a:rPr lang="en-IN" sz="1200" b="1" dirty="0">
                <a:solidFill>
                  <a:srgbClr val="FFFFFF"/>
                </a:solidFill>
                <a:latin typeface="Times New Roman" panose="02020603050405020304" pitchFamily="18" charset="0"/>
                <a:cs typeface="Times New Roman" panose="02020603050405020304" pitchFamily="18" charset="0"/>
              </a:rPr>
              <a:t>BACKEND</a:t>
            </a:r>
            <a:endParaRPr sz="1200" b="1" dirty="0">
              <a:solidFill>
                <a:srgbClr val="FFFFFF"/>
              </a:solidFill>
              <a:latin typeface="Times New Roman" panose="02020603050405020304" pitchFamily="18" charset="0"/>
              <a:cs typeface="Times New Roman" panose="02020603050405020304" pitchFamily="18" charset="0"/>
            </a:endParaRPr>
          </a:p>
        </p:txBody>
      </p:sp>
      <p:sp>
        <p:nvSpPr>
          <p:cNvPr id="122" name="Rounded Rectangle 6">
            <a:extLst>
              <a:ext uri="{FF2B5EF4-FFF2-40B4-BE49-F238E27FC236}">
                <a16:creationId xmlns:a16="http://schemas.microsoft.com/office/drawing/2014/main" id="{A5E75797-A9BE-4A0A-A8A6-85E97E1546B0}"/>
              </a:ext>
            </a:extLst>
          </p:cNvPr>
          <p:cNvSpPr/>
          <p:nvPr/>
        </p:nvSpPr>
        <p:spPr>
          <a:xfrm>
            <a:off x="6028978" y="1238376"/>
            <a:ext cx="2777559" cy="2390981"/>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23" name="TextBox 122">
            <a:extLst>
              <a:ext uri="{FF2B5EF4-FFF2-40B4-BE49-F238E27FC236}">
                <a16:creationId xmlns:a16="http://schemas.microsoft.com/office/drawing/2014/main" id="{E1CB3900-E14C-4DAC-94B4-F168EBBE561F}"/>
              </a:ext>
            </a:extLst>
          </p:cNvPr>
          <p:cNvSpPr txBox="1"/>
          <p:nvPr/>
        </p:nvSpPr>
        <p:spPr>
          <a:xfrm>
            <a:off x="6239952" y="1736223"/>
            <a:ext cx="2516254" cy="1272143"/>
          </a:xfrm>
          <a:prstGeom prst="rect">
            <a:avLst/>
          </a:prstGeom>
          <a:noFill/>
        </p:spPr>
        <p:txBody>
          <a:bodyPr wrap="square">
            <a:spAutoFit/>
          </a:bodyPr>
          <a:lstStyle/>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a:solidFill>
                  <a:srgbClr val="1E2834"/>
                </a:solidFill>
                <a:latin typeface="Times New Roman" panose="02020603050405020304" pitchFamily="18" charset="0"/>
                <a:cs typeface="Times New Roman" panose="02020603050405020304" pitchFamily="18" charset="0"/>
              </a:rPr>
              <a:t>Pandas</a:t>
            </a:r>
            <a:endParaRPr lang="en-IN" sz="1200" dirty="0">
              <a:solidFill>
                <a:srgbClr val="1E2834"/>
              </a:solidFill>
              <a:latin typeface="Times New Roman" panose="02020603050405020304" pitchFamily="18" charset="0"/>
              <a:cs typeface="Times New Roman" panose="02020603050405020304" pitchFamily="18" charset="0"/>
            </a:endParaRPr>
          </a:p>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a:solidFill>
                  <a:srgbClr val="1E2834"/>
                </a:solidFill>
                <a:latin typeface="Times New Roman" panose="02020603050405020304" pitchFamily="18" charset="0"/>
                <a:cs typeface="Times New Roman" panose="02020603050405020304" pitchFamily="18" charset="0"/>
              </a:rPr>
              <a:t>NumPy</a:t>
            </a:r>
          </a:p>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a:solidFill>
                  <a:srgbClr val="1E2834"/>
                </a:solidFill>
                <a:latin typeface="Times New Roman" panose="02020603050405020304" pitchFamily="18" charset="0"/>
                <a:cs typeface="Times New Roman" panose="02020603050405020304" pitchFamily="18" charset="0"/>
              </a:rPr>
              <a:t>Rule-based NLP </a:t>
            </a:r>
          </a:p>
          <a:p>
            <a:pPr marL="171450" indent="-171450">
              <a:spcAft>
                <a:spcPts val="500"/>
              </a:spcAft>
              <a:buFont typeface="Arial" panose="020B0604020202020204" pitchFamily="34" charset="0"/>
              <a:buChar char="•"/>
              <a:defRPr sz="1200">
                <a:solidFill>
                  <a:srgbClr val="1E2834"/>
                </a:solidFill>
                <a:latin typeface="Times New Roman"/>
              </a:defRPr>
            </a:pPr>
            <a:r>
              <a:rPr lang="en-IN" sz="1200" b="0" dirty="0">
                <a:solidFill>
                  <a:srgbClr val="1E2834"/>
                </a:solidFill>
                <a:latin typeface="Times New Roman" panose="02020603050405020304" pitchFamily="18" charset="0"/>
                <a:cs typeface="Times New Roman" panose="02020603050405020304" pitchFamily="18" charset="0"/>
              </a:rPr>
              <a:t>Local LLM integration path</a:t>
            </a:r>
          </a:p>
          <a:p>
            <a:pPr marL="171450" indent="-171450">
              <a:spcAft>
                <a:spcPts val="500"/>
              </a:spcAft>
              <a:buFont typeface="Arial" panose="020B0604020202020204" pitchFamily="34" charset="0"/>
              <a:buChar char="•"/>
              <a:defRPr sz="1200">
                <a:solidFill>
                  <a:srgbClr val="1E2834"/>
                </a:solidFill>
                <a:latin typeface="Times New Roman"/>
              </a:defRPr>
            </a:pPr>
            <a:endParaRPr lang="en-IN" sz="1200" b="0" dirty="0">
              <a:solidFill>
                <a:srgbClr val="1E2834"/>
              </a:solidFill>
              <a:latin typeface="Times New Roman" panose="02020603050405020304" pitchFamily="18" charset="0"/>
              <a:cs typeface="Times New Roman" panose="02020603050405020304" pitchFamily="18" charset="0"/>
            </a:endParaRPr>
          </a:p>
        </p:txBody>
      </p:sp>
      <p:sp>
        <p:nvSpPr>
          <p:cNvPr id="127" name="Rounded Rectangle 27">
            <a:extLst>
              <a:ext uri="{FF2B5EF4-FFF2-40B4-BE49-F238E27FC236}">
                <a16:creationId xmlns:a16="http://schemas.microsoft.com/office/drawing/2014/main" id="{DFD290F5-135E-4A26-A83B-7D7EF53A1C77}"/>
              </a:ext>
            </a:extLst>
          </p:cNvPr>
          <p:cNvSpPr/>
          <p:nvPr/>
        </p:nvSpPr>
        <p:spPr>
          <a:xfrm>
            <a:off x="6731312" y="1369617"/>
            <a:ext cx="1480678" cy="243340"/>
          </a:xfrm>
          <a:prstGeom prst="roundRect">
            <a:avLst/>
          </a:prstGeom>
          <a:solidFill>
            <a:srgbClr val="B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200">
              <a:latin typeface="Times New Roman" panose="02020603050405020304" pitchFamily="18" charset="0"/>
              <a:cs typeface="Times New Roman" panose="02020603050405020304" pitchFamily="18" charset="0"/>
            </a:endParaRPr>
          </a:p>
        </p:txBody>
      </p:sp>
      <p:sp>
        <p:nvSpPr>
          <p:cNvPr id="128" name="TextBox 127">
            <a:extLst>
              <a:ext uri="{FF2B5EF4-FFF2-40B4-BE49-F238E27FC236}">
                <a16:creationId xmlns:a16="http://schemas.microsoft.com/office/drawing/2014/main" id="{6108112D-0AB9-466B-AD77-F8DD01469240}"/>
              </a:ext>
            </a:extLst>
          </p:cNvPr>
          <p:cNvSpPr txBox="1"/>
          <p:nvPr/>
        </p:nvSpPr>
        <p:spPr>
          <a:xfrm>
            <a:off x="6622854" y="1379685"/>
            <a:ext cx="1641412" cy="203133"/>
          </a:xfrm>
          <a:prstGeom prst="rect">
            <a:avLst/>
          </a:prstGeom>
          <a:noFill/>
        </p:spPr>
        <p:txBody>
          <a:bodyPr wrap="square" lIns="18288" tIns="9144" rIns="18288" bIns="9144" anchor="ctr">
            <a:spAutoFit/>
          </a:bodyPr>
          <a:lstStyle/>
          <a:p>
            <a:pPr algn="ctr"/>
            <a:r>
              <a:rPr lang="en-IN" sz="1200" b="1" dirty="0">
                <a:solidFill>
                  <a:srgbClr val="FFFFFF"/>
                </a:solidFill>
                <a:latin typeface="Times New Roman" panose="02020603050405020304" pitchFamily="18" charset="0"/>
                <a:cs typeface="Times New Roman" panose="02020603050405020304" pitchFamily="18" charset="0"/>
              </a:rPr>
              <a:t>ANALYTICS / AI</a:t>
            </a:r>
          </a:p>
        </p:txBody>
      </p:sp>
      <p:sp>
        <p:nvSpPr>
          <p:cNvPr id="129" name="Rounded Rectangle 32">
            <a:extLst>
              <a:ext uri="{FF2B5EF4-FFF2-40B4-BE49-F238E27FC236}">
                <a16:creationId xmlns:a16="http://schemas.microsoft.com/office/drawing/2014/main" id="{08999DA0-6F27-4CC4-8FB1-D52B3E95F80F}"/>
              </a:ext>
            </a:extLst>
          </p:cNvPr>
          <p:cNvSpPr/>
          <p:nvPr/>
        </p:nvSpPr>
        <p:spPr>
          <a:xfrm>
            <a:off x="256122" y="3727429"/>
            <a:ext cx="8565173" cy="570464"/>
          </a:xfrm>
          <a:prstGeom prst="roundRect">
            <a:avLst/>
          </a:prstGeom>
          <a:solidFill>
            <a:srgbClr val="F6F8FA"/>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30" name="TextBox 129">
            <a:extLst>
              <a:ext uri="{FF2B5EF4-FFF2-40B4-BE49-F238E27FC236}">
                <a16:creationId xmlns:a16="http://schemas.microsoft.com/office/drawing/2014/main" id="{18374978-FEF4-4B19-A4A5-47F613039D6C}"/>
              </a:ext>
            </a:extLst>
          </p:cNvPr>
          <p:cNvSpPr txBox="1"/>
          <p:nvPr/>
        </p:nvSpPr>
        <p:spPr>
          <a:xfrm>
            <a:off x="322705" y="3807502"/>
            <a:ext cx="1009537" cy="387798"/>
          </a:xfrm>
          <a:prstGeom prst="rect">
            <a:avLst/>
          </a:prstGeom>
          <a:noFill/>
        </p:spPr>
        <p:txBody>
          <a:bodyPr wrap="square" lIns="18288" tIns="9144" rIns="18288" bIns="9144" anchor="t">
            <a:spAutoFit/>
          </a:bodyPr>
          <a:lstStyle/>
          <a:p>
            <a:pPr algn="l"/>
            <a:r>
              <a:rPr sz="1200" b="1" dirty="0">
                <a:solidFill>
                  <a:srgbClr val="003E73"/>
                </a:solidFill>
                <a:latin typeface="Times New Roman" panose="02020603050405020304" pitchFamily="18" charset="0"/>
                <a:cs typeface="Times New Roman" panose="02020603050405020304" pitchFamily="18" charset="0"/>
              </a:rPr>
              <a:t>FEEDBACK RECORD</a:t>
            </a:r>
          </a:p>
        </p:txBody>
      </p:sp>
      <p:sp>
        <p:nvSpPr>
          <p:cNvPr id="131" name="Rounded Rectangle 34">
            <a:extLst>
              <a:ext uri="{FF2B5EF4-FFF2-40B4-BE49-F238E27FC236}">
                <a16:creationId xmlns:a16="http://schemas.microsoft.com/office/drawing/2014/main" id="{8A0BDF82-35CA-4AFE-9E9E-4D338D562BC4}"/>
              </a:ext>
            </a:extLst>
          </p:cNvPr>
          <p:cNvSpPr/>
          <p:nvPr/>
        </p:nvSpPr>
        <p:spPr>
          <a:xfrm>
            <a:off x="1356023" y="3849303"/>
            <a:ext cx="591798" cy="366215"/>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32" name="TextBox 131">
            <a:extLst>
              <a:ext uri="{FF2B5EF4-FFF2-40B4-BE49-F238E27FC236}">
                <a16:creationId xmlns:a16="http://schemas.microsoft.com/office/drawing/2014/main" id="{20B7844D-D624-4B19-9786-14D0E53DAFEF}"/>
              </a:ext>
            </a:extLst>
          </p:cNvPr>
          <p:cNvSpPr txBox="1"/>
          <p:nvPr/>
        </p:nvSpPr>
        <p:spPr>
          <a:xfrm>
            <a:off x="1369740" y="3882699"/>
            <a:ext cx="563948" cy="172355"/>
          </a:xfrm>
          <a:prstGeom prst="rect">
            <a:avLst/>
          </a:prstGeom>
          <a:noFill/>
        </p:spPr>
        <p:txBody>
          <a:bodyPr wrap="square" lIns="18288" tIns="9144" rIns="18288" bIns="9144" anchor="t">
            <a:spAutoFit/>
          </a:bodyPr>
          <a:lstStyle/>
          <a:p>
            <a:pPr algn="ctr"/>
            <a:r>
              <a:rPr sz="1000" b="1" dirty="0">
                <a:solidFill>
                  <a:srgbClr val="4E5865"/>
                </a:solidFill>
                <a:latin typeface="Times New Roman" panose="02020603050405020304" pitchFamily="18" charset="0"/>
                <a:cs typeface="Times New Roman" panose="02020603050405020304" pitchFamily="18" charset="0"/>
              </a:rPr>
              <a:t>route</a:t>
            </a:r>
          </a:p>
        </p:txBody>
      </p:sp>
      <p:sp>
        <p:nvSpPr>
          <p:cNvPr id="134" name="TextBox 133">
            <a:extLst>
              <a:ext uri="{FF2B5EF4-FFF2-40B4-BE49-F238E27FC236}">
                <a16:creationId xmlns:a16="http://schemas.microsoft.com/office/drawing/2014/main" id="{68A7B60B-29D9-46F3-ABE6-5A4E05B58CA1}"/>
              </a:ext>
            </a:extLst>
          </p:cNvPr>
          <p:cNvSpPr txBox="1"/>
          <p:nvPr/>
        </p:nvSpPr>
        <p:spPr>
          <a:xfrm>
            <a:off x="2162395" y="3889275"/>
            <a:ext cx="563948" cy="203133"/>
          </a:xfrm>
          <a:prstGeom prst="rect">
            <a:avLst/>
          </a:prstGeom>
          <a:noFill/>
        </p:spPr>
        <p:txBody>
          <a:bodyPr wrap="square" lIns="18288" tIns="9144" rIns="18288" bIns="9144" anchor="t">
            <a:spAutoFit/>
          </a:bodyPr>
          <a:lstStyle/>
          <a:p>
            <a:pPr algn="ctr"/>
            <a:r>
              <a:rPr sz="1200" b="1" dirty="0">
                <a:solidFill>
                  <a:srgbClr val="4E5865"/>
                </a:solidFill>
                <a:latin typeface="Times New Roman" panose="02020603050405020304" pitchFamily="18" charset="0"/>
                <a:cs typeface="Times New Roman" panose="02020603050405020304" pitchFamily="18" charset="0"/>
              </a:rPr>
              <a:t>trip</a:t>
            </a:r>
          </a:p>
        </p:txBody>
      </p:sp>
      <p:sp>
        <p:nvSpPr>
          <p:cNvPr id="135" name="Rounded Rectangle 38">
            <a:extLst>
              <a:ext uri="{FF2B5EF4-FFF2-40B4-BE49-F238E27FC236}">
                <a16:creationId xmlns:a16="http://schemas.microsoft.com/office/drawing/2014/main" id="{18594605-28D8-4543-909E-EBACA3030E4C}"/>
              </a:ext>
            </a:extLst>
          </p:cNvPr>
          <p:cNvSpPr/>
          <p:nvPr/>
        </p:nvSpPr>
        <p:spPr>
          <a:xfrm>
            <a:off x="2862538" y="3846424"/>
            <a:ext cx="814593" cy="372425"/>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36" name="TextBox 135">
            <a:extLst>
              <a:ext uri="{FF2B5EF4-FFF2-40B4-BE49-F238E27FC236}">
                <a16:creationId xmlns:a16="http://schemas.microsoft.com/office/drawing/2014/main" id="{670827ED-9C9D-426C-ADD3-00F59E50AF12}"/>
              </a:ext>
            </a:extLst>
          </p:cNvPr>
          <p:cNvSpPr txBox="1"/>
          <p:nvPr/>
        </p:nvSpPr>
        <p:spPr>
          <a:xfrm>
            <a:off x="2899399" y="3879820"/>
            <a:ext cx="786742" cy="326243"/>
          </a:xfrm>
          <a:prstGeom prst="rect">
            <a:avLst/>
          </a:prstGeom>
          <a:noFill/>
        </p:spPr>
        <p:txBody>
          <a:bodyPr wrap="square" lIns="18288" tIns="9144" rIns="18288" bIns="9144" anchor="t">
            <a:spAutoFit/>
          </a:bodyPr>
          <a:lstStyle/>
          <a:p>
            <a:pPr algn="ctr"/>
            <a:r>
              <a:rPr sz="1000" b="1" dirty="0">
                <a:solidFill>
                  <a:srgbClr val="4E5865"/>
                </a:solidFill>
                <a:latin typeface="Times New Roman" panose="02020603050405020304" pitchFamily="18" charset="0"/>
                <a:cs typeface="Times New Roman" panose="02020603050405020304" pitchFamily="18" charset="0"/>
              </a:rPr>
              <a:t>journey date/time</a:t>
            </a:r>
          </a:p>
        </p:txBody>
      </p:sp>
      <p:sp>
        <p:nvSpPr>
          <p:cNvPr id="137" name="Rounded Rectangle 40">
            <a:extLst>
              <a:ext uri="{FF2B5EF4-FFF2-40B4-BE49-F238E27FC236}">
                <a16:creationId xmlns:a16="http://schemas.microsoft.com/office/drawing/2014/main" id="{90BA8F25-97AE-4399-B1FB-05DA5196BB5D}"/>
              </a:ext>
            </a:extLst>
          </p:cNvPr>
          <p:cNvSpPr/>
          <p:nvPr/>
        </p:nvSpPr>
        <p:spPr>
          <a:xfrm>
            <a:off x="3804347" y="3855879"/>
            <a:ext cx="687087" cy="359639"/>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38" name="TextBox 137">
            <a:extLst>
              <a:ext uri="{FF2B5EF4-FFF2-40B4-BE49-F238E27FC236}">
                <a16:creationId xmlns:a16="http://schemas.microsoft.com/office/drawing/2014/main" id="{05AB8946-0221-4F7E-81EB-0688FFB34799}"/>
              </a:ext>
            </a:extLst>
          </p:cNvPr>
          <p:cNvSpPr txBox="1"/>
          <p:nvPr/>
        </p:nvSpPr>
        <p:spPr>
          <a:xfrm>
            <a:off x="3818063" y="3889275"/>
            <a:ext cx="659656" cy="172355"/>
          </a:xfrm>
          <a:prstGeom prst="rect">
            <a:avLst/>
          </a:prstGeom>
          <a:noFill/>
        </p:spPr>
        <p:txBody>
          <a:bodyPr wrap="square" lIns="18288" tIns="9144" rIns="18288" bIns="9144" anchor="t">
            <a:spAutoFit/>
          </a:bodyPr>
          <a:lstStyle/>
          <a:p>
            <a:pPr algn="ctr"/>
            <a:r>
              <a:rPr sz="1000" b="1" dirty="0">
                <a:solidFill>
                  <a:srgbClr val="4E5865"/>
                </a:solidFill>
                <a:latin typeface="Times New Roman" panose="02020603050405020304" pitchFamily="18" charset="0"/>
                <a:cs typeface="Times New Roman" panose="02020603050405020304" pitchFamily="18" charset="0"/>
              </a:rPr>
              <a:t>punctuality</a:t>
            </a:r>
          </a:p>
        </p:txBody>
      </p:sp>
      <p:sp>
        <p:nvSpPr>
          <p:cNvPr id="139" name="Rounded Rectangle 42">
            <a:extLst>
              <a:ext uri="{FF2B5EF4-FFF2-40B4-BE49-F238E27FC236}">
                <a16:creationId xmlns:a16="http://schemas.microsoft.com/office/drawing/2014/main" id="{99A665CA-E92F-45C5-B850-37E5BD053F7F}"/>
              </a:ext>
            </a:extLst>
          </p:cNvPr>
          <p:cNvSpPr/>
          <p:nvPr/>
        </p:nvSpPr>
        <p:spPr>
          <a:xfrm>
            <a:off x="4656879" y="3856098"/>
            <a:ext cx="687087" cy="346853"/>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40" name="TextBox 139">
            <a:extLst>
              <a:ext uri="{FF2B5EF4-FFF2-40B4-BE49-F238E27FC236}">
                <a16:creationId xmlns:a16="http://schemas.microsoft.com/office/drawing/2014/main" id="{42CDECF6-7C61-4D28-9E3E-B4855D45E50C}"/>
              </a:ext>
            </a:extLst>
          </p:cNvPr>
          <p:cNvSpPr txBox="1"/>
          <p:nvPr/>
        </p:nvSpPr>
        <p:spPr>
          <a:xfrm>
            <a:off x="4670595" y="3889494"/>
            <a:ext cx="630797" cy="172355"/>
          </a:xfrm>
          <a:prstGeom prst="rect">
            <a:avLst/>
          </a:prstGeom>
          <a:noFill/>
        </p:spPr>
        <p:txBody>
          <a:bodyPr wrap="square" lIns="18288" tIns="9144" rIns="18288" bIns="9144" anchor="t">
            <a:spAutoFit/>
          </a:bodyPr>
          <a:lstStyle/>
          <a:p>
            <a:pPr algn="ctr"/>
            <a:r>
              <a:rPr sz="1000" b="1" dirty="0">
                <a:solidFill>
                  <a:srgbClr val="4E5865"/>
                </a:solidFill>
                <a:latin typeface="Times New Roman" panose="02020603050405020304" pitchFamily="18" charset="0"/>
                <a:cs typeface="Times New Roman" panose="02020603050405020304" pitchFamily="18" charset="0"/>
              </a:rPr>
              <a:t>cleanliness</a:t>
            </a:r>
          </a:p>
        </p:txBody>
      </p:sp>
      <p:sp>
        <p:nvSpPr>
          <p:cNvPr id="141" name="Rounded Rectangle 44">
            <a:extLst>
              <a:ext uri="{FF2B5EF4-FFF2-40B4-BE49-F238E27FC236}">
                <a16:creationId xmlns:a16="http://schemas.microsoft.com/office/drawing/2014/main" id="{6F1ABFE0-3FE6-4238-8CB5-BC33300E7CDC}"/>
              </a:ext>
            </a:extLst>
          </p:cNvPr>
          <p:cNvSpPr/>
          <p:nvPr/>
        </p:nvSpPr>
        <p:spPr>
          <a:xfrm>
            <a:off x="5471759" y="3855301"/>
            <a:ext cx="591798" cy="344182"/>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42" name="TextBox 141">
            <a:extLst>
              <a:ext uri="{FF2B5EF4-FFF2-40B4-BE49-F238E27FC236}">
                <a16:creationId xmlns:a16="http://schemas.microsoft.com/office/drawing/2014/main" id="{ECFB9A43-52B4-4005-9A2E-1810B44CD5CB}"/>
              </a:ext>
            </a:extLst>
          </p:cNvPr>
          <p:cNvSpPr txBox="1"/>
          <p:nvPr/>
        </p:nvSpPr>
        <p:spPr>
          <a:xfrm>
            <a:off x="5485475" y="3888697"/>
            <a:ext cx="563948" cy="172355"/>
          </a:xfrm>
          <a:prstGeom prst="rect">
            <a:avLst/>
          </a:prstGeom>
          <a:noFill/>
        </p:spPr>
        <p:txBody>
          <a:bodyPr wrap="square" lIns="18288" tIns="9144" rIns="18288" bIns="9144" anchor="t">
            <a:spAutoFit/>
          </a:bodyPr>
          <a:lstStyle/>
          <a:p>
            <a:pPr algn="ctr"/>
            <a:r>
              <a:rPr sz="1000" b="1" dirty="0">
                <a:solidFill>
                  <a:srgbClr val="4E5865"/>
                </a:solidFill>
                <a:latin typeface="Times New Roman" panose="02020603050405020304" pitchFamily="18" charset="0"/>
                <a:cs typeface="Times New Roman" panose="02020603050405020304" pitchFamily="18" charset="0"/>
              </a:rPr>
              <a:t>crowding</a:t>
            </a:r>
          </a:p>
        </p:txBody>
      </p:sp>
      <p:sp>
        <p:nvSpPr>
          <p:cNvPr id="143" name="Rounded Rectangle 46">
            <a:extLst>
              <a:ext uri="{FF2B5EF4-FFF2-40B4-BE49-F238E27FC236}">
                <a16:creationId xmlns:a16="http://schemas.microsoft.com/office/drawing/2014/main" id="{430199BD-B5D2-4D92-AF63-05B9A922200F}"/>
              </a:ext>
            </a:extLst>
          </p:cNvPr>
          <p:cNvSpPr/>
          <p:nvPr/>
        </p:nvSpPr>
        <p:spPr>
          <a:xfrm>
            <a:off x="6231992" y="3846424"/>
            <a:ext cx="814593" cy="359639"/>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44" name="TextBox 143">
            <a:extLst>
              <a:ext uri="{FF2B5EF4-FFF2-40B4-BE49-F238E27FC236}">
                <a16:creationId xmlns:a16="http://schemas.microsoft.com/office/drawing/2014/main" id="{1E44E2E3-B75D-4E99-A113-5E4401378BBC}"/>
              </a:ext>
            </a:extLst>
          </p:cNvPr>
          <p:cNvSpPr txBox="1"/>
          <p:nvPr/>
        </p:nvSpPr>
        <p:spPr>
          <a:xfrm>
            <a:off x="6245709" y="3879820"/>
            <a:ext cx="786742" cy="326243"/>
          </a:xfrm>
          <a:prstGeom prst="rect">
            <a:avLst/>
          </a:prstGeom>
          <a:noFill/>
        </p:spPr>
        <p:txBody>
          <a:bodyPr wrap="square" lIns="18288" tIns="9144" rIns="18288" bIns="9144" anchor="t">
            <a:spAutoFit/>
          </a:bodyPr>
          <a:lstStyle/>
          <a:p>
            <a:pPr algn="ctr"/>
            <a:r>
              <a:rPr sz="1000" b="1" dirty="0">
                <a:solidFill>
                  <a:srgbClr val="4E5865"/>
                </a:solidFill>
                <a:latin typeface="Times New Roman" panose="02020603050405020304" pitchFamily="18" charset="0"/>
                <a:cs typeface="Times New Roman" panose="02020603050405020304" pitchFamily="18" charset="0"/>
              </a:rPr>
              <a:t>driver </a:t>
            </a:r>
            <a:r>
              <a:rPr sz="1000" b="1" dirty="0" err="1">
                <a:solidFill>
                  <a:srgbClr val="4E5865"/>
                </a:solidFill>
                <a:latin typeface="Times New Roman" panose="02020603050405020304" pitchFamily="18" charset="0"/>
                <a:cs typeface="Times New Roman" panose="02020603050405020304" pitchFamily="18" charset="0"/>
              </a:rPr>
              <a:t>behaviour</a:t>
            </a:r>
            <a:endParaRPr sz="1000" b="1" dirty="0">
              <a:solidFill>
                <a:srgbClr val="4E5865"/>
              </a:solidFill>
              <a:latin typeface="Times New Roman" panose="02020603050405020304" pitchFamily="18" charset="0"/>
              <a:cs typeface="Times New Roman" panose="02020603050405020304" pitchFamily="18" charset="0"/>
            </a:endParaRPr>
          </a:p>
        </p:txBody>
      </p:sp>
      <p:sp>
        <p:nvSpPr>
          <p:cNvPr id="145" name="Rounded Rectangle 48">
            <a:extLst>
              <a:ext uri="{FF2B5EF4-FFF2-40B4-BE49-F238E27FC236}">
                <a16:creationId xmlns:a16="http://schemas.microsoft.com/office/drawing/2014/main" id="{DE6976D7-E847-4D71-875A-2BB11A26E420}"/>
              </a:ext>
            </a:extLst>
          </p:cNvPr>
          <p:cNvSpPr/>
          <p:nvPr/>
        </p:nvSpPr>
        <p:spPr>
          <a:xfrm>
            <a:off x="7212564" y="3831716"/>
            <a:ext cx="731045" cy="359639"/>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46" name="TextBox 145">
            <a:extLst>
              <a:ext uri="{FF2B5EF4-FFF2-40B4-BE49-F238E27FC236}">
                <a16:creationId xmlns:a16="http://schemas.microsoft.com/office/drawing/2014/main" id="{69E34B26-99B5-4E4F-B4D1-9D41A8C09D95}"/>
              </a:ext>
            </a:extLst>
          </p:cNvPr>
          <p:cNvSpPr txBox="1"/>
          <p:nvPr/>
        </p:nvSpPr>
        <p:spPr>
          <a:xfrm>
            <a:off x="7226281" y="3865112"/>
            <a:ext cx="703195" cy="326243"/>
          </a:xfrm>
          <a:prstGeom prst="rect">
            <a:avLst/>
          </a:prstGeom>
          <a:noFill/>
        </p:spPr>
        <p:txBody>
          <a:bodyPr wrap="square" lIns="18288" tIns="9144" rIns="18288" bIns="9144" anchor="t">
            <a:spAutoFit/>
          </a:bodyPr>
          <a:lstStyle/>
          <a:p>
            <a:pPr algn="ctr"/>
            <a:r>
              <a:rPr sz="1000" b="1" dirty="0">
                <a:solidFill>
                  <a:srgbClr val="4E5865"/>
                </a:solidFill>
                <a:latin typeface="Times New Roman" panose="02020603050405020304" pitchFamily="18" charset="0"/>
                <a:cs typeface="Times New Roman" panose="02020603050405020304" pitchFamily="18" charset="0"/>
              </a:rPr>
              <a:t>overall rating</a:t>
            </a:r>
          </a:p>
        </p:txBody>
      </p:sp>
      <p:sp>
        <p:nvSpPr>
          <p:cNvPr id="147" name="Rounded Rectangle 50">
            <a:extLst>
              <a:ext uri="{FF2B5EF4-FFF2-40B4-BE49-F238E27FC236}">
                <a16:creationId xmlns:a16="http://schemas.microsoft.com/office/drawing/2014/main" id="{4880F446-A0D7-44A8-A06D-56DCDB4D86C0}"/>
              </a:ext>
            </a:extLst>
          </p:cNvPr>
          <p:cNvSpPr/>
          <p:nvPr/>
        </p:nvSpPr>
        <p:spPr>
          <a:xfrm>
            <a:off x="8110432" y="3843093"/>
            <a:ext cx="591798" cy="372425"/>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48" name="TextBox 147">
            <a:extLst>
              <a:ext uri="{FF2B5EF4-FFF2-40B4-BE49-F238E27FC236}">
                <a16:creationId xmlns:a16="http://schemas.microsoft.com/office/drawing/2014/main" id="{90E3BE4F-AE90-4D69-9A5F-CA584E5A4A03}"/>
              </a:ext>
            </a:extLst>
          </p:cNvPr>
          <p:cNvSpPr txBox="1"/>
          <p:nvPr/>
        </p:nvSpPr>
        <p:spPr>
          <a:xfrm>
            <a:off x="8115021" y="3884232"/>
            <a:ext cx="563948" cy="172355"/>
          </a:xfrm>
          <a:prstGeom prst="rect">
            <a:avLst/>
          </a:prstGeom>
          <a:noFill/>
        </p:spPr>
        <p:txBody>
          <a:bodyPr wrap="square" lIns="18288" tIns="9144" rIns="18288" bIns="9144" anchor="t">
            <a:spAutoFit/>
          </a:bodyPr>
          <a:lstStyle/>
          <a:p>
            <a:pPr algn="ctr"/>
            <a:r>
              <a:rPr sz="1000" b="1" dirty="0">
                <a:solidFill>
                  <a:srgbClr val="4E5865"/>
                </a:solidFill>
                <a:latin typeface="Times New Roman" panose="02020603050405020304" pitchFamily="18" charset="0"/>
                <a:cs typeface="Times New Roman" panose="02020603050405020304" pitchFamily="18" charset="0"/>
              </a:rPr>
              <a:t>comment</a:t>
            </a:r>
          </a:p>
        </p:txBody>
      </p:sp>
      <p:sp>
        <p:nvSpPr>
          <p:cNvPr id="149" name="Rounded Rectangle 36">
            <a:extLst>
              <a:ext uri="{FF2B5EF4-FFF2-40B4-BE49-F238E27FC236}">
                <a16:creationId xmlns:a16="http://schemas.microsoft.com/office/drawing/2014/main" id="{A5A4F58A-85E1-4923-A24B-61F4652D54C8}"/>
              </a:ext>
            </a:extLst>
          </p:cNvPr>
          <p:cNvSpPr/>
          <p:nvPr/>
        </p:nvSpPr>
        <p:spPr>
          <a:xfrm>
            <a:off x="2083106" y="3855879"/>
            <a:ext cx="591798" cy="359639"/>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50" name="TextBox 149">
            <a:extLst>
              <a:ext uri="{FF2B5EF4-FFF2-40B4-BE49-F238E27FC236}">
                <a16:creationId xmlns:a16="http://schemas.microsoft.com/office/drawing/2014/main" id="{88DCB704-6BF3-48D3-8609-ACEE6CAB7BE7}"/>
              </a:ext>
            </a:extLst>
          </p:cNvPr>
          <p:cNvSpPr txBox="1"/>
          <p:nvPr/>
        </p:nvSpPr>
        <p:spPr>
          <a:xfrm>
            <a:off x="2096823" y="3889275"/>
            <a:ext cx="563948" cy="172355"/>
          </a:xfrm>
          <a:prstGeom prst="rect">
            <a:avLst/>
          </a:prstGeom>
          <a:noFill/>
        </p:spPr>
        <p:txBody>
          <a:bodyPr wrap="square" lIns="18288" tIns="9144" rIns="18288" bIns="9144" anchor="t">
            <a:spAutoFit/>
          </a:bodyPr>
          <a:lstStyle/>
          <a:p>
            <a:pPr algn="ctr"/>
            <a:r>
              <a:rPr sz="1000" b="1" dirty="0">
                <a:solidFill>
                  <a:srgbClr val="4E5865"/>
                </a:solidFill>
                <a:latin typeface="Times New Roman" panose="02020603050405020304" pitchFamily="18" charset="0"/>
                <a:cs typeface="Times New Roman" panose="02020603050405020304" pitchFamily="18" charset="0"/>
              </a:rPr>
              <a:t>trip</a:t>
            </a:r>
          </a:p>
        </p:txBody>
      </p:sp>
    </p:spTree>
    <p:extLst>
      <p:ext uri="{BB962C8B-B14F-4D97-AF65-F5344CB8AC3E}">
        <p14:creationId xmlns:p14="http://schemas.microsoft.com/office/powerpoint/2010/main" val="118545051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942643-4B4B-3AF4-2F08-E12BA79BC8F5}"/>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6</a:t>
            </a:fld>
            <a:endParaRPr lang="en-IN" dirty="0"/>
          </a:p>
        </p:txBody>
      </p:sp>
      <p:sp>
        <p:nvSpPr>
          <p:cNvPr id="10" name="TextBox 9">
            <a:extLst>
              <a:ext uri="{FF2B5EF4-FFF2-40B4-BE49-F238E27FC236}">
                <a16:creationId xmlns:a16="http://schemas.microsoft.com/office/drawing/2014/main" id="{D28E8CE0-38BB-43A5-B4EE-22EBF2325B7C}"/>
              </a:ext>
            </a:extLst>
          </p:cNvPr>
          <p:cNvSpPr txBox="1"/>
          <p:nvPr/>
        </p:nvSpPr>
        <p:spPr bwMode="auto">
          <a:xfrm>
            <a:off x="182078" y="4835723"/>
            <a:ext cx="8595233" cy="307777"/>
          </a:xfrm>
          <a:prstGeom prst="rect">
            <a:avLst/>
          </a:prstGeom>
          <a:noFill/>
          <a:ln w="19050" algn="ctr">
            <a:noFill/>
            <a:miter lim="800000"/>
            <a:headEnd/>
            <a:tailEnd/>
          </a:ln>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	Veritas AI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DPA Hackathon 2026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IARE</a:t>
            </a:r>
          </a:p>
        </p:txBody>
      </p:sp>
      <p:pic>
        <p:nvPicPr>
          <p:cNvPr id="7" name="Picture 6">
            <a:extLst>
              <a:ext uri="{FF2B5EF4-FFF2-40B4-BE49-F238E27FC236}">
                <a16:creationId xmlns:a16="http://schemas.microsoft.com/office/drawing/2014/main" id="{663E3B90-F832-4B7C-A832-B10A9043AD70}"/>
              </a:ext>
            </a:extLst>
          </p:cNvPr>
          <p:cNvPicPr>
            <a:picLocks noChangeAspect="1"/>
          </p:cNvPicPr>
          <p:nvPr/>
        </p:nvPicPr>
        <p:blipFill rotWithShape="1">
          <a:blip r:embed="rId3"/>
          <a:srcRect l="-1949" t="31547" r="1949" b="31097"/>
          <a:stretch/>
        </p:blipFill>
        <p:spPr>
          <a:xfrm>
            <a:off x="6384941" y="144570"/>
            <a:ext cx="1905000" cy="711627"/>
          </a:xfrm>
          <a:prstGeom prst="rect">
            <a:avLst/>
          </a:prstGeom>
        </p:spPr>
      </p:pic>
      <p:sp>
        <p:nvSpPr>
          <p:cNvPr id="11" name="object 2">
            <a:extLst>
              <a:ext uri="{FF2B5EF4-FFF2-40B4-BE49-F238E27FC236}">
                <a16:creationId xmlns:a16="http://schemas.microsoft.com/office/drawing/2014/main" id="{D179FC4C-EAB8-4793-B3BD-05E101B4D037}"/>
              </a:ext>
            </a:extLst>
          </p:cNvPr>
          <p:cNvSpPr txBox="1">
            <a:spLocks/>
          </p:cNvSpPr>
          <p:nvPr/>
        </p:nvSpPr>
        <p:spPr>
          <a:xfrm>
            <a:off x="66039" y="188849"/>
            <a:ext cx="7432040" cy="534120"/>
          </a:xfrm>
          <a:prstGeom prst="rect">
            <a:avLst/>
          </a:prstGeom>
        </p:spPr>
        <p:txBody>
          <a:bodyPr vert="horz" wrap="square" lIns="0" tIns="71754" rIns="0" bIns="0" rtlCol="0" anchor="t">
            <a:spAutoFit/>
          </a:bodyPr>
          <a:lst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a:lstStyle>
          <a:p>
            <a:pPr marL="45085">
              <a:lnSpc>
                <a:spcPct val="100000"/>
              </a:lnSpc>
              <a:spcBef>
                <a:spcPts val="105"/>
              </a:spcBef>
            </a:pPr>
            <a:r>
              <a:rPr lang="en-IN" spc="-30" dirty="0">
                <a:latin typeface="Times New Roman" panose="02020603050405020304" pitchFamily="18" charset="0"/>
                <a:cs typeface="Times New Roman" panose="02020603050405020304" pitchFamily="18" charset="0"/>
              </a:rPr>
              <a:t>Passenger Feedback Experience</a:t>
            </a:r>
          </a:p>
        </p:txBody>
      </p:sp>
      <p:sp>
        <p:nvSpPr>
          <p:cNvPr id="44" name="Rounded Rectangle 6">
            <a:extLst>
              <a:ext uri="{FF2B5EF4-FFF2-40B4-BE49-F238E27FC236}">
                <a16:creationId xmlns:a16="http://schemas.microsoft.com/office/drawing/2014/main" id="{E9833F9E-CE6F-4972-8446-8D50B2C27D43}"/>
              </a:ext>
            </a:extLst>
          </p:cNvPr>
          <p:cNvSpPr/>
          <p:nvPr/>
        </p:nvSpPr>
        <p:spPr>
          <a:xfrm>
            <a:off x="6288004" y="1672881"/>
            <a:ext cx="2613192" cy="2207517"/>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45" name="Rounded Rectangle 7">
            <a:extLst>
              <a:ext uri="{FF2B5EF4-FFF2-40B4-BE49-F238E27FC236}">
                <a16:creationId xmlns:a16="http://schemas.microsoft.com/office/drawing/2014/main" id="{A41B8E55-B9F6-4D51-B230-503B5190A2C4}"/>
              </a:ext>
            </a:extLst>
          </p:cNvPr>
          <p:cNvSpPr/>
          <p:nvPr/>
        </p:nvSpPr>
        <p:spPr>
          <a:xfrm>
            <a:off x="6701601" y="1857807"/>
            <a:ext cx="1714199" cy="260396"/>
          </a:xfrm>
          <a:prstGeom prst="roundRect">
            <a:avLst/>
          </a:prstGeom>
          <a:solidFill>
            <a:srgbClr val="0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865D3DC1-6C1B-496D-A94B-CB54889E651E}"/>
              </a:ext>
            </a:extLst>
          </p:cNvPr>
          <p:cNvSpPr txBox="1"/>
          <p:nvPr/>
        </p:nvSpPr>
        <p:spPr>
          <a:xfrm>
            <a:off x="6630675" y="1868847"/>
            <a:ext cx="1900281" cy="203133"/>
          </a:xfrm>
          <a:prstGeom prst="rect">
            <a:avLst/>
          </a:prstGeom>
          <a:noFill/>
        </p:spPr>
        <p:txBody>
          <a:bodyPr wrap="square" lIns="18288" tIns="9144" rIns="18288" bIns="9144" anchor="ctr">
            <a:spAutoFit/>
          </a:bodyPr>
          <a:lstStyle/>
          <a:p>
            <a:pPr algn="ctr"/>
            <a:r>
              <a:rPr lang="en-IN" sz="1200" b="1" dirty="0">
                <a:solidFill>
                  <a:srgbClr val="FFFFFF"/>
                </a:solidFill>
                <a:latin typeface="Times New Roman" panose="02020603050405020304" pitchFamily="18" charset="0"/>
                <a:cs typeface="Times New Roman" panose="02020603050405020304" pitchFamily="18" charset="0"/>
              </a:rPr>
              <a:t>ACTUAL PRODUCT UI</a:t>
            </a:r>
          </a:p>
        </p:txBody>
      </p:sp>
      <p:sp>
        <p:nvSpPr>
          <p:cNvPr id="47" name="TextBox 46">
            <a:extLst>
              <a:ext uri="{FF2B5EF4-FFF2-40B4-BE49-F238E27FC236}">
                <a16:creationId xmlns:a16="http://schemas.microsoft.com/office/drawing/2014/main" id="{AC486527-F1F1-454B-AE27-F081B7317FA3}"/>
              </a:ext>
            </a:extLst>
          </p:cNvPr>
          <p:cNvSpPr txBox="1"/>
          <p:nvPr/>
        </p:nvSpPr>
        <p:spPr>
          <a:xfrm>
            <a:off x="6384942" y="2230834"/>
            <a:ext cx="2516254" cy="1520929"/>
          </a:xfrm>
          <a:prstGeom prst="rect">
            <a:avLst/>
          </a:prstGeom>
          <a:noFill/>
        </p:spPr>
        <p:txBody>
          <a:bodyPr wrap="square">
            <a:spAutoFit/>
          </a:bodyPr>
          <a:lstStyle/>
          <a:p>
            <a:pPr marL="171450" indent="-171450">
              <a:spcAft>
                <a:spcPts val="500"/>
              </a:spcAft>
              <a:buFont typeface="Arial" panose="020B0604020202020204" pitchFamily="34" charset="0"/>
              <a:buChar char="•"/>
              <a:defRPr sz="1200">
                <a:solidFill>
                  <a:srgbClr val="1E2834"/>
                </a:solidFill>
                <a:latin typeface="Times New Roman"/>
              </a:defRPr>
            </a:pPr>
            <a:r>
              <a:rPr lang="en-US" sz="1200" dirty="0">
                <a:latin typeface="Times New Roman"/>
              </a:rPr>
              <a:t>Bus route</a:t>
            </a:r>
          </a:p>
          <a:p>
            <a:pPr marL="171450" indent="-171450">
              <a:spcAft>
                <a:spcPts val="500"/>
              </a:spcAft>
              <a:buFont typeface="Arial" panose="020B0604020202020204" pitchFamily="34" charset="0"/>
              <a:buChar char="•"/>
              <a:defRPr sz="1200">
                <a:solidFill>
                  <a:srgbClr val="1E2834"/>
                </a:solidFill>
                <a:latin typeface="Times New Roman"/>
              </a:defRPr>
            </a:pPr>
            <a:r>
              <a:rPr lang="en-US" sz="1200" dirty="0">
                <a:latin typeface="Times New Roman"/>
              </a:rPr>
              <a:t>Journey date</a:t>
            </a:r>
          </a:p>
          <a:p>
            <a:pPr marL="171450" indent="-171450">
              <a:spcAft>
                <a:spcPts val="500"/>
              </a:spcAft>
              <a:buFont typeface="Arial" panose="020B0604020202020204" pitchFamily="34" charset="0"/>
              <a:buChar char="•"/>
              <a:defRPr sz="1200">
                <a:solidFill>
                  <a:srgbClr val="1E2834"/>
                </a:solidFill>
                <a:latin typeface="Times New Roman"/>
              </a:defRPr>
            </a:pPr>
            <a:r>
              <a:rPr lang="en-US" sz="1200" dirty="0">
                <a:latin typeface="Times New Roman"/>
              </a:rPr>
              <a:t>Time period</a:t>
            </a:r>
          </a:p>
          <a:p>
            <a:pPr marL="171450" indent="-171450">
              <a:spcAft>
                <a:spcPts val="500"/>
              </a:spcAft>
              <a:buFont typeface="Arial" panose="020B0604020202020204" pitchFamily="34" charset="0"/>
              <a:buChar char="•"/>
              <a:defRPr sz="1200">
                <a:solidFill>
                  <a:srgbClr val="1E2834"/>
                </a:solidFill>
                <a:latin typeface="Times New Roman"/>
              </a:defRPr>
            </a:pPr>
            <a:r>
              <a:rPr lang="en-US" sz="1200" dirty="0">
                <a:latin typeface="Times New Roman"/>
              </a:rPr>
              <a:t>Four service ratings</a:t>
            </a:r>
          </a:p>
          <a:p>
            <a:pPr marL="171450" indent="-171450">
              <a:spcAft>
                <a:spcPts val="500"/>
              </a:spcAft>
              <a:buFont typeface="Arial" panose="020B0604020202020204" pitchFamily="34" charset="0"/>
              <a:buChar char="•"/>
              <a:defRPr sz="1200">
                <a:solidFill>
                  <a:srgbClr val="1E2834"/>
                </a:solidFill>
                <a:latin typeface="Times New Roman"/>
              </a:defRPr>
            </a:pPr>
            <a:r>
              <a:rPr lang="en-US" sz="1200" dirty="0">
                <a:latin typeface="Times New Roman"/>
              </a:rPr>
              <a:t>Overall journey rating</a:t>
            </a:r>
          </a:p>
          <a:p>
            <a:pPr marL="171450" indent="-171450">
              <a:spcAft>
                <a:spcPts val="500"/>
              </a:spcAft>
              <a:buFont typeface="Arial" panose="020B0604020202020204" pitchFamily="34" charset="0"/>
              <a:buChar char="•"/>
              <a:defRPr sz="1200">
                <a:solidFill>
                  <a:srgbClr val="1E2834"/>
                </a:solidFill>
                <a:latin typeface="Times New Roman"/>
              </a:defRPr>
            </a:pPr>
            <a:r>
              <a:rPr lang="en-US" sz="1200" dirty="0">
                <a:latin typeface="Times New Roman"/>
              </a:rPr>
              <a:t>Passenger comment</a:t>
            </a:r>
          </a:p>
        </p:txBody>
      </p:sp>
      <p:pic>
        <p:nvPicPr>
          <p:cNvPr id="5" name="Picture 4">
            <a:extLst>
              <a:ext uri="{FF2B5EF4-FFF2-40B4-BE49-F238E27FC236}">
                <a16:creationId xmlns:a16="http://schemas.microsoft.com/office/drawing/2014/main" id="{A17FD98E-B7FD-4AB0-BC0E-32577E53B5EB}"/>
              </a:ext>
            </a:extLst>
          </p:cNvPr>
          <p:cNvPicPr>
            <a:picLocks noChangeAspect="1"/>
          </p:cNvPicPr>
          <p:nvPr/>
        </p:nvPicPr>
        <p:blipFill>
          <a:blip r:embed="rId4"/>
          <a:stretch>
            <a:fillRect/>
          </a:stretch>
        </p:blipFill>
        <p:spPr>
          <a:xfrm>
            <a:off x="66040" y="1524921"/>
            <a:ext cx="4956198" cy="3059346"/>
          </a:xfrm>
          <a:prstGeom prst="rect">
            <a:avLst/>
          </a:prstGeom>
        </p:spPr>
      </p:pic>
      <p:sp>
        <p:nvSpPr>
          <p:cNvPr id="48" name="TextBox 47">
            <a:extLst>
              <a:ext uri="{FF2B5EF4-FFF2-40B4-BE49-F238E27FC236}">
                <a16:creationId xmlns:a16="http://schemas.microsoft.com/office/drawing/2014/main" id="{2D37198C-11D6-4A0A-9E14-CFC388F37BE9}"/>
              </a:ext>
            </a:extLst>
          </p:cNvPr>
          <p:cNvSpPr txBox="1"/>
          <p:nvPr/>
        </p:nvSpPr>
        <p:spPr bwMode="auto">
          <a:xfrm>
            <a:off x="0" y="4541142"/>
            <a:ext cx="5091863" cy="276999"/>
          </a:xfrm>
          <a:prstGeom prst="rect">
            <a:avLst/>
          </a:prstGeom>
          <a:noFill/>
          <a:ln w="19050" algn="ctr">
            <a:noFill/>
            <a:miter lim="800000"/>
            <a:headEnd/>
            <a:tailEnd/>
          </a:ln>
        </p:spPr>
        <p:txBody>
          <a:bodyPr wrap="square">
            <a:spAutoFit/>
          </a:bodyPr>
          <a:lstStyle/>
          <a:p>
            <a:pPr algn="ctr">
              <a:buClr>
                <a:srgbClr val="005093"/>
              </a:buClr>
              <a:tabLst>
                <a:tab pos="180340" algn="l"/>
                <a:tab pos="292735" algn="l"/>
              </a:tabLst>
            </a:pPr>
            <a:r>
              <a:rPr lang="en-US" sz="1200" b="1" i="1" dirty="0">
                <a:solidFill>
                  <a:srgbClr val="525252"/>
                </a:solidFill>
                <a:latin typeface="Times New Roman" panose="02020603050405020304" pitchFamily="18" charset="0"/>
                <a:cs typeface="Times New Roman" panose="02020603050405020304" pitchFamily="18" charset="0"/>
              </a:rPr>
              <a:t>Fig 1. Actual deployed UI — structured feedback capture</a:t>
            </a:r>
          </a:p>
        </p:txBody>
      </p:sp>
      <p:sp>
        <p:nvSpPr>
          <p:cNvPr id="14" name="object 3">
            <a:extLst>
              <a:ext uri="{FF2B5EF4-FFF2-40B4-BE49-F238E27FC236}">
                <a16:creationId xmlns:a16="http://schemas.microsoft.com/office/drawing/2014/main" id="{0F05F80E-001E-496D-B458-4D21E7A6821B}"/>
              </a:ext>
            </a:extLst>
          </p:cNvPr>
          <p:cNvSpPr txBox="1"/>
          <p:nvPr/>
        </p:nvSpPr>
        <p:spPr>
          <a:xfrm>
            <a:off x="64600" y="1185241"/>
            <a:ext cx="8836596" cy="228909"/>
          </a:xfrm>
          <a:prstGeom prst="rect">
            <a:avLst/>
          </a:prstGeom>
        </p:spPr>
        <p:txBody>
          <a:bodyPr vert="horz" wrap="square" lIns="0" tIns="13335" rIns="0" bIns="0" rtlCol="0" anchor="t">
            <a:spAutoFit/>
          </a:bodyPr>
          <a:lstStyle/>
          <a:p>
            <a:pPr marL="285750" indent="-285750" algn="just">
              <a:buClr>
                <a:srgbClr val="005093"/>
              </a:buClr>
              <a:buFont typeface="Wingdings" panose="05000000000000000000" pitchFamily="2" charset="2"/>
              <a:buChar char="Ø"/>
              <a:tabLst>
                <a:tab pos="180340" algn="l"/>
                <a:tab pos="292735" algn="l"/>
              </a:tabLst>
            </a:pPr>
            <a:r>
              <a:rPr lang="en-US" sz="1400" dirty="0">
                <a:solidFill>
                  <a:srgbClr val="525252"/>
                </a:solidFill>
                <a:latin typeface="Times New Roman" panose="02020603050405020304" pitchFamily="18" charset="0"/>
                <a:cs typeface="Times New Roman" panose="02020603050405020304" pitchFamily="18" charset="0"/>
              </a:rPr>
              <a:t>The form creates the data record that enters the backend workflow.</a:t>
            </a:r>
          </a:p>
        </p:txBody>
      </p:sp>
    </p:spTree>
    <p:extLst>
      <p:ext uri="{BB962C8B-B14F-4D97-AF65-F5344CB8AC3E}">
        <p14:creationId xmlns:p14="http://schemas.microsoft.com/office/powerpoint/2010/main" val="188696866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942643-4B4B-3AF4-2F08-E12BA79BC8F5}"/>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7</a:t>
            </a:fld>
            <a:endParaRPr lang="en-IN" dirty="0"/>
          </a:p>
        </p:txBody>
      </p:sp>
      <p:sp>
        <p:nvSpPr>
          <p:cNvPr id="10" name="TextBox 9">
            <a:extLst>
              <a:ext uri="{FF2B5EF4-FFF2-40B4-BE49-F238E27FC236}">
                <a16:creationId xmlns:a16="http://schemas.microsoft.com/office/drawing/2014/main" id="{D28E8CE0-38BB-43A5-B4EE-22EBF2325B7C}"/>
              </a:ext>
            </a:extLst>
          </p:cNvPr>
          <p:cNvSpPr txBox="1"/>
          <p:nvPr/>
        </p:nvSpPr>
        <p:spPr bwMode="auto">
          <a:xfrm>
            <a:off x="182078" y="4835723"/>
            <a:ext cx="8595233" cy="307777"/>
          </a:xfrm>
          <a:prstGeom prst="rect">
            <a:avLst/>
          </a:prstGeom>
          <a:noFill/>
          <a:ln w="19050" algn="ctr">
            <a:noFill/>
            <a:miter lim="800000"/>
            <a:headEnd/>
            <a:tailEnd/>
          </a:ln>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	Veritas AI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DPA Hackathon 2026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IARE</a:t>
            </a:r>
          </a:p>
        </p:txBody>
      </p:sp>
      <p:pic>
        <p:nvPicPr>
          <p:cNvPr id="7" name="Picture 6">
            <a:extLst>
              <a:ext uri="{FF2B5EF4-FFF2-40B4-BE49-F238E27FC236}">
                <a16:creationId xmlns:a16="http://schemas.microsoft.com/office/drawing/2014/main" id="{663E3B90-F832-4B7C-A832-B10A9043AD70}"/>
              </a:ext>
            </a:extLst>
          </p:cNvPr>
          <p:cNvPicPr>
            <a:picLocks noChangeAspect="1"/>
          </p:cNvPicPr>
          <p:nvPr/>
        </p:nvPicPr>
        <p:blipFill rotWithShape="1">
          <a:blip r:embed="rId3"/>
          <a:srcRect l="-1949" t="31547" r="1949" b="31097"/>
          <a:stretch/>
        </p:blipFill>
        <p:spPr>
          <a:xfrm>
            <a:off x="6384941" y="144570"/>
            <a:ext cx="1905000" cy="711627"/>
          </a:xfrm>
          <a:prstGeom prst="rect">
            <a:avLst/>
          </a:prstGeom>
        </p:spPr>
      </p:pic>
      <p:sp>
        <p:nvSpPr>
          <p:cNvPr id="11" name="object 2">
            <a:extLst>
              <a:ext uri="{FF2B5EF4-FFF2-40B4-BE49-F238E27FC236}">
                <a16:creationId xmlns:a16="http://schemas.microsoft.com/office/drawing/2014/main" id="{D179FC4C-EAB8-4793-B3BD-05E101B4D037}"/>
              </a:ext>
            </a:extLst>
          </p:cNvPr>
          <p:cNvSpPr txBox="1">
            <a:spLocks/>
          </p:cNvSpPr>
          <p:nvPr/>
        </p:nvSpPr>
        <p:spPr>
          <a:xfrm>
            <a:off x="66039" y="188849"/>
            <a:ext cx="7432040" cy="534120"/>
          </a:xfrm>
          <a:prstGeom prst="rect">
            <a:avLst/>
          </a:prstGeom>
        </p:spPr>
        <p:txBody>
          <a:bodyPr vert="horz" wrap="square" lIns="0" tIns="71754" rIns="0" bIns="0" rtlCol="0" anchor="t">
            <a:spAutoFit/>
          </a:bodyPr>
          <a:lst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a:lstStyle>
          <a:p>
            <a:pPr marL="45085">
              <a:lnSpc>
                <a:spcPct val="100000"/>
              </a:lnSpc>
              <a:spcBef>
                <a:spcPts val="105"/>
              </a:spcBef>
            </a:pPr>
            <a:r>
              <a:rPr lang="en-IN" spc="-30" dirty="0">
                <a:latin typeface="Times New Roman" panose="02020603050405020304" pitchFamily="18" charset="0"/>
                <a:cs typeface="Times New Roman" panose="02020603050405020304" pitchFamily="18" charset="0"/>
              </a:rPr>
              <a:t>Data Ingestion &amp; Persistence</a:t>
            </a:r>
          </a:p>
        </p:txBody>
      </p:sp>
      <p:sp>
        <p:nvSpPr>
          <p:cNvPr id="48" name="TextBox 47">
            <a:extLst>
              <a:ext uri="{FF2B5EF4-FFF2-40B4-BE49-F238E27FC236}">
                <a16:creationId xmlns:a16="http://schemas.microsoft.com/office/drawing/2014/main" id="{2D37198C-11D6-4A0A-9E14-CFC388F37BE9}"/>
              </a:ext>
            </a:extLst>
          </p:cNvPr>
          <p:cNvSpPr txBox="1"/>
          <p:nvPr/>
        </p:nvSpPr>
        <p:spPr bwMode="auto">
          <a:xfrm>
            <a:off x="0" y="4541142"/>
            <a:ext cx="5091863" cy="276999"/>
          </a:xfrm>
          <a:prstGeom prst="rect">
            <a:avLst/>
          </a:prstGeom>
          <a:noFill/>
          <a:ln w="19050" algn="ctr">
            <a:noFill/>
            <a:miter lim="800000"/>
            <a:headEnd/>
            <a:tailEnd/>
          </a:ln>
        </p:spPr>
        <p:txBody>
          <a:bodyPr wrap="square">
            <a:spAutoFit/>
          </a:bodyPr>
          <a:lstStyle/>
          <a:p>
            <a:pPr algn="ctr">
              <a:buClr>
                <a:srgbClr val="005093"/>
              </a:buClr>
              <a:tabLst>
                <a:tab pos="180340" algn="l"/>
                <a:tab pos="292735" algn="l"/>
              </a:tabLst>
            </a:pPr>
            <a:r>
              <a:rPr lang="en-US" sz="1200" b="1" i="1" dirty="0">
                <a:solidFill>
                  <a:srgbClr val="525252"/>
                </a:solidFill>
                <a:latin typeface="Times New Roman" panose="02020603050405020304" pitchFamily="18" charset="0"/>
                <a:cs typeface="Times New Roman" panose="02020603050405020304" pitchFamily="18" charset="0"/>
              </a:rPr>
              <a:t>Fig 2. CSV Import </a:t>
            </a:r>
          </a:p>
        </p:txBody>
      </p:sp>
      <p:sp>
        <p:nvSpPr>
          <p:cNvPr id="14" name="object 3">
            <a:extLst>
              <a:ext uri="{FF2B5EF4-FFF2-40B4-BE49-F238E27FC236}">
                <a16:creationId xmlns:a16="http://schemas.microsoft.com/office/drawing/2014/main" id="{0F05F80E-001E-496D-B458-4D21E7A6821B}"/>
              </a:ext>
            </a:extLst>
          </p:cNvPr>
          <p:cNvSpPr txBox="1"/>
          <p:nvPr/>
        </p:nvSpPr>
        <p:spPr>
          <a:xfrm>
            <a:off x="64600" y="1185241"/>
            <a:ext cx="8836596" cy="198131"/>
          </a:xfrm>
          <a:prstGeom prst="rect">
            <a:avLst/>
          </a:prstGeom>
        </p:spPr>
        <p:txBody>
          <a:bodyPr vert="horz" wrap="square" lIns="0" tIns="13335" rIns="0" bIns="0" rtlCol="0" anchor="t">
            <a:spAutoFit/>
          </a:bodyPr>
          <a:lstStyle/>
          <a:p>
            <a:pPr marL="285750" indent="-285750" algn="just">
              <a:buClr>
                <a:srgbClr val="005093"/>
              </a:buClr>
              <a:buFont typeface="Wingdings" panose="05000000000000000000" pitchFamily="2" charset="2"/>
              <a:buChar char="Ø"/>
              <a:tabLst>
                <a:tab pos="180340" algn="l"/>
                <a:tab pos="292735" algn="l"/>
              </a:tabLst>
            </a:pPr>
            <a:r>
              <a:rPr lang="en-US" sz="1200" dirty="0">
                <a:solidFill>
                  <a:srgbClr val="525252"/>
                </a:solidFill>
                <a:latin typeface="Times New Roman" panose="02020603050405020304" pitchFamily="18" charset="0"/>
                <a:cs typeface="Times New Roman" panose="02020603050405020304" pitchFamily="18" charset="0"/>
              </a:rPr>
              <a:t>Actual deployed screen supports New York MTA 311 or custom customer feedback datasets.</a:t>
            </a:r>
          </a:p>
        </p:txBody>
      </p:sp>
      <p:pic>
        <p:nvPicPr>
          <p:cNvPr id="8" name="Picture 7">
            <a:extLst>
              <a:ext uri="{FF2B5EF4-FFF2-40B4-BE49-F238E27FC236}">
                <a16:creationId xmlns:a16="http://schemas.microsoft.com/office/drawing/2014/main" id="{DC735A45-CCDC-4D69-8DBE-5B44B188F499}"/>
              </a:ext>
            </a:extLst>
          </p:cNvPr>
          <p:cNvPicPr>
            <a:picLocks noChangeAspect="1"/>
          </p:cNvPicPr>
          <p:nvPr/>
        </p:nvPicPr>
        <p:blipFill>
          <a:blip r:embed="rId4"/>
          <a:stretch>
            <a:fillRect/>
          </a:stretch>
        </p:blipFill>
        <p:spPr>
          <a:xfrm>
            <a:off x="67112" y="1527462"/>
            <a:ext cx="4957638" cy="3059346"/>
          </a:xfrm>
          <a:prstGeom prst="rect">
            <a:avLst/>
          </a:prstGeom>
        </p:spPr>
      </p:pic>
      <p:sp>
        <p:nvSpPr>
          <p:cNvPr id="17" name="Rounded Rectangle 6">
            <a:extLst>
              <a:ext uri="{FF2B5EF4-FFF2-40B4-BE49-F238E27FC236}">
                <a16:creationId xmlns:a16="http://schemas.microsoft.com/office/drawing/2014/main" id="{32133D43-4C0E-4A27-9A91-FED8862AE98F}"/>
              </a:ext>
            </a:extLst>
          </p:cNvPr>
          <p:cNvSpPr/>
          <p:nvPr/>
        </p:nvSpPr>
        <p:spPr>
          <a:xfrm>
            <a:off x="5233471" y="1527462"/>
            <a:ext cx="3594900" cy="3013680"/>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8" name="Rounded Rectangle 7">
            <a:extLst>
              <a:ext uri="{FF2B5EF4-FFF2-40B4-BE49-F238E27FC236}">
                <a16:creationId xmlns:a16="http://schemas.microsoft.com/office/drawing/2014/main" id="{07576EEB-904D-4928-983A-520D80CB04BA}"/>
              </a:ext>
            </a:extLst>
          </p:cNvPr>
          <p:cNvSpPr/>
          <p:nvPr/>
        </p:nvSpPr>
        <p:spPr>
          <a:xfrm>
            <a:off x="5439214" y="1733202"/>
            <a:ext cx="1458589" cy="268772"/>
          </a:xfrm>
          <a:prstGeom prst="roundRect">
            <a:avLst/>
          </a:prstGeom>
          <a:solidFill>
            <a:srgbClr val="0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8A8D0CFB-FA73-4D84-A3A7-5220F173C959}"/>
              </a:ext>
            </a:extLst>
          </p:cNvPr>
          <p:cNvSpPr txBox="1"/>
          <p:nvPr/>
        </p:nvSpPr>
        <p:spPr>
          <a:xfrm>
            <a:off x="5459790" y="1762292"/>
            <a:ext cx="1458589" cy="203133"/>
          </a:xfrm>
          <a:prstGeom prst="rect">
            <a:avLst/>
          </a:prstGeom>
          <a:noFill/>
        </p:spPr>
        <p:txBody>
          <a:bodyPr wrap="square" lIns="18288" tIns="9144" rIns="18288" bIns="9144" anchor="ctr">
            <a:spAutoFit/>
          </a:bodyPr>
          <a:lstStyle/>
          <a:p>
            <a:pPr algn="ctr"/>
            <a:r>
              <a:rPr sz="1200" b="1" dirty="0">
                <a:solidFill>
                  <a:schemeClr val="bg1"/>
                </a:solidFill>
                <a:latin typeface="Times New Roman" panose="02020603050405020304" pitchFamily="18" charset="0"/>
                <a:cs typeface="Times New Roman" panose="02020603050405020304" pitchFamily="18" charset="0"/>
              </a:rPr>
              <a:t>LIVE FEEDBACK</a:t>
            </a:r>
          </a:p>
        </p:txBody>
      </p:sp>
      <p:sp>
        <p:nvSpPr>
          <p:cNvPr id="20" name="Rounded Rectangle 9">
            <a:extLst>
              <a:ext uri="{FF2B5EF4-FFF2-40B4-BE49-F238E27FC236}">
                <a16:creationId xmlns:a16="http://schemas.microsoft.com/office/drawing/2014/main" id="{83691D17-2035-483E-B1F3-5F3B00263A33}"/>
              </a:ext>
            </a:extLst>
          </p:cNvPr>
          <p:cNvSpPr/>
          <p:nvPr/>
        </p:nvSpPr>
        <p:spPr>
          <a:xfrm>
            <a:off x="5459789" y="2144683"/>
            <a:ext cx="1033837" cy="235528"/>
          </a:xfrm>
          <a:prstGeom prst="roundRect">
            <a:avLst/>
          </a:prstGeom>
          <a:solidFill>
            <a:srgbClr val="0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D94CBA0D-3415-4176-BD38-345442527162}"/>
              </a:ext>
            </a:extLst>
          </p:cNvPr>
          <p:cNvSpPr txBox="1"/>
          <p:nvPr/>
        </p:nvSpPr>
        <p:spPr>
          <a:xfrm>
            <a:off x="5584278" y="2156033"/>
            <a:ext cx="822980" cy="203133"/>
          </a:xfrm>
          <a:prstGeom prst="rect">
            <a:avLst/>
          </a:prstGeom>
          <a:noFill/>
        </p:spPr>
        <p:txBody>
          <a:bodyPr wrap="square" lIns="18288" tIns="9144" rIns="18288" bIns="9144" anchor="t">
            <a:spAutoFit/>
          </a:bodyPr>
          <a:lstStyle/>
          <a:p>
            <a:pPr algn="l"/>
            <a:r>
              <a:rPr sz="1200" b="1" dirty="0">
                <a:solidFill>
                  <a:schemeClr val="bg1"/>
                </a:solidFill>
                <a:latin typeface="Times New Roman" panose="02020603050405020304" pitchFamily="18" charset="0"/>
                <a:cs typeface="Times New Roman" panose="02020603050405020304" pitchFamily="18" charset="0"/>
              </a:rPr>
              <a:t>1. Submit</a:t>
            </a:r>
          </a:p>
        </p:txBody>
      </p:sp>
      <p:sp>
        <p:nvSpPr>
          <p:cNvPr id="22" name="TextBox 21">
            <a:extLst>
              <a:ext uri="{FF2B5EF4-FFF2-40B4-BE49-F238E27FC236}">
                <a16:creationId xmlns:a16="http://schemas.microsoft.com/office/drawing/2014/main" id="{B065182E-9B2D-4176-A6A0-C9EA297FBCE8}"/>
              </a:ext>
            </a:extLst>
          </p:cNvPr>
          <p:cNvSpPr txBox="1"/>
          <p:nvPr/>
        </p:nvSpPr>
        <p:spPr>
          <a:xfrm>
            <a:off x="6653110" y="2137825"/>
            <a:ext cx="2080211" cy="387798"/>
          </a:xfrm>
          <a:prstGeom prst="rect">
            <a:avLst/>
          </a:prstGeom>
          <a:noFill/>
        </p:spPr>
        <p:txBody>
          <a:bodyPr wrap="square" lIns="18288" tIns="9144" rIns="18288" bIns="9144" anchor="t">
            <a:spAutoFit/>
          </a:bodyPr>
          <a:lstStyle/>
          <a:p>
            <a:pPr algn="l"/>
            <a:r>
              <a:rPr sz="1200" b="0" dirty="0">
                <a:solidFill>
                  <a:srgbClr val="1E2834"/>
                </a:solidFill>
                <a:latin typeface="Times New Roman" panose="02020603050405020304" pitchFamily="18" charset="0"/>
                <a:cs typeface="Times New Roman" panose="02020603050405020304" pitchFamily="18" charset="0"/>
              </a:rPr>
              <a:t>Passenger portal sends structured request</a:t>
            </a:r>
          </a:p>
        </p:txBody>
      </p:sp>
      <p:cxnSp>
        <p:nvCxnSpPr>
          <p:cNvPr id="23" name="Connector 13">
            <a:extLst>
              <a:ext uri="{FF2B5EF4-FFF2-40B4-BE49-F238E27FC236}">
                <a16:creationId xmlns:a16="http://schemas.microsoft.com/office/drawing/2014/main" id="{25A6E166-2E27-48AF-BA56-E8111140ECAD}"/>
              </a:ext>
            </a:extLst>
          </p:cNvPr>
          <p:cNvCxnSpPr>
            <a:cxnSpLocks/>
          </p:cNvCxnSpPr>
          <p:nvPr/>
        </p:nvCxnSpPr>
        <p:spPr>
          <a:xfrm>
            <a:off x="5590095" y="2405287"/>
            <a:ext cx="0" cy="187037"/>
          </a:xfrm>
          <a:prstGeom prst="line">
            <a:avLst/>
          </a:prstGeom>
          <a:ln w="13970">
            <a:solidFill>
              <a:srgbClr val="D2D9E1"/>
            </a:solidFill>
          </a:ln>
        </p:spPr>
        <p:style>
          <a:lnRef idx="2">
            <a:schemeClr val="accent1"/>
          </a:lnRef>
          <a:fillRef idx="0">
            <a:schemeClr val="accent1"/>
          </a:fillRef>
          <a:effectRef idx="1">
            <a:schemeClr val="accent1"/>
          </a:effectRef>
          <a:fontRef idx="minor">
            <a:schemeClr val="tx1"/>
          </a:fontRef>
        </p:style>
      </p:cxnSp>
      <p:sp>
        <p:nvSpPr>
          <p:cNvPr id="24" name="Rounded Rectangle 14">
            <a:extLst>
              <a:ext uri="{FF2B5EF4-FFF2-40B4-BE49-F238E27FC236}">
                <a16:creationId xmlns:a16="http://schemas.microsoft.com/office/drawing/2014/main" id="{59ACA16F-7C2F-4582-8B05-8B7BBC2B25BF}"/>
              </a:ext>
            </a:extLst>
          </p:cNvPr>
          <p:cNvSpPr/>
          <p:nvPr/>
        </p:nvSpPr>
        <p:spPr>
          <a:xfrm>
            <a:off x="5459790" y="2707039"/>
            <a:ext cx="1033836" cy="235528"/>
          </a:xfrm>
          <a:prstGeom prst="roundRect">
            <a:avLst/>
          </a:prstGeom>
          <a:solidFill>
            <a:srgbClr val="DD8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5446EEE8-310E-4DBC-83B2-031C91498359}"/>
              </a:ext>
            </a:extLst>
          </p:cNvPr>
          <p:cNvSpPr txBox="1"/>
          <p:nvPr/>
        </p:nvSpPr>
        <p:spPr>
          <a:xfrm>
            <a:off x="5548433" y="2718630"/>
            <a:ext cx="822980" cy="203133"/>
          </a:xfrm>
          <a:prstGeom prst="rect">
            <a:avLst/>
          </a:prstGeom>
          <a:noFill/>
        </p:spPr>
        <p:txBody>
          <a:bodyPr wrap="square" lIns="18288" tIns="9144" rIns="18288" bIns="9144" anchor="t">
            <a:spAutoFit/>
          </a:bodyPr>
          <a:lstStyle/>
          <a:p>
            <a:pPr algn="l"/>
            <a:r>
              <a:rPr sz="1200" b="1" dirty="0">
                <a:solidFill>
                  <a:schemeClr val="bg1"/>
                </a:solidFill>
                <a:latin typeface="Times New Roman" panose="02020603050405020304" pitchFamily="18" charset="0"/>
                <a:cs typeface="Times New Roman" panose="02020603050405020304" pitchFamily="18" charset="0"/>
              </a:rPr>
              <a:t>2. Validate</a:t>
            </a:r>
          </a:p>
        </p:txBody>
      </p:sp>
      <p:sp>
        <p:nvSpPr>
          <p:cNvPr id="26" name="TextBox 25">
            <a:extLst>
              <a:ext uri="{FF2B5EF4-FFF2-40B4-BE49-F238E27FC236}">
                <a16:creationId xmlns:a16="http://schemas.microsoft.com/office/drawing/2014/main" id="{1717FFD4-0C35-4101-8FF2-FD98DE1D0FC7}"/>
              </a:ext>
            </a:extLst>
          </p:cNvPr>
          <p:cNvSpPr txBox="1"/>
          <p:nvPr/>
        </p:nvSpPr>
        <p:spPr>
          <a:xfrm>
            <a:off x="6653110" y="2700181"/>
            <a:ext cx="2080209" cy="387798"/>
          </a:xfrm>
          <a:prstGeom prst="rect">
            <a:avLst/>
          </a:prstGeom>
          <a:noFill/>
        </p:spPr>
        <p:txBody>
          <a:bodyPr wrap="square" lIns="18288" tIns="9144" rIns="18288" bIns="9144" anchor="t">
            <a:spAutoFit/>
          </a:bodyPr>
          <a:lstStyle/>
          <a:p>
            <a:pPr algn="l"/>
            <a:r>
              <a:rPr sz="1200" b="0" dirty="0" err="1">
                <a:solidFill>
                  <a:srgbClr val="1E2834"/>
                </a:solidFill>
                <a:latin typeface="Times New Roman" panose="02020603050405020304" pitchFamily="18" charset="0"/>
                <a:cs typeface="Times New Roman" panose="02020603050405020304" pitchFamily="18" charset="0"/>
              </a:rPr>
              <a:t>FastAPI</a:t>
            </a:r>
            <a:r>
              <a:rPr sz="1200" b="0" dirty="0">
                <a:solidFill>
                  <a:srgbClr val="1E2834"/>
                </a:solidFill>
                <a:latin typeface="Times New Roman" panose="02020603050405020304" pitchFamily="18" charset="0"/>
                <a:cs typeface="Times New Roman" panose="02020603050405020304" pitchFamily="18" charset="0"/>
              </a:rPr>
              <a:t> + </a:t>
            </a:r>
            <a:r>
              <a:rPr sz="1200" b="0" dirty="0" err="1">
                <a:solidFill>
                  <a:srgbClr val="1E2834"/>
                </a:solidFill>
                <a:latin typeface="Times New Roman" panose="02020603050405020304" pitchFamily="18" charset="0"/>
                <a:cs typeface="Times New Roman" panose="02020603050405020304" pitchFamily="18" charset="0"/>
              </a:rPr>
              <a:t>Pydantic</a:t>
            </a:r>
            <a:r>
              <a:rPr sz="1200" b="0" dirty="0">
                <a:solidFill>
                  <a:srgbClr val="1E2834"/>
                </a:solidFill>
                <a:latin typeface="Times New Roman" panose="02020603050405020304" pitchFamily="18" charset="0"/>
                <a:cs typeface="Times New Roman" panose="02020603050405020304" pitchFamily="18" charset="0"/>
              </a:rPr>
              <a:t> validate the payload</a:t>
            </a:r>
          </a:p>
        </p:txBody>
      </p:sp>
      <p:cxnSp>
        <p:nvCxnSpPr>
          <p:cNvPr id="27" name="Connector 18">
            <a:extLst>
              <a:ext uri="{FF2B5EF4-FFF2-40B4-BE49-F238E27FC236}">
                <a16:creationId xmlns:a16="http://schemas.microsoft.com/office/drawing/2014/main" id="{3B5BA670-EBE2-4872-BA95-BFEB0D836F1E}"/>
              </a:ext>
            </a:extLst>
          </p:cNvPr>
          <p:cNvCxnSpPr>
            <a:cxnSpLocks/>
          </p:cNvCxnSpPr>
          <p:nvPr/>
        </p:nvCxnSpPr>
        <p:spPr>
          <a:xfrm>
            <a:off x="5590095" y="2967643"/>
            <a:ext cx="0" cy="187037"/>
          </a:xfrm>
          <a:prstGeom prst="line">
            <a:avLst/>
          </a:prstGeom>
          <a:ln w="13970">
            <a:solidFill>
              <a:srgbClr val="D2D9E1"/>
            </a:solidFill>
          </a:ln>
        </p:spPr>
        <p:style>
          <a:lnRef idx="2">
            <a:schemeClr val="accent1"/>
          </a:lnRef>
          <a:fillRef idx="0">
            <a:schemeClr val="accent1"/>
          </a:fillRef>
          <a:effectRef idx="1">
            <a:schemeClr val="accent1"/>
          </a:effectRef>
          <a:fontRef idx="minor">
            <a:schemeClr val="tx1"/>
          </a:fontRef>
        </p:style>
      </p:cxnSp>
      <p:sp>
        <p:nvSpPr>
          <p:cNvPr id="28" name="Rounded Rectangle 19">
            <a:extLst>
              <a:ext uri="{FF2B5EF4-FFF2-40B4-BE49-F238E27FC236}">
                <a16:creationId xmlns:a16="http://schemas.microsoft.com/office/drawing/2014/main" id="{34031342-42BA-47A3-A58A-262CC1F6D6CA}"/>
              </a:ext>
            </a:extLst>
          </p:cNvPr>
          <p:cNvSpPr/>
          <p:nvPr/>
        </p:nvSpPr>
        <p:spPr>
          <a:xfrm>
            <a:off x="5459789" y="3269395"/>
            <a:ext cx="1033835" cy="235528"/>
          </a:xfrm>
          <a:prstGeom prst="roundRect">
            <a:avLst/>
          </a:prstGeom>
          <a:solidFill>
            <a:srgbClr val="238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BD5493A9-90F7-4462-90BB-CA58376948F5}"/>
              </a:ext>
            </a:extLst>
          </p:cNvPr>
          <p:cNvSpPr txBox="1"/>
          <p:nvPr/>
        </p:nvSpPr>
        <p:spPr>
          <a:xfrm>
            <a:off x="5545517" y="3284414"/>
            <a:ext cx="822980" cy="203133"/>
          </a:xfrm>
          <a:prstGeom prst="rect">
            <a:avLst/>
          </a:prstGeom>
          <a:noFill/>
        </p:spPr>
        <p:txBody>
          <a:bodyPr wrap="square" lIns="18288" tIns="9144" rIns="18288" bIns="9144" anchor="t">
            <a:spAutoFit/>
          </a:bodyPr>
          <a:lstStyle/>
          <a:p>
            <a:pPr algn="l"/>
            <a:r>
              <a:rPr sz="1200" b="1" dirty="0">
                <a:solidFill>
                  <a:schemeClr val="bg1"/>
                </a:solidFill>
                <a:latin typeface="Times New Roman" panose="02020603050405020304" pitchFamily="18" charset="0"/>
                <a:cs typeface="Times New Roman" panose="02020603050405020304" pitchFamily="18" charset="0"/>
              </a:rPr>
              <a:t>3. Store</a:t>
            </a:r>
          </a:p>
        </p:txBody>
      </p:sp>
      <p:sp>
        <p:nvSpPr>
          <p:cNvPr id="30" name="TextBox 29">
            <a:extLst>
              <a:ext uri="{FF2B5EF4-FFF2-40B4-BE49-F238E27FC236}">
                <a16:creationId xmlns:a16="http://schemas.microsoft.com/office/drawing/2014/main" id="{239E3112-3C63-45E4-AE62-9C8EBA7EDBA1}"/>
              </a:ext>
            </a:extLst>
          </p:cNvPr>
          <p:cNvSpPr txBox="1"/>
          <p:nvPr/>
        </p:nvSpPr>
        <p:spPr>
          <a:xfrm>
            <a:off x="6653110" y="3262537"/>
            <a:ext cx="2119559" cy="387798"/>
          </a:xfrm>
          <a:prstGeom prst="rect">
            <a:avLst/>
          </a:prstGeom>
          <a:noFill/>
        </p:spPr>
        <p:txBody>
          <a:bodyPr wrap="square" lIns="18288" tIns="9144" rIns="18288" bIns="9144" anchor="t">
            <a:spAutoFit/>
          </a:bodyPr>
          <a:lstStyle/>
          <a:p>
            <a:pPr algn="l"/>
            <a:r>
              <a:rPr sz="1200" b="0" dirty="0" err="1">
                <a:solidFill>
                  <a:srgbClr val="1E2834"/>
                </a:solidFill>
                <a:latin typeface="Times New Roman" panose="02020603050405020304" pitchFamily="18" charset="0"/>
                <a:cs typeface="Times New Roman" panose="02020603050405020304" pitchFamily="18" charset="0"/>
              </a:rPr>
              <a:t>SQLAlchemy</a:t>
            </a:r>
            <a:r>
              <a:rPr sz="1200" b="0" dirty="0">
                <a:solidFill>
                  <a:srgbClr val="1E2834"/>
                </a:solidFill>
                <a:latin typeface="Times New Roman" panose="02020603050405020304" pitchFamily="18" charset="0"/>
                <a:cs typeface="Times New Roman" panose="02020603050405020304" pitchFamily="18" charset="0"/>
              </a:rPr>
              <a:t> writes the feedback record</a:t>
            </a:r>
          </a:p>
        </p:txBody>
      </p:sp>
      <p:sp>
        <p:nvSpPr>
          <p:cNvPr id="31" name="TextBox 30">
            <a:extLst>
              <a:ext uri="{FF2B5EF4-FFF2-40B4-BE49-F238E27FC236}">
                <a16:creationId xmlns:a16="http://schemas.microsoft.com/office/drawing/2014/main" id="{EA568A44-B81F-4A3A-9E67-DFD803E930A0}"/>
              </a:ext>
            </a:extLst>
          </p:cNvPr>
          <p:cNvSpPr txBox="1"/>
          <p:nvPr/>
        </p:nvSpPr>
        <p:spPr>
          <a:xfrm>
            <a:off x="5499190" y="3830187"/>
            <a:ext cx="994434" cy="387798"/>
          </a:xfrm>
          <a:prstGeom prst="rect">
            <a:avLst/>
          </a:prstGeom>
          <a:noFill/>
        </p:spPr>
        <p:txBody>
          <a:bodyPr wrap="square" lIns="18288" tIns="9144" rIns="18288" bIns="9144" anchor="t">
            <a:spAutoFit/>
          </a:bodyPr>
          <a:lstStyle/>
          <a:p>
            <a:pPr algn="l"/>
            <a:r>
              <a:rPr sz="1200" b="1" dirty="0">
                <a:solidFill>
                  <a:srgbClr val="003E73"/>
                </a:solidFill>
                <a:latin typeface="Times New Roman" panose="02020603050405020304" pitchFamily="18" charset="0"/>
                <a:cs typeface="Times New Roman" panose="02020603050405020304" pitchFamily="18" charset="0"/>
              </a:rPr>
              <a:t>Persistence target</a:t>
            </a:r>
          </a:p>
        </p:txBody>
      </p:sp>
      <p:sp>
        <p:nvSpPr>
          <p:cNvPr id="32" name="TextBox 31">
            <a:extLst>
              <a:ext uri="{FF2B5EF4-FFF2-40B4-BE49-F238E27FC236}">
                <a16:creationId xmlns:a16="http://schemas.microsoft.com/office/drawing/2014/main" id="{A66DD06D-9A3D-49BD-A5F1-7D5F00A26DDB}"/>
              </a:ext>
            </a:extLst>
          </p:cNvPr>
          <p:cNvSpPr txBox="1"/>
          <p:nvPr/>
        </p:nvSpPr>
        <p:spPr>
          <a:xfrm>
            <a:off x="6692457" y="3815927"/>
            <a:ext cx="2080213" cy="572464"/>
          </a:xfrm>
          <a:prstGeom prst="rect">
            <a:avLst/>
          </a:prstGeom>
          <a:noFill/>
        </p:spPr>
        <p:txBody>
          <a:bodyPr wrap="square" lIns="18288" tIns="9144" rIns="18288" bIns="9144" anchor="t">
            <a:spAutoFit/>
          </a:bodyPr>
          <a:lstStyle/>
          <a:p>
            <a:pPr algn="l"/>
            <a:r>
              <a:rPr sz="1200" b="0" dirty="0">
                <a:solidFill>
                  <a:srgbClr val="4E5865"/>
                </a:solidFill>
                <a:latin typeface="Times New Roman" panose="02020603050405020304" pitchFamily="18" charset="0"/>
                <a:cs typeface="Times New Roman" panose="02020603050405020304" pitchFamily="18" charset="0"/>
              </a:rPr>
              <a:t>SQLite locally → PostgreSQL-compatible deployment architecture</a:t>
            </a:r>
          </a:p>
        </p:txBody>
      </p:sp>
    </p:spTree>
    <p:extLst>
      <p:ext uri="{BB962C8B-B14F-4D97-AF65-F5344CB8AC3E}">
        <p14:creationId xmlns:p14="http://schemas.microsoft.com/office/powerpoint/2010/main" val="374969162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942643-4B4B-3AF4-2F08-E12BA79BC8F5}"/>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8</a:t>
            </a:fld>
            <a:endParaRPr lang="en-IN" dirty="0"/>
          </a:p>
        </p:txBody>
      </p:sp>
      <p:sp>
        <p:nvSpPr>
          <p:cNvPr id="10" name="TextBox 9">
            <a:extLst>
              <a:ext uri="{FF2B5EF4-FFF2-40B4-BE49-F238E27FC236}">
                <a16:creationId xmlns:a16="http://schemas.microsoft.com/office/drawing/2014/main" id="{D28E8CE0-38BB-43A5-B4EE-22EBF2325B7C}"/>
              </a:ext>
            </a:extLst>
          </p:cNvPr>
          <p:cNvSpPr txBox="1"/>
          <p:nvPr/>
        </p:nvSpPr>
        <p:spPr bwMode="auto">
          <a:xfrm>
            <a:off x="182078" y="4835723"/>
            <a:ext cx="8595233" cy="307777"/>
          </a:xfrm>
          <a:prstGeom prst="rect">
            <a:avLst/>
          </a:prstGeom>
          <a:noFill/>
          <a:ln w="19050" algn="ctr">
            <a:noFill/>
            <a:miter lim="800000"/>
            <a:headEnd/>
            <a:tailEnd/>
          </a:ln>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	Veritas AI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DPA Hackathon 2026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IARE</a:t>
            </a:r>
          </a:p>
        </p:txBody>
      </p:sp>
      <p:pic>
        <p:nvPicPr>
          <p:cNvPr id="7" name="Picture 6">
            <a:extLst>
              <a:ext uri="{FF2B5EF4-FFF2-40B4-BE49-F238E27FC236}">
                <a16:creationId xmlns:a16="http://schemas.microsoft.com/office/drawing/2014/main" id="{663E3B90-F832-4B7C-A832-B10A9043AD70}"/>
              </a:ext>
            </a:extLst>
          </p:cNvPr>
          <p:cNvPicPr>
            <a:picLocks noChangeAspect="1"/>
          </p:cNvPicPr>
          <p:nvPr/>
        </p:nvPicPr>
        <p:blipFill rotWithShape="1">
          <a:blip r:embed="rId3"/>
          <a:srcRect l="-1949" t="31547" r="1949" b="31097"/>
          <a:stretch/>
        </p:blipFill>
        <p:spPr>
          <a:xfrm>
            <a:off x="6384941" y="144570"/>
            <a:ext cx="1905000" cy="711627"/>
          </a:xfrm>
          <a:prstGeom prst="rect">
            <a:avLst/>
          </a:prstGeom>
        </p:spPr>
      </p:pic>
      <p:sp>
        <p:nvSpPr>
          <p:cNvPr id="11" name="object 2">
            <a:extLst>
              <a:ext uri="{FF2B5EF4-FFF2-40B4-BE49-F238E27FC236}">
                <a16:creationId xmlns:a16="http://schemas.microsoft.com/office/drawing/2014/main" id="{D179FC4C-EAB8-4793-B3BD-05E101B4D037}"/>
              </a:ext>
            </a:extLst>
          </p:cNvPr>
          <p:cNvSpPr txBox="1">
            <a:spLocks/>
          </p:cNvSpPr>
          <p:nvPr/>
        </p:nvSpPr>
        <p:spPr>
          <a:xfrm>
            <a:off x="66039" y="188849"/>
            <a:ext cx="7432040" cy="534120"/>
          </a:xfrm>
          <a:prstGeom prst="rect">
            <a:avLst/>
          </a:prstGeom>
        </p:spPr>
        <p:txBody>
          <a:bodyPr vert="horz" wrap="square" lIns="0" tIns="71754" rIns="0" bIns="0" rtlCol="0" anchor="t">
            <a:spAutoFit/>
          </a:bodyPr>
          <a:lst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a:lstStyle>
          <a:p>
            <a:pPr marL="45085">
              <a:lnSpc>
                <a:spcPct val="100000"/>
              </a:lnSpc>
              <a:spcBef>
                <a:spcPts val="105"/>
              </a:spcBef>
            </a:pPr>
            <a:r>
              <a:rPr lang="en-IN" spc="-30" dirty="0">
                <a:latin typeface="Times New Roman" panose="02020603050405020304" pitchFamily="18" charset="0"/>
                <a:cs typeface="Times New Roman" panose="02020603050405020304" pitchFamily="18" charset="0"/>
              </a:rPr>
              <a:t>AI Feedback Classification</a:t>
            </a:r>
          </a:p>
        </p:txBody>
      </p:sp>
      <p:sp>
        <p:nvSpPr>
          <p:cNvPr id="48" name="TextBox 47">
            <a:extLst>
              <a:ext uri="{FF2B5EF4-FFF2-40B4-BE49-F238E27FC236}">
                <a16:creationId xmlns:a16="http://schemas.microsoft.com/office/drawing/2014/main" id="{2D37198C-11D6-4A0A-9E14-CFC388F37BE9}"/>
              </a:ext>
            </a:extLst>
          </p:cNvPr>
          <p:cNvSpPr txBox="1"/>
          <p:nvPr/>
        </p:nvSpPr>
        <p:spPr bwMode="auto">
          <a:xfrm>
            <a:off x="0" y="4592932"/>
            <a:ext cx="5091863" cy="276999"/>
          </a:xfrm>
          <a:prstGeom prst="rect">
            <a:avLst/>
          </a:prstGeom>
          <a:noFill/>
          <a:ln w="19050" algn="ctr">
            <a:noFill/>
            <a:miter lim="800000"/>
            <a:headEnd/>
            <a:tailEnd/>
          </a:ln>
        </p:spPr>
        <p:txBody>
          <a:bodyPr wrap="square">
            <a:spAutoFit/>
          </a:bodyPr>
          <a:lstStyle/>
          <a:p>
            <a:pPr algn="ctr">
              <a:buClr>
                <a:srgbClr val="005093"/>
              </a:buClr>
              <a:tabLst>
                <a:tab pos="180340" algn="l"/>
                <a:tab pos="292735" algn="l"/>
              </a:tabLst>
            </a:pPr>
            <a:r>
              <a:rPr lang="en-US" sz="1200" b="1" i="1" dirty="0">
                <a:solidFill>
                  <a:srgbClr val="525252"/>
                </a:solidFill>
                <a:latin typeface="Times New Roman" panose="02020603050405020304" pitchFamily="18" charset="0"/>
                <a:cs typeface="Times New Roman" panose="02020603050405020304" pitchFamily="18" charset="0"/>
              </a:rPr>
              <a:t>Fig 3. AI Insights</a:t>
            </a:r>
          </a:p>
        </p:txBody>
      </p:sp>
      <p:sp>
        <p:nvSpPr>
          <p:cNvPr id="14" name="object 3">
            <a:extLst>
              <a:ext uri="{FF2B5EF4-FFF2-40B4-BE49-F238E27FC236}">
                <a16:creationId xmlns:a16="http://schemas.microsoft.com/office/drawing/2014/main" id="{0F05F80E-001E-496D-B458-4D21E7A6821B}"/>
              </a:ext>
            </a:extLst>
          </p:cNvPr>
          <p:cNvSpPr txBox="1"/>
          <p:nvPr/>
        </p:nvSpPr>
        <p:spPr>
          <a:xfrm>
            <a:off x="64600" y="1097961"/>
            <a:ext cx="8836596" cy="567463"/>
          </a:xfrm>
          <a:prstGeom prst="rect">
            <a:avLst/>
          </a:prstGeom>
        </p:spPr>
        <p:txBody>
          <a:bodyPr vert="horz" wrap="square" lIns="0" tIns="13335" rIns="0" bIns="0" rtlCol="0" anchor="t">
            <a:spAutoFit/>
          </a:bodyPr>
          <a:lstStyle/>
          <a:p>
            <a:pPr marL="285750" indent="-285750" algn="just">
              <a:buClr>
                <a:srgbClr val="005093"/>
              </a:buClr>
              <a:buFont typeface="Wingdings" panose="05000000000000000000" pitchFamily="2" charset="2"/>
              <a:buChar char="Ø"/>
              <a:tabLst>
                <a:tab pos="180340" algn="l"/>
                <a:tab pos="292735" algn="l"/>
              </a:tabLst>
            </a:pPr>
            <a:r>
              <a:rPr lang="en-US" sz="1200" dirty="0">
                <a:solidFill>
                  <a:srgbClr val="525252"/>
                </a:solidFill>
                <a:latin typeface="Times New Roman" panose="02020603050405020304" pitchFamily="18" charset="0"/>
                <a:cs typeface="Times New Roman" panose="02020603050405020304" pitchFamily="18" charset="0"/>
              </a:rPr>
              <a:t>The supplied screenshot is used as the UI source of truth; the classification example above is shown as the technical transformation.</a:t>
            </a:r>
          </a:p>
          <a:p>
            <a:pPr marL="285750" indent="-285750" algn="just">
              <a:buClr>
                <a:srgbClr val="005093"/>
              </a:buClr>
              <a:buFont typeface="Wingdings" panose="05000000000000000000" pitchFamily="2" charset="2"/>
              <a:buChar char="Ø"/>
              <a:tabLst>
                <a:tab pos="180340" algn="l"/>
                <a:tab pos="292735" algn="l"/>
              </a:tabLst>
            </a:pPr>
            <a:endParaRPr lang="en-US" sz="12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r>
              <a:rPr lang="en-US" sz="1200" dirty="0">
                <a:solidFill>
                  <a:srgbClr val="525252"/>
                </a:solidFill>
                <a:latin typeface="Times New Roman" panose="02020603050405020304" pitchFamily="18" charset="0"/>
                <a:cs typeface="Times New Roman" panose="02020603050405020304" pitchFamily="18" charset="0"/>
              </a:rPr>
              <a:t>Modular NLP layer: comment → category → severity → confidence</a:t>
            </a:r>
          </a:p>
        </p:txBody>
      </p:sp>
      <p:pic>
        <p:nvPicPr>
          <p:cNvPr id="4" name="Picture 3">
            <a:extLst>
              <a:ext uri="{FF2B5EF4-FFF2-40B4-BE49-F238E27FC236}">
                <a16:creationId xmlns:a16="http://schemas.microsoft.com/office/drawing/2014/main" id="{C109DF85-45C6-43D4-804C-DBBDCDCDE799}"/>
              </a:ext>
            </a:extLst>
          </p:cNvPr>
          <p:cNvPicPr>
            <a:picLocks noChangeAspect="1"/>
          </p:cNvPicPr>
          <p:nvPr/>
        </p:nvPicPr>
        <p:blipFill>
          <a:blip r:embed="rId4"/>
          <a:stretch>
            <a:fillRect/>
          </a:stretch>
        </p:blipFill>
        <p:spPr>
          <a:xfrm>
            <a:off x="64600" y="1683703"/>
            <a:ext cx="4960150" cy="2979921"/>
          </a:xfrm>
          <a:prstGeom prst="rect">
            <a:avLst/>
          </a:prstGeom>
        </p:spPr>
      </p:pic>
      <p:sp>
        <p:nvSpPr>
          <p:cNvPr id="46" name="Rounded Rectangle 6">
            <a:extLst>
              <a:ext uri="{FF2B5EF4-FFF2-40B4-BE49-F238E27FC236}">
                <a16:creationId xmlns:a16="http://schemas.microsoft.com/office/drawing/2014/main" id="{232AB7EF-23E8-43F7-8F42-6190FAEBEBAE}"/>
              </a:ext>
            </a:extLst>
          </p:cNvPr>
          <p:cNvSpPr/>
          <p:nvPr/>
        </p:nvSpPr>
        <p:spPr>
          <a:xfrm>
            <a:off x="5144147" y="1704200"/>
            <a:ext cx="3874529" cy="2849956"/>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7">
            <a:extLst>
              <a:ext uri="{FF2B5EF4-FFF2-40B4-BE49-F238E27FC236}">
                <a16:creationId xmlns:a16="http://schemas.microsoft.com/office/drawing/2014/main" id="{8F938DCB-A9D2-45B1-966E-DBEFAA48D961}"/>
              </a:ext>
            </a:extLst>
          </p:cNvPr>
          <p:cNvSpPr/>
          <p:nvPr/>
        </p:nvSpPr>
        <p:spPr>
          <a:xfrm>
            <a:off x="5349891" y="1845266"/>
            <a:ext cx="613185" cy="233172"/>
          </a:xfrm>
          <a:prstGeom prst="roundRect">
            <a:avLst/>
          </a:prstGeom>
          <a:solidFill>
            <a:srgbClr val="0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401817C9-9E9A-463C-8D78-AED6638A2041}"/>
              </a:ext>
            </a:extLst>
          </p:cNvPr>
          <p:cNvSpPr txBox="1"/>
          <p:nvPr/>
        </p:nvSpPr>
        <p:spPr>
          <a:xfrm>
            <a:off x="5370467" y="1853427"/>
            <a:ext cx="592610" cy="203133"/>
          </a:xfrm>
          <a:prstGeom prst="rect">
            <a:avLst/>
          </a:prstGeom>
          <a:noFill/>
        </p:spPr>
        <p:txBody>
          <a:bodyPr wrap="square" lIns="18288" tIns="9144" rIns="18288" bIns="9144" anchor="ctr">
            <a:spAutoFit/>
          </a:bodyPr>
          <a:lstStyle/>
          <a:p>
            <a:pPr algn="ctr"/>
            <a:r>
              <a:rPr sz="1200" b="1" dirty="0">
                <a:solidFill>
                  <a:srgbClr val="FFFFFF"/>
                </a:solidFill>
                <a:latin typeface="Times New Roman" panose="02020603050405020304" pitchFamily="18" charset="0"/>
                <a:cs typeface="Times New Roman" panose="02020603050405020304" pitchFamily="18" charset="0"/>
              </a:rPr>
              <a:t>INPUT</a:t>
            </a:r>
          </a:p>
        </p:txBody>
      </p:sp>
      <p:sp>
        <p:nvSpPr>
          <p:cNvPr id="50" name="TextBox 49">
            <a:extLst>
              <a:ext uri="{FF2B5EF4-FFF2-40B4-BE49-F238E27FC236}">
                <a16:creationId xmlns:a16="http://schemas.microsoft.com/office/drawing/2014/main" id="{8DFF4F50-79C1-41F2-BE8E-D89F01D5C221}"/>
              </a:ext>
            </a:extLst>
          </p:cNvPr>
          <p:cNvSpPr txBox="1"/>
          <p:nvPr/>
        </p:nvSpPr>
        <p:spPr>
          <a:xfrm>
            <a:off x="5349892" y="2208740"/>
            <a:ext cx="3427419" cy="387798"/>
          </a:xfrm>
          <a:prstGeom prst="rect">
            <a:avLst/>
          </a:prstGeom>
          <a:noFill/>
        </p:spPr>
        <p:txBody>
          <a:bodyPr wrap="square" lIns="18288" tIns="9144" rIns="18288" bIns="9144" anchor="t">
            <a:spAutoFit/>
          </a:bodyPr>
          <a:lstStyle/>
          <a:p>
            <a:pPr algn="l"/>
            <a:r>
              <a:rPr sz="1200" b="1" dirty="0">
                <a:solidFill>
                  <a:srgbClr val="1E2834"/>
                </a:solidFill>
                <a:latin typeface="Times New Roman"/>
              </a:rPr>
              <a:t>“The bus is always packed after 6 PM and often arrives late.”</a:t>
            </a:r>
          </a:p>
        </p:txBody>
      </p:sp>
      <p:cxnSp>
        <p:nvCxnSpPr>
          <p:cNvPr id="51" name="Connector 10">
            <a:extLst>
              <a:ext uri="{FF2B5EF4-FFF2-40B4-BE49-F238E27FC236}">
                <a16:creationId xmlns:a16="http://schemas.microsoft.com/office/drawing/2014/main" id="{D45C4976-01A8-4B8E-9F68-F600449EDF0F}"/>
              </a:ext>
            </a:extLst>
          </p:cNvPr>
          <p:cNvCxnSpPr/>
          <p:nvPr/>
        </p:nvCxnSpPr>
        <p:spPr>
          <a:xfrm>
            <a:off x="5404255" y="2942755"/>
            <a:ext cx="3189049" cy="0"/>
          </a:xfrm>
          <a:prstGeom prst="line">
            <a:avLst/>
          </a:prstGeom>
          <a:ln w="17780">
            <a:solidFill>
              <a:srgbClr val="D2D9E1"/>
            </a:solidFill>
          </a:ln>
        </p:spPr>
        <p:style>
          <a:lnRef idx="2">
            <a:schemeClr val="accent1"/>
          </a:lnRef>
          <a:fillRef idx="0">
            <a:schemeClr val="accent1"/>
          </a:fillRef>
          <a:effectRef idx="1">
            <a:schemeClr val="accent1"/>
          </a:effectRef>
          <a:fontRef idx="minor">
            <a:schemeClr val="tx1"/>
          </a:fontRef>
        </p:style>
      </p:cxnSp>
      <p:sp>
        <p:nvSpPr>
          <p:cNvPr id="52" name="Rounded Rectangle 11">
            <a:extLst>
              <a:ext uri="{FF2B5EF4-FFF2-40B4-BE49-F238E27FC236}">
                <a16:creationId xmlns:a16="http://schemas.microsoft.com/office/drawing/2014/main" id="{E8ED8BB0-30B3-434F-B897-F96E1C4CDB9B}"/>
              </a:ext>
            </a:extLst>
          </p:cNvPr>
          <p:cNvSpPr/>
          <p:nvPr/>
        </p:nvSpPr>
        <p:spPr>
          <a:xfrm>
            <a:off x="5272786" y="3162001"/>
            <a:ext cx="1063016" cy="233172"/>
          </a:xfrm>
          <a:prstGeom prst="roundRect">
            <a:avLst/>
          </a:prstGeom>
          <a:solidFill>
            <a:srgbClr val="DD8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B6F2F7BD-3143-46D3-A8EA-DA29458E3A17}"/>
              </a:ext>
            </a:extLst>
          </p:cNvPr>
          <p:cNvSpPr txBox="1"/>
          <p:nvPr/>
        </p:nvSpPr>
        <p:spPr>
          <a:xfrm>
            <a:off x="5293360" y="3170163"/>
            <a:ext cx="1021867" cy="203133"/>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Crowding</a:t>
            </a:r>
          </a:p>
        </p:txBody>
      </p:sp>
      <p:sp>
        <p:nvSpPr>
          <p:cNvPr id="54" name="Rounded Rectangle 13">
            <a:extLst>
              <a:ext uri="{FF2B5EF4-FFF2-40B4-BE49-F238E27FC236}">
                <a16:creationId xmlns:a16="http://schemas.microsoft.com/office/drawing/2014/main" id="{00C4BAFA-7FD5-44A6-BD59-A3F5DB43A1AC}"/>
              </a:ext>
            </a:extLst>
          </p:cNvPr>
          <p:cNvSpPr/>
          <p:nvPr/>
        </p:nvSpPr>
        <p:spPr>
          <a:xfrm>
            <a:off x="6493540" y="3162001"/>
            <a:ext cx="1063016" cy="233172"/>
          </a:xfrm>
          <a:prstGeom prst="roundRect">
            <a:avLst/>
          </a:prstGeom>
          <a:solidFill>
            <a:srgbClr val="0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55" name="TextBox 54">
            <a:extLst>
              <a:ext uri="{FF2B5EF4-FFF2-40B4-BE49-F238E27FC236}">
                <a16:creationId xmlns:a16="http://schemas.microsoft.com/office/drawing/2014/main" id="{B1C7CCB5-FA41-4807-8256-9160813D5DB8}"/>
              </a:ext>
            </a:extLst>
          </p:cNvPr>
          <p:cNvSpPr txBox="1"/>
          <p:nvPr/>
        </p:nvSpPr>
        <p:spPr>
          <a:xfrm>
            <a:off x="6514115" y="3170163"/>
            <a:ext cx="1021867" cy="203133"/>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Punctuality</a:t>
            </a:r>
          </a:p>
        </p:txBody>
      </p:sp>
      <p:sp>
        <p:nvSpPr>
          <p:cNvPr id="56" name="Rounded Rectangle 15">
            <a:extLst>
              <a:ext uri="{FF2B5EF4-FFF2-40B4-BE49-F238E27FC236}">
                <a16:creationId xmlns:a16="http://schemas.microsoft.com/office/drawing/2014/main" id="{08F793EC-06FF-47A4-9BAF-7512A22DB0DE}"/>
              </a:ext>
            </a:extLst>
          </p:cNvPr>
          <p:cNvSpPr/>
          <p:nvPr/>
        </p:nvSpPr>
        <p:spPr>
          <a:xfrm>
            <a:off x="7714295" y="3162001"/>
            <a:ext cx="1063016" cy="233172"/>
          </a:xfrm>
          <a:prstGeom prst="roundRect">
            <a:avLst/>
          </a:prstGeom>
          <a:solidFill>
            <a:srgbClr val="B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688631B4-E06B-4585-815E-C6EE840B438D}"/>
              </a:ext>
            </a:extLst>
          </p:cNvPr>
          <p:cNvSpPr txBox="1"/>
          <p:nvPr/>
        </p:nvSpPr>
        <p:spPr>
          <a:xfrm>
            <a:off x="7734869" y="3168859"/>
            <a:ext cx="1021867" cy="205740"/>
          </a:xfrm>
          <a:prstGeom prst="rect">
            <a:avLst/>
          </a:prstGeom>
          <a:noFill/>
        </p:spPr>
        <p:txBody>
          <a:bodyPr wrap="square" lIns="18288" tIns="9144" rIns="18288" bIns="9144" anchor="ctr">
            <a:spAutoFit/>
          </a:bodyPr>
          <a:lstStyle/>
          <a:p>
            <a:pPr algn="ctr"/>
            <a:r>
              <a:rPr sz="900" b="1">
                <a:solidFill>
                  <a:srgbClr val="FFFFFF"/>
                </a:solidFill>
                <a:latin typeface="Times New Roman"/>
              </a:rPr>
              <a:t>Severity: High</a:t>
            </a:r>
          </a:p>
        </p:txBody>
      </p:sp>
      <p:sp>
        <p:nvSpPr>
          <p:cNvPr id="58" name="TextBox 57">
            <a:extLst>
              <a:ext uri="{FF2B5EF4-FFF2-40B4-BE49-F238E27FC236}">
                <a16:creationId xmlns:a16="http://schemas.microsoft.com/office/drawing/2014/main" id="{C1942A94-D1D2-45A0-BED6-AF8D399D21BF}"/>
              </a:ext>
            </a:extLst>
          </p:cNvPr>
          <p:cNvSpPr txBox="1"/>
          <p:nvPr/>
        </p:nvSpPr>
        <p:spPr>
          <a:xfrm>
            <a:off x="5272786" y="3751789"/>
            <a:ext cx="1714542" cy="205740"/>
          </a:xfrm>
          <a:prstGeom prst="rect">
            <a:avLst/>
          </a:prstGeom>
          <a:noFill/>
        </p:spPr>
        <p:txBody>
          <a:bodyPr wrap="square" lIns="18288" tIns="9144" rIns="18288" bIns="9144" anchor="t">
            <a:spAutoFit/>
          </a:bodyPr>
          <a:lstStyle/>
          <a:p>
            <a:pPr algn="l"/>
            <a:r>
              <a:rPr sz="1200" b="1">
                <a:solidFill>
                  <a:srgbClr val="238755"/>
                </a:solidFill>
                <a:latin typeface="Times New Roman" panose="02020603050405020304" pitchFamily="18" charset="0"/>
                <a:cs typeface="Times New Roman" panose="02020603050405020304" pitchFamily="18" charset="0"/>
              </a:rPr>
              <a:t>Confidence: 0.94</a:t>
            </a:r>
          </a:p>
        </p:txBody>
      </p:sp>
      <p:sp>
        <p:nvSpPr>
          <p:cNvPr id="59" name="TextBox 58">
            <a:extLst>
              <a:ext uri="{FF2B5EF4-FFF2-40B4-BE49-F238E27FC236}">
                <a16:creationId xmlns:a16="http://schemas.microsoft.com/office/drawing/2014/main" id="{EA877073-D473-4096-A7A3-17A3D7DCF0E8}"/>
              </a:ext>
            </a:extLst>
          </p:cNvPr>
          <p:cNvSpPr txBox="1"/>
          <p:nvPr/>
        </p:nvSpPr>
        <p:spPr>
          <a:xfrm>
            <a:off x="6740811" y="3714269"/>
            <a:ext cx="2206778" cy="757130"/>
          </a:xfrm>
          <a:prstGeom prst="rect">
            <a:avLst/>
          </a:prstGeom>
          <a:noFill/>
        </p:spPr>
        <p:txBody>
          <a:bodyPr wrap="square" lIns="18288" tIns="9144" rIns="18288" bIns="9144" anchor="t">
            <a:spAutoFit/>
          </a:bodyPr>
          <a:lstStyle/>
          <a:p>
            <a:pPr algn="l"/>
            <a:r>
              <a:rPr sz="1200" b="1" dirty="0">
                <a:solidFill>
                  <a:srgbClr val="4E5865"/>
                </a:solidFill>
                <a:latin typeface="Times New Roman"/>
              </a:rPr>
              <a:t>Current implementation: </a:t>
            </a:r>
            <a:endParaRPr lang="en-IN" sz="1200" b="1" dirty="0">
              <a:solidFill>
                <a:srgbClr val="4E5865"/>
              </a:solidFill>
              <a:latin typeface="Times New Roman"/>
            </a:endParaRPr>
          </a:p>
          <a:p>
            <a:pPr marL="171450" indent="-171450" algn="l">
              <a:buFont typeface="Arial" panose="020B0604020202020204" pitchFamily="34" charset="0"/>
              <a:buChar char="•"/>
            </a:pPr>
            <a:r>
              <a:rPr lang="en-IN" sz="1200" dirty="0">
                <a:solidFill>
                  <a:srgbClr val="4E5865"/>
                </a:solidFill>
                <a:latin typeface="Times New Roman"/>
              </a:rPr>
              <a:t>L</a:t>
            </a:r>
            <a:r>
              <a:rPr sz="1200" b="0" dirty="0" err="1">
                <a:solidFill>
                  <a:srgbClr val="4E5865"/>
                </a:solidFill>
                <a:latin typeface="Times New Roman"/>
              </a:rPr>
              <a:t>ocal</a:t>
            </a:r>
            <a:r>
              <a:rPr sz="1200" b="0" dirty="0">
                <a:solidFill>
                  <a:srgbClr val="4E5865"/>
                </a:solidFill>
                <a:latin typeface="Times New Roman"/>
              </a:rPr>
              <a:t> rule-based NLP classifier.</a:t>
            </a:r>
            <a:endParaRPr lang="en-IN" sz="1200" b="0" dirty="0">
              <a:solidFill>
                <a:srgbClr val="4E5865"/>
              </a:solidFill>
              <a:latin typeface="Times New Roman"/>
            </a:endParaRPr>
          </a:p>
          <a:p>
            <a:pPr marL="171450" indent="-171450" algn="l">
              <a:buFont typeface="Arial" panose="020B0604020202020204" pitchFamily="34" charset="0"/>
              <a:buChar char="•"/>
            </a:pPr>
            <a:r>
              <a:rPr sz="1200" b="0" dirty="0">
                <a:solidFill>
                  <a:srgbClr val="4E5865"/>
                </a:solidFill>
                <a:latin typeface="Times New Roman"/>
              </a:rPr>
              <a:t>Designed for a local LLM integration later.</a:t>
            </a:r>
          </a:p>
        </p:txBody>
      </p:sp>
    </p:spTree>
    <p:extLst>
      <p:ext uri="{BB962C8B-B14F-4D97-AF65-F5344CB8AC3E}">
        <p14:creationId xmlns:p14="http://schemas.microsoft.com/office/powerpoint/2010/main" val="274569880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942643-4B4B-3AF4-2F08-E12BA79BC8F5}"/>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9</a:t>
            </a:fld>
            <a:endParaRPr lang="en-IN" dirty="0"/>
          </a:p>
        </p:txBody>
      </p:sp>
      <p:sp>
        <p:nvSpPr>
          <p:cNvPr id="10" name="TextBox 9">
            <a:extLst>
              <a:ext uri="{FF2B5EF4-FFF2-40B4-BE49-F238E27FC236}">
                <a16:creationId xmlns:a16="http://schemas.microsoft.com/office/drawing/2014/main" id="{D28E8CE0-38BB-43A5-B4EE-22EBF2325B7C}"/>
              </a:ext>
            </a:extLst>
          </p:cNvPr>
          <p:cNvSpPr txBox="1"/>
          <p:nvPr/>
        </p:nvSpPr>
        <p:spPr bwMode="auto">
          <a:xfrm>
            <a:off x="182078" y="4835723"/>
            <a:ext cx="8595233" cy="307777"/>
          </a:xfrm>
          <a:prstGeom prst="rect">
            <a:avLst/>
          </a:prstGeom>
          <a:noFill/>
          <a:ln w="19050" algn="ctr">
            <a:noFill/>
            <a:miter lim="800000"/>
            <a:headEnd/>
            <a:tailEnd/>
          </a:ln>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	Veritas AI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DPA Hackathon 2026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IARE</a:t>
            </a:r>
          </a:p>
        </p:txBody>
      </p:sp>
      <p:pic>
        <p:nvPicPr>
          <p:cNvPr id="7" name="Picture 6">
            <a:extLst>
              <a:ext uri="{FF2B5EF4-FFF2-40B4-BE49-F238E27FC236}">
                <a16:creationId xmlns:a16="http://schemas.microsoft.com/office/drawing/2014/main" id="{663E3B90-F832-4B7C-A832-B10A9043AD70}"/>
              </a:ext>
            </a:extLst>
          </p:cNvPr>
          <p:cNvPicPr>
            <a:picLocks noChangeAspect="1"/>
          </p:cNvPicPr>
          <p:nvPr/>
        </p:nvPicPr>
        <p:blipFill rotWithShape="1">
          <a:blip r:embed="rId3"/>
          <a:srcRect l="-1949" t="31547" r="1949" b="31097"/>
          <a:stretch/>
        </p:blipFill>
        <p:spPr>
          <a:xfrm>
            <a:off x="6384941" y="144570"/>
            <a:ext cx="1905000" cy="711627"/>
          </a:xfrm>
          <a:prstGeom prst="rect">
            <a:avLst/>
          </a:prstGeom>
        </p:spPr>
      </p:pic>
      <p:sp>
        <p:nvSpPr>
          <p:cNvPr id="11" name="object 2">
            <a:extLst>
              <a:ext uri="{FF2B5EF4-FFF2-40B4-BE49-F238E27FC236}">
                <a16:creationId xmlns:a16="http://schemas.microsoft.com/office/drawing/2014/main" id="{D179FC4C-EAB8-4793-B3BD-05E101B4D037}"/>
              </a:ext>
            </a:extLst>
          </p:cNvPr>
          <p:cNvSpPr txBox="1">
            <a:spLocks/>
          </p:cNvSpPr>
          <p:nvPr/>
        </p:nvSpPr>
        <p:spPr>
          <a:xfrm>
            <a:off x="66039" y="188849"/>
            <a:ext cx="7432040" cy="534120"/>
          </a:xfrm>
          <a:prstGeom prst="rect">
            <a:avLst/>
          </a:prstGeom>
        </p:spPr>
        <p:txBody>
          <a:bodyPr vert="horz" wrap="square" lIns="0" tIns="71754" rIns="0" bIns="0" rtlCol="0" anchor="t">
            <a:spAutoFit/>
          </a:bodyPr>
          <a:lst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a:lstStyle>
          <a:p>
            <a:pPr marL="45085">
              <a:lnSpc>
                <a:spcPct val="100000"/>
              </a:lnSpc>
              <a:spcBef>
                <a:spcPts val="105"/>
              </a:spcBef>
            </a:pPr>
            <a:r>
              <a:rPr lang="en-IN" spc="-30" dirty="0">
                <a:latin typeface="Times New Roman" panose="02020603050405020304" pitchFamily="18" charset="0"/>
                <a:cs typeface="Times New Roman" panose="02020603050405020304" pitchFamily="18" charset="0"/>
              </a:rPr>
              <a:t>Python Analytics Engine</a:t>
            </a:r>
          </a:p>
        </p:txBody>
      </p:sp>
      <p:sp>
        <p:nvSpPr>
          <p:cNvPr id="14" name="object 3">
            <a:extLst>
              <a:ext uri="{FF2B5EF4-FFF2-40B4-BE49-F238E27FC236}">
                <a16:creationId xmlns:a16="http://schemas.microsoft.com/office/drawing/2014/main" id="{0F05F80E-001E-496D-B458-4D21E7A6821B}"/>
              </a:ext>
            </a:extLst>
          </p:cNvPr>
          <p:cNvSpPr txBox="1"/>
          <p:nvPr/>
        </p:nvSpPr>
        <p:spPr>
          <a:xfrm>
            <a:off x="64600" y="1097961"/>
            <a:ext cx="8836596" cy="2044791"/>
          </a:xfrm>
          <a:prstGeom prst="rect">
            <a:avLst/>
          </a:prstGeom>
        </p:spPr>
        <p:txBody>
          <a:bodyPr vert="horz" wrap="square" lIns="0" tIns="13335" rIns="0" bIns="0" rtlCol="0" anchor="t">
            <a:spAutoFit/>
          </a:bodyPr>
          <a:lstStyle/>
          <a:p>
            <a:pPr marL="285750" indent="-285750" algn="just">
              <a:buClr>
                <a:srgbClr val="005093"/>
              </a:buClr>
              <a:buFont typeface="Wingdings" panose="05000000000000000000" pitchFamily="2" charset="2"/>
              <a:buChar char="Ø"/>
              <a:tabLst>
                <a:tab pos="180340" algn="l"/>
                <a:tab pos="292735" algn="l"/>
              </a:tabLst>
            </a:pPr>
            <a:r>
              <a:rPr lang="en-US" sz="1200" dirty="0">
                <a:solidFill>
                  <a:srgbClr val="525252"/>
                </a:solidFill>
                <a:latin typeface="Times New Roman" panose="02020603050405020304" pitchFamily="18" charset="0"/>
                <a:cs typeface="Times New Roman" panose="02020603050405020304" pitchFamily="18" charset="0"/>
              </a:rPr>
              <a:t>Pandas + NumPy convert feedback records into comparable operational signals.</a:t>
            </a:r>
          </a:p>
          <a:p>
            <a:pPr marL="285750" indent="-285750" algn="just">
              <a:buClr>
                <a:srgbClr val="005093"/>
              </a:buClr>
              <a:buFont typeface="Wingdings" panose="05000000000000000000" pitchFamily="2" charset="2"/>
              <a:buChar char="Ø"/>
              <a:tabLst>
                <a:tab pos="180340" algn="l"/>
                <a:tab pos="292735" algn="l"/>
              </a:tabLst>
            </a:pPr>
            <a:endParaRPr lang="en-US" sz="12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2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2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2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2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2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2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2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2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r>
              <a:rPr lang="en-US" sz="1200" dirty="0">
                <a:solidFill>
                  <a:srgbClr val="525252"/>
                </a:solidFill>
                <a:latin typeface="Times New Roman" panose="02020603050405020304" pitchFamily="18" charset="0"/>
                <a:cs typeface="Times New Roman" panose="02020603050405020304" pitchFamily="18" charset="0"/>
              </a:rPr>
              <a:t>Deterioration compares current and previous periods using rating decrease, complaint increase and high/critical complaint increase.</a:t>
            </a:r>
          </a:p>
        </p:txBody>
      </p:sp>
      <p:sp>
        <p:nvSpPr>
          <p:cNvPr id="49" name="TextBox 48">
            <a:extLst>
              <a:ext uri="{FF2B5EF4-FFF2-40B4-BE49-F238E27FC236}">
                <a16:creationId xmlns:a16="http://schemas.microsoft.com/office/drawing/2014/main" id="{401817C9-9E9A-463C-8D78-AED6638A2041}"/>
              </a:ext>
            </a:extLst>
          </p:cNvPr>
          <p:cNvSpPr txBox="1"/>
          <p:nvPr/>
        </p:nvSpPr>
        <p:spPr>
          <a:xfrm>
            <a:off x="5364961" y="1230996"/>
            <a:ext cx="452638" cy="387798"/>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INPUT</a:t>
            </a:r>
          </a:p>
        </p:txBody>
      </p:sp>
      <p:sp>
        <p:nvSpPr>
          <p:cNvPr id="74" name="Rounded Rectangle 6">
            <a:extLst>
              <a:ext uri="{FF2B5EF4-FFF2-40B4-BE49-F238E27FC236}">
                <a16:creationId xmlns:a16="http://schemas.microsoft.com/office/drawing/2014/main" id="{499D2247-21CE-4395-9025-471A61CD141E}"/>
              </a:ext>
            </a:extLst>
          </p:cNvPr>
          <p:cNvSpPr/>
          <p:nvPr/>
        </p:nvSpPr>
        <p:spPr>
          <a:xfrm>
            <a:off x="315011" y="1383218"/>
            <a:ext cx="1817415" cy="1372673"/>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75" name="Rounded Rectangle 7">
            <a:extLst>
              <a:ext uri="{FF2B5EF4-FFF2-40B4-BE49-F238E27FC236}">
                <a16:creationId xmlns:a16="http://schemas.microsoft.com/office/drawing/2014/main" id="{7EB4A32D-8B0F-4A8D-959F-B8DEB4C40DC0}"/>
              </a:ext>
            </a:extLst>
          </p:cNvPr>
          <p:cNvSpPr/>
          <p:nvPr/>
        </p:nvSpPr>
        <p:spPr>
          <a:xfrm>
            <a:off x="452174" y="1547811"/>
            <a:ext cx="782498" cy="233172"/>
          </a:xfrm>
          <a:prstGeom prst="roundRect">
            <a:avLst/>
          </a:prstGeom>
          <a:solidFill>
            <a:srgbClr val="0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76" name="TextBox 75">
            <a:extLst>
              <a:ext uri="{FF2B5EF4-FFF2-40B4-BE49-F238E27FC236}">
                <a16:creationId xmlns:a16="http://schemas.microsoft.com/office/drawing/2014/main" id="{CBDD2BC4-DB00-44F3-A639-1FC57E6502D2}"/>
              </a:ext>
            </a:extLst>
          </p:cNvPr>
          <p:cNvSpPr txBox="1"/>
          <p:nvPr/>
        </p:nvSpPr>
        <p:spPr>
          <a:xfrm>
            <a:off x="472749" y="1555973"/>
            <a:ext cx="678958" cy="203133"/>
          </a:xfrm>
          <a:prstGeom prst="rect">
            <a:avLst/>
          </a:prstGeom>
          <a:noFill/>
        </p:spPr>
        <p:txBody>
          <a:bodyPr wrap="square" lIns="18288" tIns="9144" rIns="18288" bIns="9144" anchor="ctr">
            <a:spAutoFit/>
          </a:bodyPr>
          <a:lstStyle/>
          <a:p>
            <a:pPr algn="ctr"/>
            <a:r>
              <a:rPr sz="1200" b="1" dirty="0">
                <a:solidFill>
                  <a:srgbClr val="FFFFFF"/>
                </a:solidFill>
                <a:latin typeface="Times New Roman" panose="02020603050405020304" pitchFamily="18" charset="0"/>
                <a:cs typeface="Times New Roman" panose="02020603050405020304" pitchFamily="18" charset="0"/>
              </a:rPr>
              <a:t>FILTER</a:t>
            </a:r>
          </a:p>
        </p:txBody>
      </p:sp>
      <p:sp>
        <p:nvSpPr>
          <p:cNvPr id="77" name="TextBox 76">
            <a:extLst>
              <a:ext uri="{FF2B5EF4-FFF2-40B4-BE49-F238E27FC236}">
                <a16:creationId xmlns:a16="http://schemas.microsoft.com/office/drawing/2014/main" id="{0876D78C-BA4C-4277-923B-C91B60AC0377}"/>
              </a:ext>
            </a:extLst>
          </p:cNvPr>
          <p:cNvSpPr txBox="1"/>
          <p:nvPr/>
        </p:nvSpPr>
        <p:spPr>
          <a:xfrm>
            <a:off x="472749" y="1797541"/>
            <a:ext cx="1495081" cy="941796"/>
          </a:xfrm>
          <a:prstGeom prst="rect">
            <a:avLst/>
          </a:prstGeom>
          <a:noFill/>
        </p:spPr>
        <p:txBody>
          <a:bodyPr wrap="square" lIns="18288" tIns="9144" rIns="18288" bIns="9144" anchor="t">
            <a:spAutoFit/>
          </a:bodyPr>
          <a:lstStyle/>
          <a:p>
            <a:pPr marL="171450" indent="-171450">
              <a:buFont typeface="Arial" panose="020B0604020202020204" pitchFamily="34" charset="0"/>
              <a:buChar char="•"/>
            </a:pPr>
            <a:r>
              <a:rPr sz="1200" b="1" dirty="0">
                <a:solidFill>
                  <a:srgbClr val="1E2834"/>
                </a:solidFill>
                <a:latin typeface="Times New Roman" panose="02020603050405020304" pitchFamily="18" charset="0"/>
                <a:cs typeface="Times New Roman" panose="02020603050405020304" pitchFamily="18" charset="0"/>
              </a:rPr>
              <a:t>Date </a:t>
            </a:r>
            <a:endParaRPr lang="en-IN" sz="1200" b="1" dirty="0">
              <a:solidFill>
                <a:srgbClr val="1E2834"/>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sz="1200" b="1" dirty="0">
                <a:solidFill>
                  <a:srgbClr val="1E2834"/>
                </a:solidFill>
                <a:latin typeface="Times New Roman" panose="02020603050405020304" pitchFamily="18" charset="0"/>
                <a:cs typeface="Times New Roman" panose="02020603050405020304" pitchFamily="18" charset="0"/>
              </a:rPr>
              <a:t>route </a:t>
            </a:r>
            <a:endParaRPr lang="en-IN" sz="1200" b="1" dirty="0">
              <a:solidFill>
                <a:srgbClr val="1E2834"/>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200" b="1" dirty="0">
                <a:solidFill>
                  <a:srgbClr val="1E2834"/>
                </a:solidFill>
                <a:latin typeface="Times New Roman" panose="02020603050405020304" pitchFamily="18" charset="0"/>
                <a:cs typeface="Times New Roman" panose="02020603050405020304" pitchFamily="18" charset="0"/>
              </a:rPr>
              <a:t>C</a:t>
            </a:r>
            <a:r>
              <a:rPr sz="1200" b="1" dirty="0" err="1">
                <a:solidFill>
                  <a:srgbClr val="1E2834"/>
                </a:solidFill>
                <a:latin typeface="Times New Roman" panose="02020603050405020304" pitchFamily="18" charset="0"/>
                <a:cs typeface="Times New Roman" panose="02020603050405020304" pitchFamily="18" charset="0"/>
              </a:rPr>
              <a:t>ategory</a:t>
            </a:r>
            <a:endParaRPr lang="en-IN" sz="1200" b="1" dirty="0">
              <a:solidFill>
                <a:srgbClr val="1E2834"/>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sz="1200" b="1" dirty="0">
                <a:solidFill>
                  <a:srgbClr val="1E2834"/>
                </a:solidFill>
                <a:latin typeface="Times New Roman" panose="02020603050405020304" pitchFamily="18" charset="0"/>
                <a:cs typeface="Times New Roman" panose="02020603050405020304" pitchFamily="18" charset="0"/>
              </a:rPr>
              <a:t>severity </a:t>
            </a:r>
            <a:endParaRPr lang="en-IN" sz="1200" b="1" dirty="0">
              <a:solidFill>
                <a:srgbClr val="1E2834"/>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sz="1200" b="1" dirty="0">
                <a:solidFill>
                  <a:srgbClr val="1E2834"/>
                </a:solidFill>
                <a:latin typeface="Times New Roman" panose="02020603050405020304" pitchFamily="18" charset="0"/>
                <a:cs typeface="Times New Roman" panose="02020603050405020304" pitchFamily="18" charset="0"/>
              </a:rPr>
              <a:t>time slot</a:t>
            </a:r>
          </a:p>
        </p:txBody>
      </p:sp>
      <p:cxnSp>
        <p:nvCxnSpPr>
          <p:cNvPr id="78" name="Connector 10">
            <a:extLst>
              <a:ext uri="{FF2B5EF4-FFF2-40B4-BE49-F238E27FC236}">
                <a16:creationId xmlns:a16="http://schemas.microsoft.com/office/drawing/2014/main" id="{54DC8EBF-8CAF-4342-8996-9F9ED113B43F}"/>
              </a:ext>
            </a:extLst>
          </p:cNvPr>
          <p:cNvCxnSpPr/>
          <p:nvPr/>
        </p:nvCxnSpPr>
        <p:spPr>
          <a:xfrm>
            <a:off x="2132426" y="1959291"/>
            <a:ext cx="253752" cy="0"/>
          </a:xfrm>
          <a:prstGeom prst="line">
            <a:avLst/>
          </a:prstGeom>
          <a:ln w="19050">
            <a:solidFill>
              <a:srgbClr val="005BA0"/>
            </a:solidFill>
          </a:ln>
        </p:spPr>
        <p:style>
          <a:lnRef idx="2">
            <a:schemeClr val="accent1"/>
          </a:lnRef>
          <a:fillRef idx="0">
            <a:schemeClr val="accent1"/>
          </a:fillRef>
          <a:effectRef idx="1">
            <a:schemeClr val="accent1"/>
          </a:effectRef>
          <a:fontRef idx="minor">
            <a:schemeClr val="tx1"/>
          </a:fontRef>
        </p:style>
      </p:cxnSp>
      <p:sp>
        <p:nvSpPr>
          <p:cNvPr id="79" name="Rounded Rectangle 11">
            <a:extLst>
              <a:ext uri="{FF2B5EF4-FFF2-40B4-BE49-F238E27FC236}">
                <a16:creationId xmlns:a16="http://schemas.microsoft.com/office/drawing/2014/main" id="{E059170E-163A-4329-8864-D0FBE1EC4AC1}"/>
              </a:ext>
            </a:extLst>
          </p:cNvPr>
          <p:cNvSpPr/>
          <p:nvPr/>
        </p:nvSpPr>
        <p:spPr>
          <a:xfrm>
            <a:off x="2406752" y="1383218"/>
            <a:ext cx="1817415" cy="1372671"/>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80" name="Rounded Rectangle 12">
            <a:extLst>
              <a:ext uri="{FF2B5EF4-FFF2-40B4-BE49-F238E27FC236}">
                <a16:creationId xmlns:a16="http://schemas.microsoft.com/office/drawing/2014/main" id="{90EC68B6-37A6-4C87-8083-8470FE26F7EE}"/>
              </a:ext>
            </a:extLst>
          </p:cNvPr>
          <p:cNvSpPr/>
          <p:nvPr/>
        </p:nvSpPr>
        <p:spPr>
          <a:xfrm>
            <a:off x="2543916" y="1547811"/>
            <a:ext cx="1060011" cy="233172"/>
          </a:xfrm>
          <a:prstGeom prst="roundRect">
            <a:avLst/>
          </a:prstGeom>
          <a:solidFill>
            <a:srgbClr val="008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81" name="TextBox 80">
            <a:extLst>
              <a:ext uri="{FF2B5EF4-FFF2-40B4-BE49-F238E27FC236}">
                <a16:creationId xmlns:a16="http://schemas.microsoft.com/office/drawing/2014/main" id="{BB61111E-51DD-4AEB-ABBF-32CF80305FA2}"/>
              </a:ext>
            </a:extLst>
          </p:cNvPr>
          <p:cNvSpPr txBox="1"/>
          <p:nvPr/>
        </p:nvSpPr>
        <p:spPr>
          <a:xfrm>
            <a:off x="2564489" y="1555972"/>
            <a:ext cx="1039438" cy="203133"/>
          </a:xfrm>
          <a:prstGeom prst="rect">
            <a:avLst/>
          </a:prstGeom>
          <a:noFill/>
        </p:spPr>
        <p:txBody>
          <a:bodyPr wrap="square" lIns="18288" tIns="9144" rIns="18288" bIns="9144" anchor="ctr">
            <a:spAutoFit/>
          </a:bodyPr>
          <a:lstStyle/>
          <a:p>
            <a:pPr algn="ctr"/>
            <a:r>
              <a:rPr sz="1200" b="1" dirty="0">
                <a:solidFill>
                  <a:srgbClr val="FFFFFF"/>
                </a:solidFill>
                <a:latin typeface="Times New Roman" panose="02020603050405020304" pitchFamily="18" charset="0"/>
                <a:cs typeface="Times New Roman" panose="02020603050405020304" pitchFamily="18" charset="0"/>
              </a:rPr>
              <a:t>AGGREGATE</a:t>
            </a:r>
          </a:p>
        </p:txBody>
      </p:sp>
      <p:sp>
        <p:nvSpPr>
          <p:cNvPr id="82" name="TextBox 81">
            <a:extLst>
              <a:ext uri="{FF2B5EF4-FFF2-40B4-BE49-F238E27FC236}">
                <a16:creationId xmlns:a16="http://schemas.microsoft.com/office/drawing/2014/main" id="{26959E29-6AB1-4CF1-9C60-B072FA038C9B}"/>
              </a:ext>
            </a:extLst>
          </p:cNvPr>
          <p:cNvSpPr txBox="1"/>
          <p:nvPr/>
        </p:nvSpPr>
        <p:spPr>
          <a:xfrm>
            <a:off x="2543917" y="1966149"/>
            <a:ext cx="1495081" cy="572464"/>
          </a:xfrm>
          <a:prstGeom prst="rect">
            <a:avLst/>
          </a:prstGeom>
          <a:noFill/>
        </p:spPr>
        <p:txBody>
          <a:bodyPr wrap="square" lIns="18288" tIns="9144" rIns="18288" bIns="9144" anchor="t">
            <a:spAutoFit/>
          </a:bodyPr>
          <a:lstStyle/>
          <a:p>
            <a:pPr marL="171450" indent="-171450">
              <a:buFont typeface="Arial" panose="020B0604020202020204" pitchFamily="34" charset="0"/>
              <a:buChar char="•"/>
            </a:pPr>
            <a:r>
              <a:rPr sz="1200" b="1" dirty="0">
                <a:solidFill>
                  <a:srgbClr val="1E2834"/>
                </a:solidFill>
                <a:latin typeface="Times New Roman" panose="02020603050405020304" pitchFamily="18" charset="0"/>
                <a:cs typeface="Times New Roman" panose="02020603050405020304" pitchFamily="18" charset="0"/>
              </a:rPr>
              <a:t>Counts </a:t>
            </a:r>
            <a:endParaRPr lang="en-IN" sz="1200" b="1" dirty="0">
              <a:solidFill>
                <a:srgbClr val="1E2834"/>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200" b="1" dirty="0">
                <a:solidFill>
                  <a:srgbClr val="1E2834"/>
                </a:solidFill>
                <a:latin typeface="Times New Roman" panose="02020603050405020304" pitchFamily="18" charset="0"/>
                <a:cs typeface="Times New Roman" panose="02020603050405020304" pitchFamily="18" charset="0"/>
              </a:rPr>
              <a:t>M</a:t>
            </a:r>
            <a:r>
              <a:rPr sz="1200" b="1" dirty="0" err="1">
                <a:solidFill>
                  <a:srgbClr val="1E2834"/>
                </a:solidFill>
                <a:latin typeface="Times New Roman" panose="02020603050405020304" pitchFamily="18" charset="0"/>
                <a:cs typeface="Times New Roman" panose="02020603050405020304" pitchFamily="18" charset="0"/>
              </a:rPr>
              <a:t>eans</a:t>
            </a:r>
            <a:endParaRPr lang="en-IN" sz="1200" b="1" dirty="0">
              <a:solidFill>
                <a:srgbClr val="1E2834"/>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sz="1200" b="1" dirty="0">
                <a:solidFill>
                  <a:srgbClr val="1E2834"/>
                </a:solidFill>
                <a:latin typeface="Times New Roman" panose="02020603050405020304" pitchFamily="18" charset="0"/>
                <a:cs typeface="Times New Roman" panose="02020603050405020304" pitchFamily="18" charset="0"/>
              </a:rPr>
              <a:t>issue frequencies</a:t>
            </a:r>
          </a:p>
        </p:txBody>
      </p:sp>
      <p:cxnSp>
        <p:nvCxnSpPr>
          <p:cNvPr id="83" name="Connector 15">
            <a:extLst>
              <a:ext uri="{FF2B5EF4-FFF2-40B4-BE49-F238E27FC236}">
                <a16:creationId xmlns:a16="http://schemas.microsoft.com/office/drawing/2014/main" id="{D92E6565-8BB1-46A4-8BDC-44343EEB6B75}"/>
              </a:ext>
            </a:extLst>
          </p:cNvPr>
          <p:cNvCxnSpPr/>
          <p:nvPr/>
        </p:nvCxnSpPr>
        <p:spPr>
          <a:xfrm>
            <a:off x="4224169" y="1959291"/>
            <a:ext cx="253751" cy="0"/>
          </a:xfrm>
          <a:prstGeom prst="line">
            <a:avLst/>
          </a:prstGeom>
          <a:ln w="19050">
            <a:solidFill>
              <a:srgbClr val="008BBE"/>
            </a:solidFill>
          </a:ln>
        </p:spPr>
        <p:style>
          <a:lnRef idx="2">
            <a:schemeClr val="accent1"/>
          </a:lnRef>
          <a:fillRef idx="0">
            <a:schemeClr val="accent1"/>
          </a:fillRef>
          <a:effectRef idx="1">
            <a:schemeClr val="accent1"/>
          </a:effectRef>
          <a:fontRef idx="minor">
            <a:schemeClr val="tx1"/>
          </a:fontRef>
        </p:style>
      </p:cxnSp>
      <p:sp>
        <p:nvSpPr>
          <p:cNvPr id="84" name="Rounded Rectangle 16">
            <a:extLst>
              <a:ext uri="{FF2B5EF4-FFF2-40B4-BE49-F238E27FC236}">
                <a16:creationId xmlns:a16="http://schemas.microsoft.com/office/drawing/2014/main" id="{41EACA78-1D06-4416-B32C-8A4C524A92F8}"/>
              </a:ext>
            </a:extLst>
          </p:cNvPr>
          <p:cNvSpPr/>
          <p:nvPr/>
        </p:nvSpPr>
        <p:spPr>
          <a:xfrm>
            <a:off x="4498495" y="1383218"/>
            <a:ext cx="1817415" cy="1372669"/>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85" name="Rounded Rectangle 17">
            <a:extLst>
              <a:ext uri="{FF2B5EF4-FFF2-40B4-BE49-F238E27FC236}">
                <a16:creationId xmlns:a16="http://schemas.microsoft.com/office/drawing/2014/main" id="{E796ECB6-CE8A-41C6-9FDD-FF16F8638C0C}"/>
              </a:ext>
            </a:extLst>
          </p:cNvPr>
          <p:cNvSpPr/>
          <p:nvPr/>
        </p:nvSpPr>
        <p:spPr>
          <a:xfrm>
            <a:off x="4635659" y="1547811"/>
            <a:ext cx="720108" cy="233172"/>
          </a:xfrm>
          <a:prstGeom prst="roundRect">
            <a:avLst/>
          </a:prstGeom>
          <a:solidFill>
            <a:srgbClr val="DD8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86" name="TextBox 85">
            <a:extLst>
              <a:ext uri="{FF2B5EF4-FFF2-40B4-BE49-F238E27FC236}">
                <a16:creationId xmlns:a16="http://schemas.microsoft.com/office/drawing/2014/main" id="{51F1536D-FA54-407A-84F1-ABAAC7C689FD}"/>
              </a:ext>
            </a:extLst>
          </p:cNvPr>
          <p:cNvSpPr txBox="1"/>
          <p:nvPr/>
        </p:nvSpPr>
        <p:spPr>
          <a:xfrm>
            <a:off x="4656233" y="1555973"/>
            <a:ext cx="678958" cy="203133"/>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RANK</a:t>
            </a:r>
          </a:p>
        </p:txBody>
      </p:sp>
      <p:sp>
        <p:nvSpPr>
          <p:cNvPr id="87" name="TextBox 86">
            <a:extLst>
              <a:ext uri="{FF2B5EF4-FFF2-40B4-BE49-F238E27FC236}">
                <a16:creationId xmlns:a16="http://schemas.microsoft.com/office/drawing/2014/main" id="{96F48795-1E0A-4CB4-A16E-960BF15F3C6D}"/>
              </a:ext>
            </a:extLst>
          </p:cNvPr>
          <p:cNvSpPr txBox="1"/>
          <p:nvPr/>
        </p:nvSpPr>
        <p:spPr>
          <a:xfrm>
            <a:off x="4635659" y="1966149"/>
            <a:ext cx="1495081" cy="387798"/>
          </a:xfrm>
          <a:prstGeom prst="rect">
            <a:avLst/>
          </a:prstGeom>
          <a:noFill/>
        </p:spPr>
        <p:txBody>
          <a:bodyPr wrap="square" lIns="18288" tIns="9144" rIns="18288" bIns="9144" anchor="t">
            <a:spAutoFit/>
          </a:bodyPr>
          <a:lstStyle/>
          <a:p>
            <a:pPr algn="ctr"/>
            <a:r>
              <a:rPr sz="1200" b="1">
                <a:solidFill>
                  <a:srgbClr val="1E2834"/>
                </a:solidFill>
                <a:latin typeface="Times New Roman" panose="02020603050405020304" pitchFamily="18" charset="0"/>
                <a:cs typeface="Times New Roman" panose="02020603050405020304" pitchFamily="18" charset="0"/>
              </a:rPr>
              <a:t>Ratings + complaints</a:t>
            </a:r>
            <a:br>
              <a:rPr sz="1200">
                <a:latin typeface="Times New Roman" panose="02020603050405020304" pitchFamily="18" charset="0"/>
                <a:cs typeface="Times New Roman" panose="02020603050405020304" pitchFamily="18" charset="0"/>
              </a:rPr>
            </a:br>
            <a:r>
              <a:rPr sz="1200" b="1">
                <a:solidFill>
                  <a:srgbClr val="1E2834"/>
                </a:solidFill>
                <a:latin typeface="Times New Roman" panose="02020603050405020304" pitchFamily="18" charset="0"/>
                <a:cs typeface="Times New Roman" panose="02020603050405020304" pitchFamily="18" charset="0"/>
              </a:rPr>
              <a:t>+ severity</a:t>
            </a:r>
          </a:p>
        </p:txBody>
      </p:sp>
      <p:cxnSp>
        <p:nvCxnSpPr>
          <p:cNvPr id="88" name="Connector 20">
            <a:extLst>
              <a:ext uri="{FF2B5EF4-FFF2-40B4-BE49-F238E27FC236}">
                <a16:creationId xmlns:a16="http://schemas.microsoft.com/office/drawing/2014/main" id="{84146529-0B27-4137-B11C-A967B433556B}"/>
              </a:ext>
            </a:extLst>
          </p:cNvPr>
          <p:cNvCxnSpPr/>
          <p:nvPr/>
        </p:nvCxnSpPr>
        <p:spPr>
          <a:xfrm>
            <a:off x="6315910" y="1959291"/>
            <a:ext cx="253753" cy="0"/>
          </a:xfrm>
          <a:prstGeom prst="line">
            <a:avLst/>
          </a:prstGeom>
          <a:ln w="19050">
            <a:solidFill>
              <a:srgbClr val="DD8500"/>
            </a:solidFill>
          </a:ln>
        </p:spPr>
        <p:style>
          <a:lnRef idx="2">
            <a:schemeClr val="accent1"/>
          </a:lnRef>
          <a:fillRef idx="0">
            <a:schemeClr val="accent1"/>
          </a:fillRef>
          <a:effectRef idx="1">
            <a:schemeClr val="accent1"/>
          </a:effectRef>
          <a:fontRef idx="minor">
            <a:schemeClr val="tx1"/>
          </a:fontRef>
        </p:style>
      </p:cxnSp>
      <p:sp>
        <p:nvSpPr>
          <p:cNvPr id="89" name="Rounded Rectangle 21">
            <a:extLst>
              <a:ext uri="{FF2B5EF4-FFF2-40B4-BE49-F238E27FC236}">
                <a16:creationId xmlns:a16="http://schemas.microsoft.com/office/drawing/2014/main" id="{1CE53E6D-49E8-4CBC-B694-74C0E4108B60}"/>
              </a:ext>
            </a:extLst>
          </p:cNvPr>
          <p:cNvSpPr/>
          <p:nvPr/>
        </p:nvSpPr>
        <p:spPr>
          <a:xfrm>
            <a:off x="6590238" y="1383218"/>
            <a:ext cx="1817415" cy="1372665"/>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90" name="Rounded Rectangle 22">
            <a:extLst>
              <a:ext uri="{FF2B5EF4-FFF2-40B4-BE49-F238E27FC236}">
                <a16:creationId xmlns:a16="http://schemas.microsoft.com/office/drawing/2014/main" id="{4DDF2FFA-23C8-4EC5-BDA8-74A2B64BC040}"/>
              </a:ext>
            </a:extLst>
          </p:cNvPr>
          <p:cNvSpPr/>
          <p:nvPr/>
        </p:nvSpPr>
        <p:spPr>
          <a:xfrm>
            <a:off x="6727399" y="1547811"/>
            <a:ext cx="857269" cy="233172"/>
          </a:xfrm>
          <a:prstGeom prst="roundRect">
            <a:avLst/>
          </a:prstGeom>
          <a:solidFill>
            <a:srgbClr val="B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91" name="TextBox 90">
            <a:extLst>
              <a:ext uri="{FF2B5EF4-FFF2-40B4-BE49-F238E27FC236}">
                <a16:creationId xmlns:a16="http://schemas.microsoft.com/office/drawing/2014/main" id="{7393BA48-F98B-418C-9384-AFCB05421FB5}"/>
              </a:ext>
            </a:extLst>
          </p:cNvPr>
          <p:cNvSpPr txBox="1"/>
          <p:nvPr/>
        </p:nvSpPr>
        <p:spPr>
          <a:xfrm>
            <a:off x="6747974" y="1555972"/>
            <a:ext cx="836695" cy="203133"/>
          </a:xfrm>
          <a:prstGeom prst="rect">
            <a:avLst/>
          </a:prstGeom>
          <a:noFill/>
        </p:spPr>
        <p:txBody>
          <a:bodyPr wrap="square" lIns="18288" tIns="9144" rIns="18288" bIns="9144" anchor="ctr">
            <a:spAutoFit/>
          </a:bodyPr>
          <a:lstStyle/>
          <a:p>
            <a:pPr algn="ctr"/>
            <a:r>
              <a:rPr sz="1200" b="1" dirty="0">
                <a:solidFill>
                  <a:srgbClr val="FFFFFF"/>
                </a:solidFill>
                <a:latin typeface="Times New Roman" panose="02020603050405020304" pitchFamily="18" charset="0"/>
                <a:cs typeface="Times New Roman" panose="02020603050405020304" pitchFamily="18" charset="0"/>
              </a:rPr>
              <a:t>COMPARE</a:t>
            </a:r>
          </a:p>
        </p:txBody>
      </p:sp>
      <p:sp>
        <p:nvSpPr>
          <p:cNvPr id="92" name="TextBox 91">
            <a:extLst>
              <a:ext uri="{FF2B5EF4-FFF2-40B4-BE49-F238E27FC236}">
                <a16:creationId xmlns:a16="http://schemas.microsoft.com/office/drawing/2014/main" id="{0348F34C-0C37-4650-A8E9-F91C345977AF}"/>
              </a:ext>
            </a:extLst>
          </p:cNvPr>
          <p:cNvSpPr txBox="1"/>
          <p:nvPr/>
        </p:nvSpPr>
        <p:spPr>
          <a:xfrm>
            <a:off x="6727400" y="1966149"/>
            <a:ext cx="1495081" cy="387798"/>
          </a:xfrm>
          <a:prstGeom prst="rect">
            <a:avLst/>
          </a:prstGeom>
          <a:noFill/>
        </p:spPr>
        <p:txBody>
          <a:bodyPr wrap="square" lIns="18288" tIns="9144" rIns="18288" bIns="9144" anchor="t">
            <a:spAutoFit/>
          </a:bodyPr>
          <a:lstStyle/>
          <a:p>
            <a:pPr algn="ctr"/>
            <a:r>
              <a:rPr sz="1200" b="1" dirty="0">
                <a:solidFill>
                  <a:srgbClr val="1E2834"/>
                </a:solidFill>
                <a:latin typeface="Times New Roman" panose="02020603050405020304" pitchFamily="18" charset="0"/>
                <a:cs typeface="Times New Roman" panose="02020603050405020304" pitchFamily="18" charset="0"/>
              </a:rPr>
              <a:t>Current vs previous</a:t>
            </a:r>
            <a:br>
              <a:rPr sz="1200" dirty="0">
                <a:latin typeface="Times New Roman" panose="02020603050405020304" pitchFamily="18" charset="0"/>
                <a:cs typeface="Times New Roman" panose="02020603050405020304" pitchFamily="18" charset="0"/>
              </a:rPr>
            </a:br>
            <a:r>
              <a:rPr sz="1200" b="1" dirty="0">
                <a:solidFill>
                  <a:srgbClr val="1E2834"/>
                </a:solidFill>
                <a:latin typeface="Times New Roman" panose="02020603050405020304" pitchFamily="18" charset="0"/>
                <a:cs typeface="Times New Roman" panose="02020603050405020304" pitchFamily="18" charset="0"/>
              </a:rPr>
              <a:t>period</a:t>
            </a:r>
          </a:p>
        </p:txBody>
      </p:sp>
      <p:sp>
        <p:nvSpPr>
          <p:cNvPr id="93" name="Rounded Rectangle 25">
            <a:extLst>
              <a:ext uri="{FF2B5EF4-FFF2-40B4-BE49-F238E27FC236}">
                <a16:creationId xmlns:a16="http://schemas.microsoft.com/office/drawing/2014/main" id="{9839C41B-B51D-4709-BC76-C74B7E023DC4}"/>
              </a:ext>
            </a:extLst>
          </p:cNvPr>
          <p:cNvSpPr/>
          <p:nvPr/>
        </p:nvSpPr>
        <p:spPr>
          <a:xfrm>
            <a:off x="296972" y="3351059"/>
            <a:ext cx="3383836" cy="1247941"/>
          </a:xfrm>
          <a:prstGeom prst="roundRect">
            <a:avLst/>
          </a:prstGeom>
          <a:solidFill>
            <a:srgbClr val="F6F8FA"/>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a:extLst>
              <a:ext uri="{FF2B5EF4-FFF2-40B4-BE49-F238E27FC236}">
                <a16:creationId xmlns:a16="http://schemas.microsoft.com/office/drawing/2014/main" id="{BF518D7C-9232-40ED-AFDF-04B081CB8D99}"/>
              </a:ext>
            </a:extLst>
          </p:cNvPr>
          <p:cNvSpPr txBox="1"/>
          <p:nvPr/>
        </p:nvSpPr>
        <p:spPr>
          <a:xfrm>
            <a:off x="454709" y="3456913"/>
            <a:ext cx="2268333" cy="203133"/>
          </a:xfrm>
          <a:prstGeom prst="rect">
            <a:avLst/>
          </a:prstGeom>
          <a:noFill/>
        </p:spPr>
        <p:txBody>
          <a:bodyPr wrap="square" lIns="18288" tIns="9144" rIns="18288" bIns="9144" anchor="t">
            <a:spAutoFit/>
          </a:bodyPr>
          <a:lstStyle/>
          <a:p>
            <a:pPr algn="l"/>
            <a:r>
              <a:rPr sz="1200" b="1" dirty="0">
                <a:solidFill>
                  <a:srgbClr val="003E73"/>
                </a:solidFill>
                <a:latin typeface="Times New Roman" panose="02020603050405020304" pitchFamily="18" charset="0"/>
                <a:cs typeface="Times New Roman" panose="02020603050405020304" pitchFamily="18" charset="0"/>
              </a:rPr>
              <a:t>ROUTE RANKING SIGNALS</a:t>
            </a:r>
          </a:p>
        </p:txBody>
      </p:sp>
      <p:sp>
        <p:nvSpPr>
          <p:cNvPr id="95" name="TextBox 94">
            <a:extLst>
              <a:ext uri="{FF2B5EF4-FFF2-40B4-BE49-F238E27FC236}">
                <a16:creationId xmlns:a16="http://schemas.microsoft.com/office/drawing/2014/main" id="{B6ACE32A-2E52-41C6-A8A2-AAA7958BB2BC}"/>
              </a:ext>
            </a:extLst>
          </p:cNvPr>
          <p:cNvSpPr txBox="1"/>
          <p:nvPr/>
        </p:nvSpPr>
        <p:spPr>
          <a:xfrm>
            <a:off x="502716" y="3781848"/>
            <a:ext cx="1577379" cy="757130"/>
          </a:xfrm>
          <a:prstGeom prst="rect">
            <a:avLst/>
          </a:prstGeom>
          <a:noFill/>
        </p:spPr>
        <p:txBody>
          <a:bodyPr wrap="square" lIns="18288" tIns="9144" rIns="18288" bIns="9144" anchor="t">
            <a:spAutoFit/>
          </a:bodyPr>
          <a:lstStyle/>
          <a:p>
            <a:pPr marL="171450" indent="-171450" algn="l">
              <a:buFont typeface="Arial" panose="020B0604020202020204" pitchFamily="34" charset="0"/>
              <a:buChar char="•"/>
            </a:pPr>
            <a:r>
              <a:rPr sz="1200" b="0" dirty="0">
                <a:solidFill>
                  <a:srgbClr val="1E2834"/>
                </a:solidFill>
                <a:latin typeface="Times New Roman" panose="02020603050405020304" pitchFamily="18" charset="0"/>
                <a:cs typeface="Times New Roman" panose="02020603050405020304" pitchFamily="18" charset="0"/>
              </a:rPr>
              <a:t>Overall rating</a:t>
            </a:r>
            <a:endParaRPr lang="en-IN" sz="1200" b="0" dirty="0">
              <a:solidFill>
                <a:srgbClr val="1E2834"/>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200" b="0" dirty="0">
                <a:solidFill>
                  <a:srgbClr val="1E2834"/>
                </a:solidFill>
                <a:latin typeface="Times New Roman" panose="02020603050405020304" pitchFamily="18" charset="0"/>
                <a:cs typeface="Times New Roman" panose="02020603050405020304" pitchFamily="18" charset="0"/>
              </a:rPr>
              <a:t>Cleanliness</a:t>
            </a:r>
          </a:p>
          <a:p>
            <a:pPr marL="171450" indent="-171450">
              <a:buFont typeface="Arial" panose="020B0604020202020204" pitchFamily="34" charset="0"/>
              <a:buChar char="•"/>
            </a:pPr>
            <a:r>
              <a:rPr lang="en-IN" sz="1200" b="0" dirty="0">
                <a:solidFill>
                  <a:srgbClr val="1E2834"/>
                </a:solidFill>
                <a:latin typeface="Times New Roman" panose="02020603050405020304" pitchFamily="18" charset="0"/>
                <a:cs typeface="Times New Roman" panose="02020603050405020304" pitchFamily="18" charset="0"/>
              </a:rPr>
              <a:t>Driver behaviour</a:t>
            </a:r>
          </a:p>
          <a:p>
            <a:pPr marL="171450" indent="-171450">
              <a:buFont typeface="Arial" panose="020B0604020202020204" pitchFamily="34" charset="0"/>
              <a:buChar char="•"/>
            </a:pPr>
            <a:r>
              <a:rPr lang="en-IN" sz="1200" b="0" dirty="0">
                <a:solidFill>
                  <a:srgbClr val="1E2834"/>
                </a:solidFill>
                <a:latin typeface="Times New Roman" panose="02020603050405020304" pitchFamily="18" charset="0"/>
                <a:cs typeface="Times New Roman" panose="02020603050405020304" pitchFamily="18" charset="0"/>
              </a:rPr>
              <a:t>Severity</a:t>
            </a:r>
          </a:p>
        </p:txBody>
      </p:sp>
      <p:sp>
        <p:nvSpPr>
          <p:cNvPr id="102" name="Rounded Rectangle 34">
            <a:extLst>
              <a:ext uri="{FF2B5EF4-FFF2-40B4-BE49-F238E27FC236}">
                <a16:creationId xmlns:a16="http://schemas.microsoft.com/office/drawing/2014/main" id="{20601126-DFE9-4F73-8AFE-2A5C8571F23E}"/>
              </a:ext>
            </a:extLst>
          </p:cNvPr>
          <p:cNvSpPr/>
          <p:nvPr/>
        </p:nvSpPr>
        <p:spPr>
          <a:xfrm>
            <a:off x="4567077" y="3295980"/>
            <a:ext cx="3840576" cy="1303020"/>
          </a:xfrm>
          <a:prstGeom prst="roundRect">
            <a:avLst/>
          </a:prstGeom>
          <a:solidFill>
            <a:srgbClr val="F6F8FA"/>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a:extLst>
              <a:ext uri="{FF2B5EF4-FFF2-40B4-BE49-F238E27FC236}">
                <a16:creationId xmlns:a16="http://schemas.microsoft.com/office/drawing/2014/main" id="{F8F84479-5A21-451A-9044-8185920B7DA4}"/>
              </a:ext>
            </a:extLst>
          </p:cNvPr>
          <p:cNvSpPr txBox="1"/>
          <p:nvPr/>
        </p:nvSpPr>
        <p:spPr>
          <a:xfrm>
            <a:off x="4772821" y="3459713"/>
            <a:ext cx="1303567" cy="203133"/>
          </a:xfrm>
          <a:prstGeom prst="rect">
            <a:avLst/>
          </a:prstGeom>
          <a:noFill/>
        </p:spPr>
        <p:txBody>
          <a:bodyPr wrap="square" lIns="18288" tIns="9144" rIns="18288" bIns="9144" anchor="t">
            <a:spAutoFit/>
          </a:bodyPr>
          <a:lstStyle/>
          <a:p>
            <a:pPr algn="l"/>
            <a:r>
              <a:rPr sz="1200" b="1" dirty="0">
                <a:solidFill>
                  <a:srgbClr val="003E73"/>
                </a:solidFill>
                <a:latin typeface="Times New Roman" panose="02020603050405020304" pitchFamily="18" charset="0"/>
                <a:cs typeface="Times New Roman" panose="02020603050405020304" pitchFamily="18" charset="0"/>
              </a:rPr>
              <a:t>TIME BUCKETS</a:t>
            </a:r>
          </a:p>
        </p:txBody>
      </p:sp>
      <p:sp>
        <p:nvSpPr>
          <p:cNvPr id="104" name="Rounded Rectangle 36">
            <a:extLst>
              <a:ext uri="{FF2B5EF4-FFF2-40B4-BE49-F238E27FC236}">
                <a16:creationId xmlns:a16="http://schemas.microsoft.com/office/drawing/2014/main" id="{505D8DE7-71F0-4260-8846-379589412753}"/>
              </a:ext>
            </a:extLst>
          </p:cNvPr>
          <p:cNvSpPr/>
          <p:nvPr/>
        </p:nvSpPr>
        <p:spPr>
          <a:xfrm>
            <a:off x="4772821" y="3789756"/>
            <a:ext cx="954632" cy="233172"/>
          </a:xfrm>
          <a:prstGeom prst="roundRect">
            <a:avLst/>
          </a:prstGeom>
          <a:solidFill>
            <a:srgbClr val="008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05" name="TextBox 104">
            <a:extLst>
              <a:ext uri="{FF2B5EF4-FFF2-40B4-BE49-F238E27FC236}">
                <a16:creationId xmlns:a16="http://schemas.microsoft.com/office/drawing/2014/main" id="{1C2D0BDD-EB74-4565-96F9-B930C424F591}"/>
              </a:ext>
            </a:extLst>
          </p:cNvPr>
          <p:cNvSpPr txBox="1"/>
          <p:nvPr/>
        </p:nvSpPr>
        <p:spPr>
          <a:xfrm>
            <a:off x="4793397" y="3797917"/>
            <a:ext cx="915130" cy="203133"/>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6–9 AM</a:t>
            </a:r>
          </a:p>
        </p:txBody>
      </p:sp>
      <p:sp>
        <p:nvSpPr>
          <p:cNvPr id="106" name="Rounded Rectangle 38">
            <a:extLst>
              <a:ext uri="{FF2B5EF4-FFF2-40B4-BE49-F238E27FC236}">
                <a16:creationId xmlns:a16="http://schemas.microsoft.com/office/drawing/2014/main" id="{9DF2FEE9-C13C-4207-A303-EC49549AF80B}"/>
              </a:ext>
            </a:extLst>
          </p:cNvPr>
          <p:cNvSpPr/>
          <p:nvPr/>
        </p:nvSpPr>
        <p:spPr>
          <a:xfrm>
            <a:off x="5938711" y="3789756"/>
            <a:ext cx="954632" cy="233172"/>
          </a:xfrm>
          <a:prstGeom prst="roundRect">
            <a:avLst/>
          </a:prstGeom>
          <a:solidFill>
            <a:srgbClr val="008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07" name="TextBox 106">
            <a:extLst>
              <a:ext uri="{FF2B5EF4-FFF2-40B4-BE49-F238E27FC236}">
                <a16:creationId xmlns:a16="http://schemas.microsoft.com/office/drawing/2014/main" id="{FC9631FB-0163-45D9-9062-2F0EA5B56E21}"/>
              </a:ext>
            </a:extLst>
          </p:cNvPr>
          <p:cNvSpPr txBox="1"/>
          <p:nvPr/>
        </p:nvSpPr>
        <p:spPr>
          <a:xfrm>
            <a:off x="5959285" y="3797917"/>
            <a:ext cx="915130" cy="203133"/>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9 AM–12 PM</a:t>
            </a:r>
          </a:p>
        </p:txBody>
      </p:sp>
      <p:sp>
        <p:nvSpPr>
          <p:cNvPr id="108" name="Rounded Rectangle 40">
            <a:extLst>
              <a:ext uri="{FF2B5EF4-FFF2-40B4-BE49-F238E27FC236}">
                <a16:creationId xmlns:a16="http://schemas.microsoft.com/office/drawing/2014/main" id="{BA287F71-6B23-40E6-81A0-848F4F12D157}"/>
              </a:ext>
            </a:extLst>
          </p:cNvPr>
          <p:cNvSpPr/>
          <p:nvPr/>
        </p:nvSpPr>
        <p:spPr>
          <a:xfrm>
            <a:off x="7104600" y="3789756"/>
            <a:ext cx="954632" cy="233172"/>
          </a:xfrm>
          <a:prstGeom prst="roundRect">
            <a:avLst/>
          </a:prstGeom>
          <a:solidFill>
            <a:srgbClr val="008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09" name="TextBox 108">
            <a:extLst>
              <a:ext uri="{FF2B5EF4-FFF2-40B4-BE49-F238E27FC236}">
                <a16:creationId xmlns:a16="http://schemas.microsoft.com/office/drawing/2014/main" id="{4F3A7535-E95A-4319-861B-44CECDEB01C0}"/>
              </a:ext>
            </a:extLst>
          </p:cNvPr>
          <p:cNvSpPr txBox="1"/>
          <p:nvPr/>
        </p:nvSpPr>
        <p:spPr>
          <a:xfrm>
            <a:off x="7125174" y="3797917"/>
            <a:ext cx="915130" cy="203133"/>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12–3 PM</a:t>
            </a:r>
          </a:p>
        </p:txBody>
      </p:sp>
      <p:sp>
        <p:nvSpPr>
          <p:cNvPr id="110" name="Rounded Rectangle 42">
            <a:extLst>
              <a:ext uri="{FF2B5EF4-FFF2-40B4-BE49-F238E27FC236}">
                <a16:creationId xmlns:a16="http://schemas.microsoft.com/office/drawing/2014/main" id="{27AB5BED-B8A5-4795-A7BE-DEF051A024C3}"/>
              </a:ext>
            </a:extLst>
          </p:cNvPr>
          <p:cNvSpPr/>
          <p:nvPr/>
        </p:nvSpPr>
        <p:spPr>
          <a:xfrm>
            <a:off x="4772821" y="4105224"/>
            <a:ext cx="954632" cy="233172"/>
          </a:xfrm>
          <a:prstGeom prst="roundRect">
            <a:avLst/>
          </a:prstGeom>
          <a:solidFill>
            <a:srgbClr val="008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11" name="TextBox 110">
            <a:extLst>
              <a:ext uri="{FF2B5EF4-FFF2-40B4-BE49-F238E27FC236}">
                <a16:creationId xmlns:a16="http://schemas.microsoft.com/office/drawing/2014/main" id="{DA96C822-5260-4416-ABD2-AB4E166DC290}"/>
              </a:ext>
            </a:extLst>
          </p:cNvPr>
          <p:cNvSpPr txBox="1"/>
          <p:nvPr/>
        </p:nvSpPr>
        <p:spPr>
          <a:xfrm>
            <a:off x="4793397" y="4113386"/>
            <a:ext cx="915130" cy="203133"/>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3–5 PM</a:t>
            </a:r>
          </a:p>
        </p:txBody>
      </p:sp>
      <p:sp>
        <p:nvSpPr>
          <p:cNvPr id="112" name="Rounded Rectangle 44">
            <a:extLst>
              <a:ext uri="{FF2B5EF4-FFF2-40B4-BE49-F238E27FC236}">
                <a16:creationId xmlns:a16="http://schemas.microsoft.com/office/drawing/2014/main" id="{6A922A3B-5827-4079-B4C9-314802265459}"/>
              </a:ext>
            </a:extLst>
          </p:cNvPr>
          <p:cNvSpPr/>
          <p:nvPr/>
        </p:nvSpPr>
        <p:spPr>
          <a:xfrm>
            <a:off x="5938711" y="4105224"/>
            <a:ext cx="954632" cy="233172"/>
          </a:xfrm>
          <a:prstGeom prst="roundRect">
            <a:avLst/>
          </a:prstGeom>
          <a:solidFill>
            <a:srgbClr val="B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13" name="TextBox 112">
            <a:extLst>
              <a:ext uri="{FF2B5EF4-FFF2-40B4-BE49-F238E27FC236}">
                <a16:creationId xmlns:a16="http://schemas.microsoft.com/office/drawing/2014/main" id="{65D8F272-4115-4736-8B4A-B276B67C8165}"/>
              </a:ext>
            </a:extLst>
          </p:cNvPr>
          <p:cNvSpPr txBox="1"/>
          <p:nvPr/>
        </p:nvSpPr>
        <p:spPr>
          <a:xfrm>
            <a:off x="5959285" y="4113386"/>
            <a:ext cx="915130" cy="203133"/>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5–7 PM</a:t>
            </a:r>
          </a:p>
        </p:txBody>
      </p:sp>
      <p:sp>
        <p:nvSpPr>
          <p:cNvPr id="114" name="Rounded Rectangle 46">
            <a:extLst>
              <a:ext uri="{FF2B5EF4-FFF2-40B4-BE49-F238E27FC236}">
                <a16:creationId xmlns:a16="http://schemas.microsoft.com/office/drawing/2014/main" id="{42BBA240-E208-4A78-A93A-71ABD4784459}"/>
              </a:ext>
            </a:extLst>
          </p:cNvPr>
          <p:cNvSpPr/>
          <p:nvPr/>
        </p:nvSpPr>
        <p:spPr>
          <a:xfrm>
            <a:off x="7104600" y="4105224"/>
            <a:ext cx="954632" cy="233172"/>
          </a:xfrm>
          <a:prstGeom prst="roundRect">
            <a:avLst/>
          </a:prstGeom>
          <a:solidFill>
            <a:srgbClr val="008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15" name="TextBox 114">
            <a:extLst>
              <a:ext uri="{FF2B5EF4-FFF2-40B4-BE49-F238E27FC236}">
                <a16:creationId xmlns:a16="http://schemas.microsoft.com/office/drawing/2014/main" id="{8CBDF29A-6F48-4A67-9A4F-22E3B7E964DE}"/>
              </a:ext>
            </a:extLst>
          </p:cNvPr>
          <p:cNvSpPr txBox="1"/>
          <p:nvPr/>
        </p:nvSpPr>
        <p:spPr>
          <a:xfrm>
            <a:off x="7125174" y="4113386"/>
            <a:ext cx="915130" cy="203133"/>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7–10 PM</a:t>
            </a:r>
          </a:p>
        </p:txBody>
      </p:sp>
      <p:sp>
        <p:nvSpPr>
          <p:cNvPr id="116" name="TextBox 115">
            <a:extLst>
              <a:ext uri="{FF2B5EF4-FFF2-40B4-BE49-F238E27FC236}">
                <a16:creationId xmlns:a16="http://schemas.microsoft.com/office/drawing/2014/main" id="{875BB73A-211E-47CA-89E3-CDDEF35790FF}"/>
              </a:ext>
            </a:extLst>
          </p:cNvPr>
          <p:cNvSpPr txBox="1"/>
          <p:nvPr/>
        </p:nvSpPr>
        <p:spPr>
          <a:xfrm>
            <a:off x="1934352" y="3781848"/>
            <a:ext cx="1577379" cy="572464"/>
          </a:xfrm>
          <a:prstGeom prst="rect">
            <a:avLst/>
          </a:prstGeom>
          <a:noFill/>
        </p:spPr>
        <p:txBody>
          <a:bodyPr wrap="square" lIns="18288" tIns="9144" rIns="18288" bIns="9144" anchor="t">
            <a:spAutoFit/>
          </a:bodyPr>
          <a:lstStyle/>
          <a:p>
            <a:pPr marL="171450" indent="-171450" algn="l">
              <a:buFont typeface="Arial" panose="020B0604020202020204" pitchFamily="34" charset="0"/>
              <a:buChar char="•"/>
            </a:pPr>
            <a:r>
              <a:rPr lang="en-IN" sz="1200" b="0" dirty="0">
                <a:solidFill>
                  <a:srgbClr val="1E2834"/>
                </a:solidFill>
                <a:latin typeface="Times New Roman" panose="02020603050405020304" pitchFamily="18" charset="0"/>
                <a:cs typeface="Times New Roman" panose="02020603050405020304" pitchFamily="18" charset="0"/>
              </a:rPr>
              <a:t>Punctuality</a:t>
            </a:r>
          </a:p>
          <a:p>
            <a:pPr marL="171450" indent="-171450">
              <a:buFont typeface="Arial" panose="020B0604020202020204" pitchFamily="34" charset="0"/>
              <a:buChar char="•"/>
            </a:pPr>
            <a:r>
              <a:rPr lang="en-IN" sz="1200" b="0" dirty="0">
                <a:solidFill>
                  <a:srgbClr val="1E2834"/>
                </a:solidFill>
                <a:latin typeface="Times New Roman" panose="02020603050405020304" pitchFamily="18" charset="0"/>
                <a:cs typeface="Times New Roman" panose="02020603050405020304" pitchFamily="18" charset="0"/>
              </a:rPr>
              <a:t>Crowding </a:t>
            </a:r>
          </a:p>
          <a:p>
            <a:pPr marL="171450" indent="-171450">
              <a:buFont typeface="Arial" panose="020B0604020202020204" pitchFamily="34" charset="0"/>
              <a:buChar char="•"/>
            </a:pPr>
            <a:r>
              <a:rPr lang="en-IN" sz="1200" b="0" dirty="0">
                <a:solidFill>
                  <a:srgbClr val="1E2834"/>
                </a:solidFill>
                <a:latin typeface="Times New Roman" panose="02020603050405020304" pitchFamily="18" charset="0"/>
                <a:cs typeface="Times New Roman" panose="02020603050405020304" pitchFamily="18" charset="0"/>
              </a:rPr>
              <a:t>Complaint volume</a:t>
            </a:r>
          </a:p>
        </p:txBody>
      </p:sp>
    </p:spTree>
    <p:extLst>
      <p:ext uri="{BB962C8B-B14F-4D97-AF65-F5344CB8AC3E}">
        <p14:creationId xmlns:p14="http://schemas.microsoft.com/office/powerpoint/2010/main" val="215558992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942643-4B4B-3AF4-2F08-E12BA79BC8F5}"/>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10</a:t>
            </a:fld>
            <a:endParaRPr lang="en-IN" dirty="0"/>
          </a:p>
        </p:txBody>
      </p:sp>
      <p:sp>
        <p:nvSpPr>
          <p:cNvPr id="10" name="TextBox 9">
            <a:extLst>
              <a:ext uri="{FF2B5EF4-FFF2-40B4-BE49-F238E27FC236}">
                <a16:creationId xmlns:a16="http://schemas.microsoft.com/office/drawing/2014/main" id="{D28E8CE0-38BB-43A5-B4EE-22EBF2325B7C}"/>
              </a:ext>
            </a:extLst>
          </p:cNvPr>
          <p:cNvSpPr txBox="1"/>
          <p:nvPr/>
        </p:nvSpPr>
        <p:spPr bwMode="auto">
          <a:xfrm>
            <a:off x="182078" y="4835723"/>
            <a:ext cx="8595233" cy="307777"/>
          </a:xfrm>
          <a:prstGeom prst="rect">
            <a:avLst/>
          </a:prstGeom>
          <a:noFill/>
          <a:ln w="19050" algn="ctr">
            <a:noFill/>
            <a:miter lim="800000"/>
            <a:headEnd/>
            <a:tailEnd/>
          </a:ln>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	Veritas AI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DPA Hackathon 2026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IARE</a:t>
            </a:r>
          </a:p>
        </p:txBody>
      </p:sp>
      <p:pic>
        <p:nvPicPr>
          <p:cNvPr id="7" name="Picture 6">
            <a:extLst>
              <a:ext uri="{FF2B5EF4-FFF2-40B4-BE49-F238E27FC236}">
                <a16:creationId xmlns:a16="http://schemas.microsoft.com/office/drawing/2014/main" id="{663E3B90-F832-4B7C-A832-B10A9043AD70}"/>
              </a:ext>
            </a:extLst>
          </p:cNvPr>
          <p:cNvPicPr>
            <a:picLocks noChangeAspect="1"/>
          </p:cNvPicPr>
          <p:nvPr/>
        </p:nvPicPr>
        <p:blipFill rotWithShape="1">
          <a:blip r:embed="rId3"/>
          <a:srcRect l="-1949" t="31547" r="1949" b="31097"/>
          <a:stretch/>
        </p:blipFill>
        <p:spPr>
          <a:xfrm>
            <a:off x="6384941" y="144570"/>
            <a:ext cx="1905000" cy="711627"/>
          </a:xfrm>
          <a:prstGeom prst="rect">
            <a:avLst/>
          </a:prstGeom>
        </p:spPr>
      </p:pic>
      <p:sp>
        <p:nvSpPr>
          <p:cNvPr id="11" name="object 2">
            <a:extLst>
              <a:ext uri="{FF2B5EF4-FFF2-40B4-BE49-F238E27FC236}">
                <a16:creationId xmlns:a16="http://schemas.microsoft.com/office/drawing/2014/main" id="{D179FC4C-EAB8-4793-B3BD-05E101B4D037}"/>
              </a:ext>
            </a:extLst>
          </p:cNvPr>
          <p:cNvSpPr txBox="1">
            <a:spLocks/>
          </p:cNvSpPr>
          <p:nvPr/>
        </p:nvSpPr>
        <p:spPr>
          <a:xfrm>
            <a:off x="66039" y="188849"/>
            <a:ext cx="7432040" cy="534120"/>
          </a:xfrm>
          <a:prstGeom prst="rect">
            <a:avLst/>
          </a:prstGeom>
        </p:spPr>
        <p:txBody>
          <a:bodyPr vert="horz" wrap="square" lIns="0" tIns="71754" rIns="0" bIns="0" rtlCol="0" anchor="t">
            <a:spAutoFit/>
          </a:bodyPr>
          <a:lst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a:lstStyle>
          <a:p>
            <a:pPr marL="45085">
              <a:lnSpc>
                <a:spcPct val="100000"/>
              </a:lnSpc>
              <a:spcBef>
                <a:spcPts val="105"/>
              </a:spcBef>
            </a:pPr>
            <a:r>
              <a:rPr lang="en-IN" spc="-30" dirty="0">
                <a:latin typeface="Times New Roman" panose="02020603050405020304" pitchFamily="18" charset="0"/>
                <a:cs typeface="Times New Roman" panose="02020603050405020304" pitchFamily="18" charset="0"/>
              </a:rPr>
              <a:t>Operations Intelligence Dashboard</a:t>
            </a:r>
          </a:p>
        </p:txBody>
      </p:sp>
      <p:sp>
        <p:nvSpPr>
          <p:cNvPr id="48" name="TextBox 47">
            <a:extLst>
              <a:ext uri="{FF2B5EF4-FFF2-40B4-BE49-F238E27FC236}">
                <a16:creationId xmlns:a16="http://schemas.microsoft.com/office/drawing/2014/main" id="{2D37198C-11D6-4A0A-9E14-CFC388F37BE9}"/>
              </a:ext>
            </a:extLst>
          </p:cNvPr>
          <p:cNvSpPr txBox="1"/>
          <p:nvPr/>
        </p:nvSpPr>
        <p:spPr bwMode="auto">
          <a:xfrm>
            <a:off x="-1" y="4485848"/>
            <a:ext cx="5091863" cy="276999"/>
          </a:xfrm>
          <a:prstGeom prst="rect">
            <a:avLst/>
          </a:prstGeom>
          <a:noFill/>
          <a:ln w="19050" algn="ctr">
            <a:noFill/>
            <a:miter lim="800000"/>
            <a:headEnd/>
            <a:tailEnd/>
          </a:ln>
        </p:spPr>
        <p:txBody>
          <a:bodyPr wrap="square">
            <a:spAutoFit/>
          </a:bodyPr>
          <a:lstStyle/>
          <a:p>
            <a:pPr algn="ctr">
              <a:buClr>
                <a:srgbClr val="005093"/>
              </a:buClr>
              <a:tabLst>
                <a:tab pos="180340" algn="l"/>
                <a:tab pos="292735" algn="l"/>
              </a:tabLst>
            </a:pPr>
            <a:r>
              <a:rPr lang="en-US" sz="1200" b="1" i="1" dirty="0">
                <a:solidFill>
                  <a:srgbClr val="525252"/>
                </a:solidFill>
                <a:latin typeface="Times New Roman" panose="02020603050405020304" pitchFamily="18" charset="0"/>
                <a:cs typeface="Times New Roman" panose="02020603050405020304" pitchFamily="18" charset="0"/>
              </a:rPr>
              <a:t>Fig 4. Transport Operations Intelligence Dashboard</a:t>
            </a:r>
          </a:p>
        </p:txBody>
      </p:sp>
      <p:sp>
        <p:nvSpPr>
          <p:cNvPr id="14" name="object 3">
            <a:extLst>
              <a:ext uri="{FF2B5EF4-FFF2-40B4-BE49-F238E27FC236}">
                <a16:creationId xmlns:a16="http://schemas.microsoft.com/office/drawing/2014/main" id="{0F05F80E-001E-496D-B458-4D21E7A6821B}"/>
              </a:ext>
            </a:extLst>
          </p:cNvPr>
          <p:cNvSpPr txBox="1"/>
          <p:nvPr/>
        </p:nvSpPr>
        <p:spPr>
          <a:xfrm>
            <a:off x="64600" y="1097961"/>
            <a:ext cx="8836596" cy="198131"/>
          </a:xfrm>
          <a:prstGeom prst="rect">
            <a:avLst/>
          </a:prstGeom>
        </p:spPr>
        <p:txBody>
          <a:bodyPr vert="horz" wrap="square" lIns="0" tIns="13335" rIns="0" bIns="0" rtlCol="0" anchor="t">
            <a:spAutoFit/>
          </a:bodyPr>
          <a:lstStyle/>
          <a:p>
            <a:pPr marL="285750" indent="-285750" algn="just">
              <a:buClr>
                <a:srgbClr val="005093"/>
              </a:buClr>
              <a:buFont typeface="Wingdings" panose="05000000000000000000" pitchFamily="2" charset="2"/>
              <a:buChar char="Ø"/>
              <a:tabLst>
                <a:tab pos="180340" algn="l"/>
                <a:tab pos="292735" algn="l"/>
              </a:tabLst>
            </a:pPr>
            <a:r>
              <a:rPr lang="en-US" sz="1200" dirty="0">
                <a:solidFill>
                  <a:srgbClr val="525252"/>
                </a:solidFill>
                <a:latin typeface="Times New Roman" panose="02020603050405020304" pitchFamily="18" charset="0"/>
                <a:cs typeface="Times New Roman" panose="02020603050405020304" pitchFamily="18" charset="0"/>
              </a:rPr>
              <a:t>This view consumes analytics derived from feedback records; it is not a hard-coded dashboard.</a:t>
            </a:r>
          </a:p>
        </p:txBody>
      </p:sp>
      <p:pic>
        <p:nvPicPr>
          <p:cNvPr id="24" name="Picture 23">
            <a:extLst>
              <a:ext uri="{FF2B5EF4-FFF2-40B4-BE49-F238E27FC236}">
                <a16:creationId xmlns:a16="http://schemas.microsoft.com/office/drawing/2014/main" id="{70136D4D-50D1-4172-82D5-AD2FD0759543}"/>
              </a:ext>
            </a:extLst>
          </p:cNvPr>
          <p:cNvPicPr>
            <a:picLocks noChangeAspect="1"/>
          </p:cNvPicPr>
          <p:nvPr/>
        </p:nvPicPr>
        <p:blipFill>
          <a:blip r:embed="rId4"/>
          <a:stretch>
            <a:fillRect/>
          </a:stretch>
        </p:blipFill>
        <p:spPr>
          <a:xfrm>
            <a:off x="65856" y="1433052"/>
            <a:ext cx="4960150" cy="2979921"/>
          </a:xfrm>
          <a:prstGeom prst="rect">
            <a:avLst/>
          </a:prstGeom>
        </p:spPr>
      </p:pic>
    </p:spTree>
    <p:extLst>
      <p:ext uri="{BB962C8B-B14F-4D97-AF65-F5344CB8AC3E}">
        <p14:creationId xmlns:p14="http://schemas.microsoft.com/office/powerpoint/2010/main" val="417941035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942643-4B4B-3AF4-2F08-E12BA79BC8F5}"/>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11</a:t>
            </a:fld>
            <a:endParaRPr lang="en-IN" dirty="0"/>
          </a:p>
        </p:txBody>
      </p:sp>
      <p:sp>
        <p:nvSpPr>
          <p:cNvPr id="10" name="TextBox 9">
            <a:extLst>
              <a:ext uri="{FF2B5EF4-FFF2-40B4-BE49-F238E27FC236}">
                <a16:creationId xmlns:a16="http://schemas.microsoft.com/office/drawing/2014/main" id="{D28E8CE0-38BB-43A5-B4EE-22EBF2325B7C}"/>
              </a:ext>
            </a:extLst>
          </p:cNvPr>
          <p:cNvSpPr txBox="1"/>
          <p:nvPr/>
        </p:nvSpPr>
        <p:spPr bwMode="auto">
          <a:xfrm>
            <a:off x="182078" y="4835723"/>
            <a:ext cx="8595233" cy="307777"/>
          </a:xfrm>
          <a:prstGeom prst="rect">
            <a:avLst/>
          </a:prstGeom>
          <a:noFill/>
          <a:ln w="19050" algn="ctr">
            <a:noFill/>
            <a:miter lim="800000"/>
            <a:headEnd/>
            <a:tailEnd/>
          </a:ln>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	Veritas AI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DPA Hackathon 2026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IARE</a:t>
            </a:r>
          </a:p>
        </p:txBody>
      </p:sp>
      <p:pic>
        <p:nvPicPr>
          <p:cNvPr id="7" name="Picture 6">
            <a:extLst>
              <a:ext uri="{FF2B5EF4-FFF2-40B4-BE49-F238E27FC236}">
                <a16:creationId xmlns:a16="http://schemas.microsoft.com/office/drawing/2014/main" id="{663E3B90-F832-4B7C-A832-B10A9043AD70}"/>
              </a:ext>
            </a:extLst>
          </p:cNvPr>
          <p:cNvPicPr>
            <a:picLocks noChangeAspect="1"/>
          </p:cNvPicPr>
          <p:nvPr/>
        </p:nvPicPr>
        <p:blipFill rotWithShape="1">
          <a:blip r:embed="rId3"/>
          <a:srcRect l="-1949" t="31547" r="1949" b="31097"/>
          <a:stretch/>
        </p:blipFill>
        <p:spPr>
          <a:xfrm>
            <a:off x="6384941" y="144570"/>
            <a:ext cx="1905000" cy="711627"/>
          </a:xfrm>
          <a:prstGeom prst="rect">
            <a:avLst/>
          </a:prstGeom>
        </p:spPr>
      </p:pic>
      <p:sp>
        <p:nvSpPr>
          <p:cNvPr id="11" name="object 2">
            <a:extLst>
              <a:ext uri="{FF2B5EF4-FFF2-40B4-BE49-F238E27FC236}">
                <a16:creationId xmlns:a16="http://schemas.microsoft.com/office/drawing/2014/main" id="{D179FC4C-EAB8-4793-B3BD-05E101B4D037}"/>
              </a:ext>
            </a:extLst>
          </p:cNvPr>
          <p:cNvSpPr txBox="1">
            <a:spLocks/>
          </p:cNvSpPr>
          <p:nvPr/>
        </p:nvSpPr>
        <p:spPr>
          <a:xfrm>
            <a:off x="66039" y="188849"/>
            <a:ext cx="7432040" cy="534120"/>
          </a:xfrm>
          <a:prstGeom prst="rect">
            <a:avLst/>
          </a:prstGeom>
        </p:spPr>
        <p:txBody>
          <a:bodyPr vert="horz" wrap="square" lIns="0" tIns="71754" rIns="0" bIns="0" rtlCol="0" anchor="t">
            <a:spAutoFit/>
          </a:bodyPr>
          <a:lst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a:lstStyle>
          <a:p>
            <a:pPr marL="45085">
              <a:lnSpc>
                <a:spcPct val="100000"/>
              </a:lnSpc>
              <a:spcBef>
                <a:spcPts val="105"/>
              </a:spcBef>
            </a:pPr>
            <a:r>
              <a:rPr lang="en-IN" spc="-30" dirty="0">
                <a:latin typeface="Times New Roman" panose="02020603050405020304" pitchFamily="18" charset="0"/>
                <a:cs typeface="Times New Roman" panose="02020603050405020304" pitchFamily="18" charset="0"/>
              </a:rPr>
              <a:t>Route 42 Case Study</a:t>
            </a:r>
          </a:p>
        </p:txBody>
      </p:sp>
      <p:sp>
        <p:nvSpPr>
          <p:cNvPr id="14" name="object 3">
            <a:extLst>
              <a:ext uri="{FF2B5EF4-FFF2-40B4-BE49-F238E27FC236}">
                <a16:creationId xmlns:a16="http://schemas.microsoft.com/office/drawing/2014/main" id="{0F05F80E-001E-496D-B458-4D21E7A6821B}"/>
              </a:ext>
            </a:extLst>
          </p:cNvPr>
          <p:cNvSpPr txBox="1"/>
          <p:nvPr/>
        </p:nvSpPr>
        <p:spPr>
          <a:xfrm>
            <a:off x="64600" y="1097961"/>
            <a:ext cx="8836596" cy="3676006"/>
          </a:xfrm>
          <a:prstGeom prst="rect">
            <a:avLst/>
          </a:prstGeom>
        </p:spPr>
        <p:txBody>
          <a:bodyPr vert="horz" wrap="square" lIns="0" tIns="13335" rIns="0" bIns="0" rtlCol="0" anchor="t">
            <a:spAutoFit/>
          </a:bodyPr>
          <a:lstStyle/>
          <a:p>
            <a:pPr marL="285750" indent="-285750" algn="just">
              <a:buClr>
                <a:srgbClr val="005093"/>
              </a:buClr>
              <a:buFont typeface="Wingdings" panose="05000000000000000000" pitchFamily="2" charset="2"/>
              <a:buChar char="Ø"/>
              <a:tabLst>
                <a:tab pos="180340" algn="l"/>
                <a:tab pos="292735" algn="l"/>
              </a:tabLst>
            </a:pPr>
            <a:r>
              <a:rPr lang="en-US" sz="1200" dirty="0">
                <a:solidFill>
                  <a:srgbClr val="525252"/>
                </a:solidFill>
                <a:latin typeface="Times New Roman" panose="02020603050405020304" pitchFamily="18" charset="0"/>
                <a:cs typeface="Times New Roman" panose="02020603050405020304" pitchFamily="18" charset="0"/>
              </a:rPr>
              <a:t>Deterioration detection demonstrated through a deliberately stressed seed route.</a:t>
            </a:r>
          </a:p>
          <a:p>
            <a:pPr marL="285750" indent="-285750" algn="just">
              <a:buClr>
                <a:srgbClr val="005093"/>
              </a:buClr>
              <a:buFont typeface="Wingdings" panose="05000000000000000000" pitchFamily="2" charset="2"/>
              <a:buChar char="Ø"/>
              <a:tabLst>
                <a:tab pos="180340" algn="l"/>
                <a:tab pos="292735" algn="l"/>
              </a:tabLst>
            </a:pPr>
            <a:endParaRPr lang="en-US" sz="14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4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4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4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4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4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4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4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4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4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4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4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4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endParaRPr lang="en-US" sz="1400" dirty="0">
              <a:solidFill>
                <a:srgbClr val="525252"/>
              </a:solidFill>
              <a:latin typeface="Times New Roman" panose="02020603050405020304" pitchFamily="18" charset="0"/>
              <a:cs typeface="Times New Roman" panose="02020603050405020304" pitchFamily="18" charset="0"/>
            </a:endParaRPr>
          </a:p>
          <a:p>
            <a:pPr marL="285750" indent="-285750" algn="just">
              <a:buClr>
                <a:srgbClr val="005093"/>
              </a:buClr>
              <a:buFont typeface="Wingdings" panose="05000000000000000000" pitchFamily="2" charset="2"/>
              <a:buChar char="Ø"/>
              <a:tabLst>
                <a:tab pos="180340" algn="l"/>
                <a:tab pos="292735" algn="l"/>
              </a:tabLst>
            </a:pPr>
            <a:r>
              <a:rPr lang="en-US" sz="1200" dirty="0">
                <a:solidFill>
                  <a:srgbClr val="525252"/>
                </a:solidFill>
                <a:latin typeface="Times New Roman" panose="02020603050405020304" pitchFamily="18" charset="0"/>
                <a:cs typeface="Times New Roman" panose="02020603050405020304" pitchFamily="18" charset="0"/>
              </a:rPr>
              <a:t>Note: The supplied deployed AI Insights screenshot currently renders Route 42 at 2.0/5; displayed values can change with the underlying dataset.</a:t>
            </a:r>
          </a:p>
        </p:txBody>
      </p:sp>
      <p:sp>
        <p:nvSpPr>
          <p:cNvPr id="12" name="Rounded Rectangle 6">
            <a:extLst>
              <a:ext uri="{FF2B5EF4-FFF2-40B4-BE49-F238E27FC236}">
                <a16:creationId xmlns:a16="http://schemas.microsoft.com/office/drawing/2014/main" id="{127177CF-4865-499B-AE09-D537AF20A4FB}"/>
              </a:ext>
            </a:extLst>
          </p:cNvPr>
          <p:cNvSpPr/>
          <p:nvPr/>
        </p:nvSpPr>
        <p:spPr>
          <a:xfrm>
            <a:off x="296972" y="1406326"/>
            <a:ext cx="2777559" cy="2825496"/>
          </a:xfrm>
          <a:prstGeom prst="roundRect">
            <a:avLst/>
          </a:prstGeom>
          <a:solidFill>
            <a:srgbClr val="003E73"/>
          </a:solidFill>
          <a:ln w="8890">
            <a:solidFill>
              <a:srgbClr val="003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5291FF5-E8D4-461C-99D3-21BED17257A1}"/>
              </a:ext>
            </a:extLst>
          </p:cNvPr>
          <p:cNvSpPr txBox="1"/>
          <p:nvPr/>
        </p:nvSpPr>
        <p:spPr>
          <a:xfrm>
            <a:off x="502717" y="1680646"/>
            <a:ext cx="2366069" cy="203133"/>
          </a:xfrm>
          <a:prstGeom prst="rect">
            <a:avLst/>
          </a:prstGeom>
          <a:noFill/>
        </p:spPr>
        <p:txBody>
          <a:bodyPr wrap="square" lIns="18288" tIns="9144" rIns="18288" bIns="9144" anchor="t">
            <a:spAutoFit/>
          </a:bodyPr>
          <a:lstStyle/>
          <a:p>
            <a:pPr algn="ctr"/>
            <a:r>
              <a:rPr sz="1200" b="1">
                <a:solidFill>
                  <a:srgbClr val="FFDA73"/>
                </a:solidFill>
                <a:latin typeface="Times New Roman" panose="02020603050405020304" pitchFamily="18" charset="0"/>
                <a:cs typeface="Times New Roman" panose="02020603050405020304" pitchFamily="18" charset="0"/>
              </a:rPr>
              <a:t>ROUTE 42</a:t>
            </a:r>
          </a:p>
        </p:txBody>
      </p:sp>
      <p:sp>
        <p:nvSpPr>
          <p:cNvPr id="15" name="TextBox 14">
            <a:extLst>
              <a:ext uri="{FF2B5EF4-FFF2-40B4-BE49-F238E27FC236}">
                <a16:creationId xmlns:a16="http://schemas.microsoft.com/office/drawing/2014/main" id="{8A99AA55-0D17-4124-95BD-67DFECB875AB}"/>
              </a:ext>
            </a:extLst>
          </p:cNvPr>
          <p:cNvSpPr txBox="1"/>
          <p:nvPr/>
        </p:nvSpPr>
        <p:spPr>
          <a:xfrm>
            <a:off x="502717" y="2092125"/>
            <a:ext cx="2366069" cy="203133"/>
          </a:xfrm>
          <a:prstGeom prst="rect">
            <a:avLst/>
          </a:prstGeom>
          <a:noFill/>
        </p:spPr>
        <p:txBody>
          <a:bodyPr wrap="square" lIns="18288" tIns="9144" rIns="18288" bIns="9144" anchor="t">
            <a:spAutoFit/>
          </a:bodyPr>
          <a:lstStyle/>
          <a:p>
            <a:pPr algn="ctr"/>
            <a:r>
              <a:rPr sz="1200" b="1">
                <a:solidFill>
                  <a:srgbClr val="FFFFFF"/>
                </a:solidFill>
                <a:latin typeface="Times New Roman" panose="02020603050405020304" pitchFamily="18" charset="0"/>
                <a:cs typeface="Times New Roman" panose="02020603050405020304" pitchFamily="18" charset="0"/>
              </a:rPr>
              <a:t>DETERIORATING</a:t>
            </a:r>
          </a:p>
        </p:txBody>
      </p:sp>
      <p:sp>
        <p:nvSpPr>
          <p:cNvPr id="16" name="TextBox 15">
            <a:extLst>
              <a:ext uri="{FF2B5EF4-FFF2-40B4-BE49-F238E27FC236}">
                <a16:creationId xmlns:a16="http://schemas.microsoft.com/office/drawing/2014/main" id="{3C7AC93A-4577-4696-86B1-FB76AF61245C}"/>
              </a:ext>
            </a:extLst>
          </p:cNvPr>
          <p:cNvSpPr txBox="1"/>
          <p:nvPr/>
        </p:nvSpPr>
        <p:spPr>
          <a:xfrm>
            <a:off x="502717" y="2551612"/>
            <a:ext cx="2366069" cy="203133"/>
          </a:xfrm>
          <a:prstGeom prst="rect">
            <a:avLst/>
          </a:prstGeom>
          <a:noFill/>
        </p:spPr>
        <p:txBody>
          <a:bodyPr wrap="square" lIns="18288" tIns="9144" rIns="18288" bIns="9144" anchor="t">
            <a:spAutoFit/>
          </a:bodyPr>
          <a:lstStyle/>
          <a:p>
            <a:pPr algn="ctr"/>
            <a:r>
              <a:rPr sz="1200" b="1">
                <a:solidFill>
                  <a:srgbClr val="DCE8F2"/>
                </a:solidFill>
                <a:latin typeface="Times New Roman" panose="02020603050405020304" pitchFamily="18" charset="0"/>
                <a:cs typeface="Times New Roman" panose="02020603050405020304" pitchFamily="18" charset="0"/>
              </a:rPr>
              <a:t>Project case specification</a:t>
            </a:r>
          </a:p>
        </p:txBody>
      </p:sp>
      <p:sp>
        <p:nvSpPr>
          <p:cNvPr id="17" name="TextBox 16">
            <a:extLst>
              <a:ext uri="{FF2B5EF4-FFF2-40B4-BE49-F238E27FC236}">
                <a16:creationId xmlns:a16="http://schemas.microsoft.com/office/drawing/2014/main" id="{EA66DE78-FB16-45BB-AF41-C7BE09C55E54}"/>
              </a:ext>
            </a:extLst>
          </p:cNvPr>
          <p:cNvSpPr txBox="1"/>
          <p:nvPr/>
        </p:nvSpPr>
        <p:spPr>
          <a:xfrm>
            <a:off x="502717" y="2867080"/>
            <a:ext cx="2366069" cy="203133"/>
          </a:xfrm>
          <a:prstGeom prst="rect">
            <a:avLst/>
          </a:prstGeom>
          <a:noFill/>
        </p:spPr>
        <p:txBody>
          <a:bodyPr wrap="square" lIns="18288" tIns="9144" rIns="18288" bIns="9144" anchor="t">
            <a:spAutoFit/>
          </a:bodyPr>
          <a:lstStyle/>
          <a:p>
            <a:pPr algn="ctr"/>
            <a:r>
              <a:rPr sz="1200" b="1">
                <a:solidFill>
                  <a:srgbClr val="FFFFFF"/>
                </a:solidFill>
                <a:latin typeface="Times New Roman" panose="02020603050405020304" pitchFamily="18" charset="0"/>
                <a:cs typeface="Times New Roman" panose="02020603050405020304" pitchFamily="18" charset="0"/>
              </a:rPr>
              <a:t>≈ 2.7 / 5 overall rating</a:t>
            </a:r>
          </a:p>
        </p:txBody>
      </p:sp>
      <p:sp>
        <p:nvSpPr>
          <p:cNvPr id="18" name="TextBox 17">
            <a:extLst>
              <a:ext uri="{FF2B5EF4-FFF2-40B4-BE49-F238E27FC236}">
                <a16:creationId xmlns:a16="http://schemas.microsoft.com/office/drawing/2014/main" id="{5FCA7031-0E61-4237-AE9E-3E8D1EB74E77}"/>
              </a:ext>
            </a:extLst>
          </p:cNvPr>
          <p:cNvSpPr txBox="1"/>
          <p:nvPr/>
        </p:nvSpPr>
        <p:spPr>
          <a:xfrm>
            <a:off x="502717" y="3278560"/>
            <a:ext cx="2366069" cy="572464"/>
          </a:xfrm>
          <a:prstGeom prst="rect">
            <a:avLst/>
          </a:prstGeom>
          <a:noFill/>
        </p:spPr>
        <p:txBody>
          <a:bodyPr wrap="square" lIns="18288" tIns="9144" rIns="18288" bIns="9144" anchor="t">
            <a:spAutoFit/>
          </a:bodyPr>
          <a:lstStyle/>
          <a:p>
            <a:pPr algn="ctr"/>
            <a:r>
              <a:rPr sz="1200" b="0">
                <a:solidFill>
                  <a:srgbClr val="FFFFFF"/>
                </a:solidFill>
                <a:latin typeface="Times New Roman" panose="02020603050405020304" pitchFamily="18" charset="0"/>
                <a:cs typeface="Times New Roman" panose="02020603050405020304" pitchFamily="18" charset="0"/>
              </a:rPr>
              <a:t>Primary issue: Crowding</a:t>
            </a:r>
            <a:br>
              <a:rPr sz="1200">
                <a:latin typeface="Times New Roman" panose="02020603050405020304" pitchFamily="18" charset="0"/>
                <a:cs typeface="Times New Roman" panose="02020603050405020304" pitchFamily="18" charset="0"/>
              </a:rPr>
            </a:br>
            <a:r>
              <a:rPr sz="1200" b="0">
                <a:solidFill>
                  <a:srgbClr val="FFFFFF"/>
                </a:solidFill>
                <a:latin typeface="Times New Roman" panose="02020603050405020304" pitchFamily="18" charset="0"/>
                <a:cs typeface="Times New Roman" panose="02020603050405020304" pitchFamily="18" charset="0"/>
              </a:rPr>
              <a:t>Secondary: Punctuality / Delays</a:t>
            </a:r>
            <a:br>
              <a:rPr sz="1200">
                <a:latin typeface="Times New Roman" panose="02020603050405020304" pitchFamily="18" charset="0"/>
                <a:cs typeface="Times New Roman" panose="02020603050405020304" pitchFamily="18" charset="0"/>
              </a:rPr>
            </a:br>
            <a:r>
              <a:rPr sz="1200" b="0">
                <a:solidFill>
                  <a:srgbClr val="FFFFFF"/>
                </a:solidFill>
                <a:latin typeface="Times New Roman" panose="02020603050405020304" pitchFamily="18" charset="0"/>
                <a:cs typeface="Times New Roman" panose="02020603050405020304" pitchFamily="18" charset="0"/>
              </a:rPr>
              <a:t>Worst period: 5 PM–7 PM</a:t>
            </a:r>
          </a:p>
        </p:txBody>
      </p:sp>
      <p:sp>
        <p:nvSpPr>
          <p:cNvPr id="19" name="Rounded Rectangle 12">
            <a:extLst>
              <a:ext uri="{FF2B5EF4-FFF2-40B4-BE49-F238E27FC236}">
                <a16:creationId xmlns:a16="http://schemas.microsoft.com/office/drawing/2014/main" id="{D638A524-1A69-4F93-9BDE-FFE7B3D741DC}"/>
              </a:ext>
            </a:extLst>
          </p:cNvPr>
          <p:cNvSpPr/>
          <p:nvPr/>
        </p:nvSpPr>
        <p:spPr>
          <a:xfrm>
            <a:off x="3280277" y="1406326"/>
            <a:ext cx="5349373" cy="2825496"/>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581164ED-B095-4B80-BD01-ADF122F7F102}"/>
              </a:ext>
            </a:extLst>
          </p:cNvPr>
          <p:cNvSpPr txBox="1"/>
          <p:nvPr/>
        </p:nvSpPr>
        <p:spPr>
          <a:xfrm>
            <a:off x="3520313" y="1632640"/>
            <a:ext cx="4766429" cy="205740"/>
          </a:xfrm>
          <a:prstGeom prst="rect">
            <a:avLst/>
          </a:prstGeom>
          <a:noFill/>
        </p:spPr>
        <p:txBody>
          <a:bodyPr wrap="square" lIns="18288" tIns="9144" rIns="18288" bIns="9144" anchor="t">
            <a:spAutoFit/>
          </a:bodyPr>
          <a:lstStyle/>
          <a:p>
            <a:pPr algn="ctr"/>
            <a:r>
              <a:rPr sz="1200" b="1">
                <a:solidFill>
                  <a:srgbClr val="003E73"/>
                </a:solidFill>
                <a:latin typeface="Times New Roman" panose="02020603050405020304" pitchFamily="18" charset="0"/>
                <a:cs typeface="Times New Roman" panose="02020603050405020304" pitchFamily="18" charset="0"/>
              </a:rPr>
              <a:t>DYNAMIC FINDINGS EXPECTED FROM THE SEED DATA</a:t>
            </a:r>
          </a:p>
        </p:txBody>
      </p:sp>
      <p:sp>
        <p:nvSpPr>
          <p:cNvPr id="21" name="Rounded Rectangle 14">
            <a:extLst>
              <a:ext uri="{FF2B5EF4-FFF2-40B4-BE49-F238E27FC236}">
                <a16:creationId xmlns:a16="http://schemas.microsoft.com/office/drawing/2014/main" id="{74FDC150-8A74-496B-9295-379471FCCE99}"/>
              </a:ext>
            </a:extLst>
          </p:cNvPr>
          <p:cNvSpPr/>
          <p:nvPr/>
        </p:nvSpPr>
        <p:spPr>
          <a:xfrm>
            <a:off x="3520313" y="2044120"/>
            <a:ext cx="2228905" cy="438912"/>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FD0C10AE-C7C4-46FA-9910-EAD076FDA54B}"/>
              </a:ext>
            </a:extLst>
          </p:cNvPr>
          <p:cNvSpPr txBox="1"/>
          <p:nvPr/>
        </p:nvSpPr>
        <p:spPr>
          <a:xfrm>
            <a:off x="3623185" y="2112700"/>
            <a:ext cx="1380486" cy="203133"/>
          </a:xfrm>
          <a:prstGeom prst="rect">
            <a:avLst/>
          </a:prstGeom>
          <a:noFill/>
        </p:spPr>
        <p:txBody>
          <a:bodyPr wrap="square" lIns="18288" tIns="9144" rIns="18288" bIns="9144" anchor="t">
            <a:spAutoFit/>
          </a:bodyPr>
          <a:lstStyle/>
          <a:p>
            <a:pPr algn="l"/>
            <a:r>
              <a:rPr sz="1200" b="1" dirty="0">
                <a:solidFill>
                  <a:srgbClr val="4E5865"/>
                </a:solidFill>
                <a:latin typeface="Times New Roman" panose="02020603050405020304" pitchFamily="18" charset="0"/>
                <a:cs typeface="Times New Roman" panose="02020603050405020304" pitchFamily="18" charset="0"/>
              </a:rPr>
              <a:t>PRIMARY ISSUE</a:t>
            </a:r>
          </a:p>
        </p:txBody>
      </p:sp>
      <p:sp>
        <p:nvSpPr>
          <p:cNvPr id="23" name="TextBox 22">
            <a:extLst>
              <a:ext uri="{FF2B5EF4-FFF2-40B4-BE49-F238E27FC236}">
                <a16:creationId xmlns:a16="http://schemas.microsoft.com/office/drawing/2014/main" id="{1DF609D0-60DA-45CE-8DD9-2B09E1863071}"/>
              </a:ext>
            </a:extLst>
          </p:cNvPr>
          <p:cNvSpPr txBox="1"/>
          <p:nvPr/>
        </p:nvSpPr>
        <p:spPr>
          <a:xfrm>
            <a:off x="3623185" y="2256718"/>
            <a:ext cx="1851706" cy="203133"/>
          </a:xfrm>
          <a:prstGeom prst="rect">
            <a:avLst/>
          </a:prstGeom>
          <a:noFill/>
        </p:spPr>
        <p:txBody>
          <a:bodyPr wrap="square" lIns="18288" tIns="9144" rIns="18288" bIns="9144" anchor="t">
            <a:spAutoFit/>
          </a:bodyPr>
          <a:lstStyle/>
          <a:p>
            <a:pPr algn="l"/>
            <a:r>
              <a:rPr sz="1200" b="1" dirty="0">
                <a:solidFill>
                  <a:srgbClr val="DD8500"/>
                </a:solidFill>
                <a:latin typeface="Times New Roman" panose="02020603050405020304" pitchFamily="18" charset="0"/>
                <a:cs typeface="Times New Roman" panose="02020603050405020304" pitchFamily="18" charset="0"/>
              </a:rPr>
              <a:t>Crowding</a:t>
            </a:r>
          </a:p>
        </p:txBody>
      </p:sp>
      <p:sp>
        <p:nvSpPr>
          <p:cNvPr id="24" name="Rounded Rectangle 17">
            <a:extLst>
              <a:ext uri="{FF2B5EF4-FFF2-40B4-BE49-F238E27FC236}">
                <a16:creationId xmlns:a16="http://schemas.microsoft.com/office/drawing/2014/main" id="{0B8A9BD5-A1CB-4FA3-8430-17E5E7FA0671}"/>
              </a:ext>
            </a:extLst>
          </p:cNvPr>
          <p:cNvSpPr/>
          <p:nvPr/>
        </p:nvSpPr>
        <p:spPr>
          <a:xfrm>
            <a:off x="6002971" y="2044120"/>
            <a:ext cx="2228905" cy="438912"/>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7726479B-3AE2-462A-A2C3-3213C6F75D5E}"/>
              </a:ext>
            </a:extLst>
          </p:cNvPr>
          <p:cNvSpPr txBox="1"/>
          <p:nvPr/>
        </p:nvSpPr>
        <p:spPr>
          <a:xfrm>
            <a:off x="6105842" y="2112700"/>
            <a:ext cx="1501779" cy="203133"/>
          </a:xfrm>
          <a:prstGeom prst="rect">
            <a:avLst/>
          </a:prstGeom>
          <a:noFill/>
        </p:spPr>
        <p:txBody>
          <a:bodyPr wrap="square" lIns="18288" tIns="9144" rIns="18288" bIns="9144" anchor="t">
            <a:spAutoFit/>
          </a:bodyPr>
          <a:lstStyle/>
          <a:p>
            <a:pPr algn="l"/>
            <a:r>
              <a:rPr sz="1200" b="1" dirty="0">
                <a:solidFill>
                  <a:srgbClr val="4E5865"/>
                </a:solidFill>
                <a:latin typeface="Times New Roman" panose="02020603050405020304" pitchFamily="18" charset="0"/>
                <a:cs typeface="Times New Roman" panose="02020603050405020304" pitchFamily="18" charset="0"/>
              </a:rPr>
              <a:t>SECONDARY ISSUE</a:t>
            </a:r>
          </a:p>
        </p:txBody>
      </p:sp>
      <p:sp>
        <p:nvSpPr>
          <p:cNvPr id="26" name="TextBox 25">
            <a:extLst>
              <a:ext uri="{FF2B5EF4-FFF2-40B4-BE49-F238E27FC236}">
                <a16:creationId xmlns:a16="http://schemas.microsoft.com/office/drawing/2014/main" id="{A4F02852-59AE-4DEF-A32E-11A28511B720}"/>
              </a:ext>
            </a:extLst>
          </p:cNvPr>
          <p:cNvSpPr txBox="1"/>
          <p:nvPr/>
        </p:nvSpPr>
        <p:spPr>
          <a:xfrm>
            <a:off x="6105843" y="2256718"/>
            <a:ext cx="1851706" cy="203133"/>
          </a:xfrm>
          <a:prstGeom prst="rect">
            <a:avLst/>
          </a:prstGeom>
          <a:noFill/>
        </p:spPr>
        <p:txBody>
          <a:bodyPr wrap="square" lIns="18288" tIns="9144" rIns="18288" bIns="9144" anchor="t">
            <a:spAutoFit/>
          </a:bodyPr>
          <a:lstStyle/>
          <a:p>
            <a:pPr algn="l"/>
            <a:r>
              <a:rPr sz="1200" b="1">
                <a:solidFill>
                  <a:srgbClr val="005BA0"/>
                </a:solidFill>
                <a:latin typeface="Times New Roman" panose="02020603050405020304" pitchFamily="18" charset="0"/>
                <a:cs typeface="Times New Roman" panose="02020603050405020304" pitchFamily="18" charset="0"/>
              </a:rPr>
              <a:t>Punctuality / Delays</a:t>
            </a:r>
          </a:p>
        </p:txBody>
      </p:sp>
      <p:sp>
        <p:nvSpPr>
          <p:cNvPr id="27" name="Rounded Rectangle 20">
            <a:extLst>
              <a:ext uri="{FF2B5EF4-FFF2-40B4-BE49-F238E27FC236}">
                <a16:creationId xmlns:a16="http://schemas.microsoft.com/office/drawing/2014/main" id="{2771E0F1-3A47-4A3E-B4F0-5E320FF6BE20}"/>
              </a:ext>
            </a:extLst>
          </p:cNvPr>
          <p:cNvSpPr/>
          <p:nvPr/>
        </p:nvSpPr>
        <p:spPr>
          <a:xfrm>
            <a:off x="3520313" y="2633908"/>
            <a:ext cx="2228905" cy="438912"/>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D1011458-C0E2-4FEF-97EB-6F756C68A4BF}"/>
              </a:ext>
            </a:extLst>
          </p:cNvPr>
          <p:cNvSpPr txBox="1"/>
          <p:nvPr/>
        </p:nvSpPr>
        <p:spPr>
          <a:xfrm>
            <a:off x="3623185" y="2702488"/>
            <a:ext cx="1282478" cy="203133"/>
          </a:xfrm>
          <a:prstGeom prst="rect">
            <a:avLst/>
          </a:prstGeom>
          <a:noFill/>
        </p:spPr>
        <p:txBody>
          <a:bodyPr wrap="square" lIns="18288" tIns="9144" rIns="18288" bIns="9144" anchor="t">
            <a:spAutoFit/>
          </a:bodyPr>
          <a:lstStyle/>
          <a:p>
            <a:pPr algn="l"/>
            <a:r>
              <a:rPr sz="1200" b="1" dirty="0">
                <a:solidFill>
                  <a:srgbClr val="4E5865"/>
                </a:solidFill>
                <a:latin typeface="Times New Roman" panose="02020603050405020304" pitchFamily="18" charset="0"/>
                <a:cs typeface="Times New Roman" panose="02020603050405020304" pitchFamily="18" charset="0"/>
              </a:rPr>
              <a:t>WORST PERIOD</a:t>
            </a:r>
          </a:p>
        </p:txBody>
      </p:sp>
      <p:sp>
        <p:nvSpPr>
          <p:cNvPr id="29" name="TextBox 28">
            <a:extLst>
              <a:ext uri="{FF2B5EF4-FFF2-40B4-BE49-F238E27FC236}">
                <a16:creationId xmlns:a16="http://schemas.microsoft.com/office/drawing/2014/main" id="{DE7EE03F-8790-4BB4-98B0-953DEB75B606}"/>
              </a:ext>
            </a:extLst>
          </p:cNvPr>
          <p:cNvSpPr txBox="1"/>
          <p:nvPr/>
        </p:nvSpPr>
        <p:spPr>
          <a:xfrm>
            <a:off x="3623185" y="2846506"/>
            <a:ext cx="1851706" cy="203133"/>
          </a:xfrm>
          <a:prstGeom prst="rect">
            <a:avLst/>
          </a:prstGeom>
          <a:noFill/>
        </p:spPr>
        <p:txBody>
          <a:bodyPr wrap="square" lIns="18288" tIns="9144" rIns="18288" bIns="9144" anchor="t">
            <a:spAutoFit/>
          </a:bodyPr>
          <a:lstStyle/>
          <a:p>
            <a:pPr algn="l"/>
            <a:r>
              <a:rPr sz="1200" b="1" dirty="0">
                <a:solidFill>
                  <a:srgbClr val="BE2D41"/>
                </a:solidFill>
                <a:latin typeface="Times New Roman" panose="02020603050405020304" pitchFamily="18" charset="0"/>
                <a:cs typeface="Times New Roman" panose="02020603050405020304" pitchFamily="18" charset="0"/>
              </a:rPr>
              <a:t>5 PM–7 PM</a:t>
            </a:r>
          </a:p>
        </p:txBody>
      </p:sp>
      <p:sp>
        <p:nvSpPr>
          <p:cNvPr id="30" name="Rounded Rectangle 23">
            <a:extLst>
              <a:ext uri="{FF2B5EF4-FFF2-40B4-BE49-F238E27FC236}">
                <a16:creationId xmlns:a16="http://schemas.microsoft.com/office/drawing/2014/main" id="{E7B681EA-33B2-4481-ABE7-11B6F3413B67}"/>
              </a:ext>
            </a:extLst>
          </p:cNvPr>
          <p:cNvSpPr/>
          <p:nvPr/>
        </p:nvSpPr>
        <p:spPr>
          <a:xfrm>
            <a:off x="6002971" y="2633908"/>
            <a:ext cx="2228905" cy="438912"/>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27EF5889-88AA-43C6-93DB-FBEC0692F3D3}"/>
              </a:ext>
            </a:extLst>
          </p:cNvPr>
          <p:cNvSpPr txBox="1"/>
          <p:nvPr/>
        </p:nvSpPr>
        <p:spPr>
          <a:xfrm>
            <a:off x="6105843" y="2702488"/>
            <a:ext cx="1775635" cy="203133"/>
          </a:xfrm>
          <a:prstGeom prst="rect">
            <a:avLst/>
          </a:prstGeom>
          <a:noFill/>
        </p:spPr>
        <p:txBody>
          <a:bodyPr wrap="square" lIns="18288" tIns="9144" rIns="18288" bIns="9144" anchor="t">
            <a:spAutoFit/>
          </a:bodyPr>
          <a:lstStyle/>
          <a:p>
            <a:pPr algn="l"/>
            <a:r>
              <a:rPr sz="1200" b="1" dirty="0">
                <a:solidFill>
                  <a:srgbClr val="4E5865"/>
                </a:solidFill>
                <a:latin typeface="Times New Roman" panose="02020603050405020304" pitchFamily="18" charset="0"/>
                <a:cs typeface="Times New Roman" panose="02020603050405020304" pitchFamily="18" charset="0"/>
              </a:rPr>
              <a:t>COMPLAINT PATTERN</a:t>
            </a:r>
          </a:p>
        </p:txBody>
      </p:sp>
      <p:sp>
        <p:nvSpPr>
          <p:cNvPr id="32" name="TextBox 31">
            <a:extLst>
              <a:ext uri="{FF2B5EF4-FFF2-40B4-BE49-F238E27FC236}">
                <a16:creationId xmlns:a16="http://schemas.microsoft.com/office/drawing/2014/main" id="{AAD5FFC3-83BB-43F2-91E4-B18A11D8789B}"/>
              </a:ext>
            </a:extLst>
          </p:cNvPr>
          <p:cNvSpPr txBox="1"/>
          <p:nvPr/>
        </p:nvSpPr>
        <p:spPr>
          <a:xfrm>
            <a:off x="6105843" y="2846506"/>
            <a:ext cx="1851706" cy="203133"/>
          </a:xfrm>
          <a:prstGeom prst="rect">
            <a:avLst/>
          </a:prstGeom>
          <a:noFill/>
        </p:spPr>
        <p:txBody>
          <a:bodyPr wrap="square" lIns="18288" tIns="9144" rIns="18288" bIns="9144" anchor="t">
            <a:spAutoFit/>
          </a:bodyPr>
          <a:lstStyle/>
          <a:p>
            <a:pPr algn="l"/>
            <a:r>
              <a:rPr sz="1200" b="1" dirty="0">
                <a:solidFill>
                  <a:srgbClr val="BE2D41"/>
                </a:solidFill>
                <a:latin typeface="Times New Roman" panose="02020603050405020304" pitchFamily="18" charset="0"/>
                <a:cs typeface="Times New Roman" panose="02020603050405020304" pitchFamily="18" charset="0"/>
              </a:rPr>
              <a:t>High volume</a:t>
            </a:r>
          </a:p>
        </p:txBody>
      </p:sp>
      <p:sp>
        <p:nvSpPr>
          <p:cNvPr id="33" name="Rounded Rectangle 26">
            <a:extLst>
              <a:ext uri="{FF2B5EF4-FFF2-40B4-BE49-F238E27FC236}">
                <a16:creationId xmlns:a16="http://schemas.microsoft.com/office/drawing/2014/main" id="{AB54010E-C9FC-4985-A367-7C1DE7F7CE35}"/>
              </a:ext>
            </a:extLst>
          </p:cNvPr>
          <p:cNvSpPr/>
          <p:nvPr/>
        </p:nvSpPr>
        <p:spPr>
          <a:xfrm>
            <a:off x="3520313" y="3223696"/>
            <a:ext cx="2228905" cy="438912"/>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E412F5B8-1D34-402A-8A8F-F537FFF4761F}"/>
              </a:ext>
            </a:extLst>
          </p:cNvPr>
          <p:cNvSpPr txBox="1"/>
          <p:nvPr/>
        </p:nvSpPr>
        <p:spPr>
          <a:xfrm>
            <a:off x="3623185" y="3292276"/>
            <a:ext cx="1282478" cy="203133"/>
          </a:xfrm>
          <a:prstGeom prst="rect">
            <a:avLst/>
          </a:prstGeom>
          <a:noFill/>
        </p:spPr>
        <p:txBody>
          <a:bodyPr wrap="square" lIns="18288" tIns="9144" rIns="18288" bIns="9144" anchor="t">
            <a:spAutoFit/>
          </a:bodyPr>
          <a:lstStyle/>
          <a:p>
            <a:pPr algn="l"/>
            <a:r>
              <a:rPr sz="1200" b="1" dirty="0">
                <a:solidFill>
                  <a:srgbClr val="4E5865"/>
                </a:solidFill>
                <a:latin typeface="Times New Roman" panose="02020603050405020304" pitchFamily="18" charset="0"/>
                <a:cs typeface="Times New Roman" panose="02020603050405020304" pitchFamily="18" charset="0"/>
              </a:rPr>
              <a:t>RECENT TREND</a:t>
            </a:r>
          </a:p>
        </p:txBody>
      </p:sp>
      <p:sp>
        <p:nvSpPr>
          <p:cNvPr id="35" name="TextBox 34">
            <a:extLst>
              <a:ext uri="{FF2B5EF4-FFF2-40B4-BE49-F238E27FC236}">
                <a16:creationId xmlns:a16="http://schemas.microsoft.com/office/drawing/2014/main" id="{F3F63C2F-F7B1-48F6-B58C-6044AB71A818}"/>
              </a:ext>
            </a:extLst>
          </p:cNvPr>
          <p:cNvSpPr txBox="1"/>
          <p:nvPr/>
        </p:nvSpPr>
        <p:spPr>
          <a:xfrm>
            <a:off x="3623185" y="3436294"/>
            <a:ext cx="1851706" cy="203133"/>
          </a:xfrm>
          <a:prstGeom prst="rect">
            <a:avLst/>
          </a:prstGeom>
          <a:noFill/>
        </p:spPr>
        <p:txBody>
          <a:bodyPr wrap="square" lIns="18288" tIns="9144" rIns="18288" bIns="9144" anchor="t">
            <a:spAutoFit/>
          </a:bodyPr>
          <a:lstStyle/>
          <a:p>
            <a:pPr algn="l"/>
            <a:r>
              <a:rPr sz="1200" b="1">
                <a:solidFill>
                  <a:srgbClr val="DD8500"/>
                </a:solidFill>
                <a:latin typeface="Times New Roman" panose="02020603050405020304" pitchFamily="18" charset="0"/>
                <a:cs typeface="Times New Roman" panose="02020603050405020304" pitchFamily="18" charset="0"/>
              </a:rPr>
              <a:t>Increasing complaints</a:t>
            </a:r>
          </a:p>
        </p:txBody>
      </p:sp>
      <p:sp>
        <p:nvSpPr>
          <p:cNvPr id="36" name="Rounded Rectangle 29">
            <a:extLst>
              <a:ext uri="{FF2B5EF4-FFF2-40B4-BE49-F238E27FC236}">
                <a16:creationId xmlns:a16="http://schemas.microsoft.com/office/drawing/2014/main" id="{F1FB5003-16A3-4FA2-B6F5-BA842D0E5CF8}"/>
              </a:ext>
            </a:extLst>
          </p:cNvPr>
          <p:cNvSpPr/>
          <p:nvPr/>
        </p:nvSpPr>
        <p:spPr>
          <a:xfrm>
            <a:off x="6002971" y="3223696"/>
            <a:ext cx="2228905" cy="438912"/>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89AAC139-D95D-4DF8-B785-61F04F0F3763}"/>
              </a:ext>
            </a:extLst>
          </p:cNvPr>
          <p:cNvSpPr txBox="1"/>
          <p:nvPr/>
        </p:nvSpPr>
        <p:spPr>
          <a:xfrm>
            <a:off x="6105843" y="3292276"/>
            <a:ext cx="925853" cy="203133"/>
          </a:xfrm>
          <a:prstGeom prst="rect">
            <a:avLst/>
          </a:prstGeom>
          <a:noFill/>
        </p:spPr>
        <p:txBody>
          <a:bodyPr wrap="square" lIns="18288" tIns="9144" rIns="18288" bIns="9144" anchor="t">
            <a:spAutoFit/>
          </a:bodyPr>
          <a:lstStyle/>
          <a:p>
            <a:pPr algn="l"/>
            <a:r>
              <a:rPr sz="1200" b="1">
                <a:solidFill>
                  <a:srgbClr val="4E5865"/>
                </a:solidFill>
                <a:latin typeface="Times New Roman" panose="02020603050405020304" pitchFamily="18" charset="0"/>
                <a:cs typeface="Times New Roman" panose="02020603050405020304" pitchFamily="18" charset="0"/>
              </a:rPr>
              <a:t>STATUS</a:t>
            </a:r>
          </a:p>
        </p:txBody>
      </p:sp>
      <p:sp>
        <p:nvSpPr>
          <p:cNvPr id="38" name="TextBox 37">
            <a:extLst>
              <a:ext uri="{FF2B5EF4-FFF2-40B4-BE49-F238E27FC236}">
                <a16:creationId xmlns:a16="http://schemas.microsoft.com/office/drawing/2014/main" id="{F814BA9D-DAFE-41A9-9247-8EDE039C5994}"/>
              </a:ext>
            </a:extLst>
          </p:cNvPr>
          <p:cNvSpPr txBox="1"/>
          <p:nvPr/>
        </p:nvSpPr>
        <p:spPr>
          <a:xfrm>
            <a:off x="6105843" y="3436294"/>
            <a:ext cx="1851706" cy="203133"/>
          </a:xfrm>
          <a:prstGeom prst="rect">
            <a:avLst/>
          </a:prstGeom>
          <a:noFill/>
        </p:spPr>
        <p:txBody>
          <a:bodyPr wrap="square" lIns="18288" tIns="9144" rIns="18288" bIns="9144" anchor="t">
            <a:spAutoFit/>
          </a:bodyPr>
          <a:lstStyle/>
          <a:p>
            <a:pPr algn="l"/>
            <a:r>
              <a:rPr sz="1200" b="1">
                <a:solidFill>
                  <a:srgbClr val="BE2D41"/>
                </a:solidFill>
                <a:latin typeface="Times New Roman" panose="02020603050405020304" pitchFamily="18" charset="0"/>
                <a:cs typeface="Times New Roman" panose="02020603050405020304" pitchFamily="18" charset="0"/>
              </a:rPr>
              <a:t>Deteriorating</a:t>
            </a:r>
          </a:p>
        </p:txBody>
      </p:sp>
      <p:sp>
        <p:nvSpPr>
          <p:cNvPr id="39" name="TextBox 38">
            <a:extLst>
              <a:ext uri="{FF2B5EF4-FFF2-40B4-BE49-F238E27FC236}">
                <a16:creationId xmlns:a16="http://schemas.microsoft.com/office/drawing/2014/main" id="{41E4153C-3F6C-41A8-B2F4-2FB65130B12E}"/>
              </a:ext>
            </a:extLst>
          </p:cNvPr>
          <p:cNvSpPr txBox="1"/>
          <p:nvPr/>
        </p:nvSpPr>
        <p:spPr>
          <a:xfrm>
            <a:off x="3520313" y="3812486"/>
            <a:ext cx="4766429" cy="387798"/>
          </a:xfrm>
          <a:prstGeom prst="rect">
            <a:avLst/>
          </a:prstGeom>
          <a:noFill/>
        </p:spPr>
        <p:txBody>
          <a:bodyPr wrap="square" lIns="18288" tIns="9144" rIns="18288" bIns="9144" anchor="t">
            <a:spAutoFit/>
          </a:bodyPr>
          <a:lstStyle/>
          <a:p>
            <a:pPr algn="ctr"/>
            <a:r>
              <a:rPr sz="1200" b="1" dirty="0">
                <a:solidFill>
                  <a:srgbClr val="BE2D41"/>
                </a:solidFill>
                <a:latin typeface="Times New Roman" panose="02020603050405020304" pitchFamily="18" charset="0"/>
                <a:cs typeface="Times New Roman" panose="02020603050405020304" pitchFamily="18" charset="0"/>
              </a:rPr>
              <a:t>Deterioration signal: rating ↓  +  complaints ↑  +  high/critical complaints ↑</a:t>
            </a:r>
          </a:p>
        </p:txBody>
      </p:sp>
    </p:spTree>
    <p:extLst>
      <p:ext uri="{BB962C8B-B14F-4D97-AF65-F5344CB8AC3E}">
        <p14:creationId xmlns:p14="http://schemas.microsoft.com/office/powerpoint/2010/main" val="90996078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942643-4B4B-3AF4-2F08-E12BA79BC8F5}"/>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12</a:t>
            </a:fld>
            <a:endParaRPr lang="en-IN" dirty="0"/>
          </a:p>
        </p:txBody>
      </p:sp>
      <p:sp>
        <p:nvSpPr>
          <p:cNvPr id="10" name="TextBox 9">
            <a:extLst>
              <a:ext uri="{FF2B5EF4-FFF2-40B4-BE49-F238E27FC236}">
                <a16:creationId xmlns:a16="http://schemas.microsoft.com/office/drawing/2014/main" id="{D28E8CE0-38BB-43A5-B4EE-22EBF2325B7C}"/>
              </a:ext>
            </a:extLst>
          </p:cNvPr>
          <p:cNvSpPr txBox="1"/>
          <p:nvPr/>
        </p:nvSpPr>
        <p:spPr bwMode="auto">
          <a:xfrm>
            <a:off x="182078" y="4835723"/>
            <a:ext cx="8595233" cy="307777"/>
          </a:xfrm>
          <a:prstGeom prst="rect">
            <a:avLst/>
          </a:prstGeom>
          <a:noFill/>
          <a:ln w="19050" algn="ctr">
            <a:noFill/>
            <a:miter lim="800000"/>
            <a:headEnd/>
            <a:tailEnd/>
          </a:ln>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	Veritas AI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DPA Hackathon 2026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IARE</a:t>
            </a:r>
          </a:p>
        </p:txBody>
      </p:sp>
      <p:pic>
        <p:nvPicPr>
          <p:cNvPr id="7" name="Picture 6">
            <a:extLst>
              <a:ext uri="{FF2B5EF4-FFF2-40B4-BE49-F238E27FC236}">
                <a16:creationId xmlns:a16="http://schemas.microsoft.com/office/drawing/2014/main" id="{663E3B90-F832-4B7C-A832-B10A9043AD70}"/>
              </a:ext>
            </a:extLst>
          </p:cNvPr>
          <p:cNvPicPr>
            <a:picLocks noChangeAspect="1"/>
          </p:cNvPicPr>
          <p:nvPr/>
        </p:nvPicPr>
        <p:blipFill rotWithShape="1">
          <a:blip r:embed="rId3"/>
          <a:srcRect l="-1949" t="31547" r="1949" b="31097"/>
          <a:stretch/>
        </p:blipFill>
        <p:spPr>
          <a:xfrm>
            <a:off x="6384941" y="144570"/>
            <a:ext cx="1905000" cy="711627"/>
          </a:xfrm>
          <a:prstGeom prst="rect">
            <a:avLst/>
          </a:prstGeom>
        </p:spPr>
      </p:pic>
      <p:sp>
        <p:nvSpPr>
          <p:cNvPr id="11" name="object 2">
            <a:extLst>
              <a:ext uri="{FF2B5EF4-FFF2-40B4-BE49-F238E27FC236}">
                <a16:creationId xmlns:a16="http://schemas.microsoft.com/office/drawing/2014/main" id="{D179FC4C-EAB8-4793-B3BD-05E101B4D037}"/>
              </a:ext>
            </a:extLst>
          </p:cNvPr>
          <p:cNvSpPr txBox="1">
            <a:spLocks/>
          </p:cNvSpPr>
          <p:nvPr/>
        </p:nvSpPr>
        <p:spPr>
          <a:xfrm>
            <a:off x="59518" y="66955"/>
            <a:ext cx="6441518" cy="995784"/>
          </a:xfrm>
          <a:prstGeom prst="rect">
            <a:avLst/>
          </a:prstGeom>
        </p:spPr>
        <p:txBody>
          <a:bodyPr vert="horz" wrap="square" lIns="0" tIns="71754" rIns="0" bIns="0" rtlCol="0" anchor="t">
            <a:spAutoFit/>
          </a:bodyPr>
          <a:lst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a:lstStyle>
          <a:p>
            <a:pPr marL="45085">
              <a:lnSpc>
                <a:spcPct val="100000"/>
              </a:lnSpc>
              <a:spcBef>
                <a:spcPts val="105"/>
              </a:spcBef>
            </a:pPr>
            <a:r>
              <a:rPr lang="en-IN" spc="-30" dirty="0">
                <a:latin typeface="Times New Roman" panose="02020603050405020304" pitchFamily="18" charset="0"/>
                <a:cs typeface="Times New Roman" panose="02020603050405020304" pitchFamily="18" charset="0"/>
              </a:rPr>
              <a:t>Deterioration Detection &amp; Operational Interpretation</a:t>
            </a:r>
          </a:p>
        </p:txBody>
      </p:sp>
      <p:sp>
        <p:nvSpPr>
          <p:cNvPr id="40" name="Rounded Rectangle 6">
            <a:extLst>
              <a:ext uri="{FF2B5EF4-FFF2-40B4-BE49-F238E27FC236}">
                <a16:creationId xmlns:a16="http://schemas.microsoft.com/office/drawing/2014/main" id="{E16EC6D1-C7D5-43A0-9D12-CC69A25C487A}"/>
              </a:ext>
            </a:extLst>
          </p:cNvPr>
          <p:cNvSpPr/>
          <p:nvPr/>
        </p:nvSpPr>
        <p:spPr>
          <a:xfrm>
            <a:off x="247923" y="1340067"/>
            <a:ext cx="2743268" cy="2368448"/>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41" name="Rounded Rectangle 7">
            <a:extLst>
              <a:ext uri="{FF2B5EF4-FFF2-40B4-BE49-F238E27FC236}">
                <a16:creationId xmlns:a16="http://schemas.microsoft.com/office/drawing/2014/main" id="{C4ABCE39-EB0A-49BE-9DCB-387A0EFA54A9}"/>
              </a:ext>
            </a:extLst>
          </p:cNvPr>
          <p:cNvSpPr/>
          <p:nvPr/>
        </p:nvSpPr>
        <p:spPr>
          <a:xfrm>
            <a:off x="453667" y="1566380"/>
            <a:ext cx="1577382" cy="229019"/>
          </a:xfrm>
          <a:prstGeom prst="roundRect">
            <a:avLst/>
          </a:prstGeom>
          <a:solidFill>
            <a:srgbClr val="0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6D7F31A5-DCE1-4D29-8D91-AD45C2F45C6D}"/>
              </a:ext>
            </a:extLst>
          </p:cNvPr>
          <p:cNvSpPr txBox="1"/>
          <p:nvPr/>
        </p:nvSpPr>
        <p:spPr>
          <a:xfrm>
            <a:off x="518742" y="1589223"/>
            <a:ext cx="1435381" cy="203133"/>
          </a:xfrm>
          <a:prstGeom prst="rect">
            <a:avLst/>
          </a:prstGeom>
          <a:noFill/>
        </p:spPr>
        <p:txBody>
          <a:bodyPr wrap="square" lIns="18288" tIns="9144" rIns="18288" bIns="9144" anchor="ctr">
            <a:spAutoFit/>
          </a:bodyPr>
          <a:lstStyle/>
          <a:p>
            <a:pPr algn="ctr"/>
            <a:r>
              <a:rPr sz="1200" b="1" dirty="0">
                <a:solidFill>
                  <a:srgbClr val="FFFFFF"/>
                </a:solidFill>
                <a:latin typeface="Times New Roman" panose="02020603050405020304" pitchFamily="18" charset="0"/>
                <a:cs typeface="Times New Roman" panose="02020603050405020304" pitchFamily="18" charset="0"/>
              </a:rPr>
              <a:t>CURRENT PERIOD</a:t>
            </a:r>
          </a:p>
        </p:txBody>
      </p:sp>
      <p:sp>
        <p:nvSpPr>
          <p:cNvPr id="43" name="TextBox 42">
            <a:extLst>
              <a:ext uri="{FF2B5EF4-FFF2-40B4-BE49-F238E27FC236}">
                <a16:creationId xmlns:a16="http://schemas.microsoft.com/office/drawing/2014/main" id="{3C3A4600-5F8B-4245-AE30-364C9CC326FD}"/>
              </a:ext>
            </a:extLst>
          </p:cNvPr>
          <p:cNvSpPr txBox="1"/>
          <p:nvPr/>
        </p:nvSpPr>
        <p:spPr>
          <a:xfrm>
            <a:off x="453668" y="1991577"/>
            <a:ext cx="2297487" cy="397764"/>
          </a:xfrm>
          <a:prstGeom prst="rect">
            <a:avLst/>
          </a:prstGeom>
          <a:noFill/>
        </p:spPr>
        <p:txBody>
          <a:bodyPr wrap="square" lIns="18288" tIns="9144" rIns="18288" bIns="9144" anchor="t">
            <a:spAutoFit/>
          </a:bodyPr>
          <a:lstStyle/>
          <a:p>
            <a:pPr algn="ctr"/>
            <a:r>
              <a:rPr sz="1200" b="1">
                <a:solidFill>
                  <a:srgbClr val="1E2834"/>
                </a:solidFill>
                <a:latin typeface="Times New Roman" panose="02020603050405020304" pitchFamily="18" charset="0"/>
                <a:cs typeface="Times New Roman" panose="02020603050405020304" pitchFamily="18" charset="0"/>
              </a:rPr>
              <a:t>Aggregate feedback</a:t>
            </a:r>
            <a:br>
              <a:rPr sz="1200">
                <a:latin typeface="Times New Roman" panose="02020603050405020304" pitchFamily="18" charset="0"/>
                <a:cs typeface="Times New Roman" panose="02020603050405020304" pitchFamily="18" charset="0"/>
              </a:rPr>
            </a:br>
            <a:r>
              <a:rPr sz="1200" b="1">
                <a:solidFill>
                  <a:srgbClr val="1E2834"/>
                </a:solidFill>
                <a:latin typeface="Times New Roman" panose="02020603050405020304" pitchFamily="18" charset="0"/>
                <a:cs typeface="Times New Roman" panose="02020603050405020304" pitchFamily="18" charset="0"/>
              </a:rPr>
              <a:t>for the selected window</a:t>
            </a:r>
          </a:p>
        </p:txBody>
      </p:sp>
      <p:cxnSp>
        <p:nvCxnSpPr>
          <p:cNvPr id="44" name="Connector 10">
            <a:extLst>
              <a:ext uri="{FF2B5EF4-FFF2-40B4-BE49-F238E27FC236}">
                <a16:creationId xmlns:a16="http://schemas.microsoft.com/office/drawing/2014/main" id="{C3E76173-3C02-40F9-9484-809452527A17}"/>
              </a:ext>
            </a:extLst>
          </p:cNvPr>
          <p:cNvCxnSpPr/>
          <p:nvPr/>
        </p:nvCxnSpPr>
        <p:spPr>
          <a:xfrm>
            <a:off x="1667487" y="2446932"/>
            <a:ext cx="0" cy="294894"/>
          </a:xfrm>
          <a:prstGeom prst="line">
            <a:avLst/>
          </a:prstGeom>
          <a:ln w="20320">
            <a:solidFill>
              <a:srgbClr val="005BA0"/>
            </a:solidFill>
          </a:ln>
        </p:spPr>
        <p:style>
          <a:lnRef idx="2">
            <a:schemeClr val="accent1"/>
          </a:lnRef>
          <a:fillRef idx="0">
            <a:schemeClr val="accent1"/>
          </a:fillRef>
          <a:effectRef idx="1">
            <a:schemeClr val="accent1"/>
          </a:effectRef>
          <a:fontRef idx="minor">
            <a:schemeClr val="tx1"/>
          </a:fontRef>
        </p:style>
      </p:cxnSp>
      <p:sp>
        <p:nvSpPr>
          <p:cNvPr id="45" name="Rounded Rectangle 11">
            <a:extLst>
              <a:ext uri="{FF2B5EF4-FFF2-40B4-BE49-F238E27FC236}">
                <a16:creationId xmlns:a16="http://schemas.microsoft.com/office/drawing/2014/main" id="{C3247ADA-C5FA-4030-BA46-45FC8CE51E8E}"/>
              </a:ext>
            </a:extLst>
          </p:cNvPr>
          <p:cNvSpPr/>
          <p:nvPr/>
        </p:nvSpPr>
        <p:spPr>
          <a:xfrm>
            <a:off x="1220872" y="2834685"/>
            <a:ext cx="994434" cy="233172"/>
          </a:xfrm>
          <a:prstGeom prst="roundRect">
            <a:avLst/>
          </a:prstGeom>
          <a:solidFill>
            <a:srgbClr val="DD8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A260EF2D-FBB8-4193-88E4-AA0866A14075}"/>
              </a:ext>
            </a:extLst>
          </p:cNvPr>
          <p:cNvSpPr txBox="1"/>
          <p:nvPr/>
        </p:nvSpPr>
        <p:spPr>
          <a:xfrm>
            <a:off x="1241446" y="2842845"/>
            <a:ext cx="953285" cy="203133"/>
          </a:xfrm>
          <a:prstGeom prst="rect">
            <a:avLst/>
          </a:prstGeom>
          <a:noFill/>
        </p:spPr>
        <p:txBody>
          <a:bodyPr wrap="square" lIns="18288" tIns="9144" rIns="18288" bIns="9144" anchor="ctr">
            <a:spAutoFit/>
          </a:bodyPr>
          <a:lstStyle/>
          <a:p>
            <a:pPr algn="ctr"/>
            <a:r>
              <a:rPr sz="1200" b="1" dirty="0">
                <a:solidFill>
                  <a:srgbClr val="FFFFFF"/>
                </a:solidFill>
                <a:latin typeface="Times New Roman" panose="02020603050405020304" pitchFamily="18" charset="0"/>
                <a:cs typeface="Times New Roman" panose="02020603050405020304" pitchFamily="18" charset="0"/>
              </a:rPr>
              <a:t>COMPARE</a:t>
            </a:r>
          </a:p>
        </p:txBody>
      </p:sp>
      <p:sp>
        <p:nvSpPr>
          <p:cNvPr id="47" name="TextBox 46">
            <a:extLst>
              <a:ext uri="{FF2B5EF4-FFF2-40B4-BE49-F238E27FC236}">
                <a16:creationId xmlns:a16="http://schemas.microsoft.com/office/drawing/2014/main" id="{F951FAB0-E74D-4814-AAFB-A0CA74E2A591}"/>
              </a:ext>
            </a:extLst>
          </p:cNvPr>
          <p:cNvSpPr txBox="1"/>
          <p:nvPr/>
        </p:nvSpPr>
        <p:spPr>
          <a:xfrm>
            <a:off x="518743" y="3260307"/>
            <a:ext cx="2297487" cy="205740"/>
          </a:xfrm>
          <a:prstGeom prst="rect">
            <a:avLst/>
          </a:prstGeom>
          <a:noFill/>
        </p:spPr>
        <p:txBody>
          <a:bodyPr wrap="square" lIns="18288" tIns="9144" rIns="18288" bIns="9144" anchor="t">
            <a:spAutoFit/>
          </a:bodyPr>
          <a:lstStyle/>
          <a:p>
            <a:pPr algn="ctr"/>
            <a:r>
              <a:rPr sz="1200" b="1" dirty="0">
                <a:solidFill>
                  <a:srgbClr val="1E2834"/>
                </a:solidFill>
                <a:latin typeface="Times New Roman" panose="02020603050405020304" pitchFamily="18" charset="0"/>
                <a:cs typeface="Times New Roman" panose="02020603050405020304" pitchFamily="18" charset="0"/>
              </a:rPr>
              <a:t>Current vs previous period</a:t>
            </a:r>
          </a:p>
        </p:txBody>
      </p:sp>
      <p:sp>
        <p:nvSpPr>
          <p:cNvPr id="48" name="Rounded Rectangle 14">
            <a:extLst>
              <a:ext uri="{FF2B5EF4-FFF2-40B4-BE49-F238E27FC236}">
                <a16:creationId xmlns:a16="http://schemas.microsoft.com/office/drawing/2014/main" id="{EA9CDFD8-25DE-4ECC-AB2E-8AE028E973AF}"/>
              </a:ext>
            </a:extLst>
          </p:cNvPr>
          <p:cNvSpPr/>
          <p:nvPr/>
        </p:nvSpPr>
        <p:spPr>
          <a:xfrm>
            <a:off x="3183220" y="1340067"/>
            <a:ext cx="2777559" cy="2368448"/>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49" name="Rounded Rectangle 15">
            <a:extLst>
              <a:ext uri="{FF2B5EF4-FFF2-40B4-BE49-F238E27FC236}">
                <a16:creationId xmlns:a16="http://schemas.microsoft.com/office/drawing/2014/main" id="{A0E49042-B615-4B8C-AC46-46FEB818542E}"/>
              </a:ext>
            </a:extLst>
          </p:cNvPr>
          <p:cNvSpPr/>
          <p:nvPr/>
        </p:nvSpPr>
        <p:spPr>
          <a:xfrm>
            <a:off x="3402681" y="1566381"/>
            <a:ext cx="1357919" cy="229019"/>
          </a:xfrm>
          <a:prstGeom prst="roundRect">
            <a:avLst/>
          </a:prstGeom>
          <a:solidFill>
            <a:srgbClr val="B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4D4E20AF-B268-4EC3-8AD7-38498682FACF}"/>
              </a:ext>
            </a:extLst>
          </p:cNvPr>
          <p:cNvSpPr txBox="1"/>
          <p:nvPr/>
        </p:nvSpPr>
        <p:spPr>
          <a:xfrm>
            <a:off x="3423256" y="1558248"/>
            <a:ext cx="1337344" cy="203133"/>
          </a:xfrm>
          <a:prstGeom prst="rect">
            <a:avLst/>
          </a:prstGeom>
          <a:noFill/>
        </p:spPr>
        <p:txBody>
          <a:bodyPr wrap="square" lIns="18288" tIns="9144" rIns="18288" bIns="9144" anchor="ctr">
            <a:spAutoFit/>
          </a:bodyPr>
          <a:lstStyle/>
          <a:p>
            <a:pPr algn="ctr"/>
            <a:r>
              <a:rPr sz="1200" b="1" dirty="0">
                <a:solidFill>
                  <a:srgbClr val="FFFFFF"/>
                </a:solidFill>
                <a:latin typeface="Times New Roman" panose="02020603050405020304" pitchFamily="18" charset="0"/>
                <a:cs typeface="Times New Roman" panose="02020603050405020304" pitchFamily="18" charset="0"/>
              </a:rPr>
              <a:t>THREE SIGNALS</a:t>
            </a:r>
          </a:p>
        </p:txBody>
      </p:sp>
      <p:sp>
        <p:nvSpPr>
          <p:cNvPr id="51" name="Rounded Rectangle 17">
            <a:extLst>
              <a:ext uri="{FF2B5EF4-FFF2-40B4-BE49-F238E27FC236}">
                <a16:creationId xmlns:a16="http://schemas.microsoft.com/office/drawing/2014/main" id="{17544E76-AC95-44AF-BF59-9DFAA47D6781}"/>
              </a:ext>
            </a:extLst>
          </p:cNvPr>
          <p:cNvSpPr/>
          <p:nvPr/>
        </p:nvSpPr>
        <p:spPr>
          <a:xfrm>
            <a:off x="3423256" y="2005293"/>
            <a:ext cx="2263196" cy="384048"/>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52" name="TextBox 51">
            <a:extLst>
              <a:ext uri="{FF2B5EF4-FFF2-40B4-BE49-F238E27FC236}">
                <a16:creationId xmlns:a16="http://schemas.microsoft.com/office/drawing/2014/main" id="{81C54B27-6497-4237-A96E-73ACE8AD42E5}"/>
              </a:ext>
            </a:extLst>
          </p:cNvPr>
          <p:cNvSpPr txBox="1"/>
          <p:nvPr/>
        </p:nvSpPr>
        <p:spPr>
          <a:xfrm>
            <a:off x="3539845" y="2108163"/>
            <a:ext cx="1611670" cy="203133"/>
          </a:xfrm>
          <a:prstGeom prst="rect">
            <a:avLst/>
          </a:prstGeom>
          <a:noFill/>
        </p:spPr>
        <p:txBody>
          <a:bodyPr wrap="square" lIns="18288" tIns="9144" rIns="18288" bIns="9144" anchor="t">
            <a:spAutoFit/>
          </a:bodyPr>
          <a:lstStyle/>
          <a:p>
            <a:pPr algn="l"/>
            <a:r>
              <a:rPr sz="1200" b="1">
                <a:solidFill>
                  <a:srgbClr val="BE2D41"/>
                </a:solidFill>
                <a:latin typeface="Times New Roman" panose="02020603050405020304" pitchFamily="18" charset="0"/>
                <a:cs typeface="Times New Roman" panose="02020603050405020304" pitchFamily="18" charset="0"/>
              </a:rPr>
              <a:t>Rating decrease</a:t>
            </a:r>
          </a:p>
        </p:txBody>
      </p:sp>
      <p:sp>
        <p:nvSpPr>
          <p:cNvPr id="53" name="TextBox 52">
            <a:extLst>
              <a:ext uri="{FF2B5EF4-FFF2-40B4-BE49-F238E27FC236}">
                <a16:creationId xmlns:a16="http://schemas.microsoft.com/office/drawing/2014/main" id="{CBF858D4-D326-4D80-A1DB-47AADA068E5F}"/>
              </a:ext>
            </a:extLst>
          </p:cNvPr>
          <p:cNvSpPr txBox="1"/>
          <p:nvPr/>
        </p:nvSpPr>
        <p:spPr>
          <a:xfrm>
            <a:off x="5233814" y="2087589"/>
            <a:ext cx="240036" cy="203133"/>
          </a:xfrm>
          <a:prstGeom prst="rect">
            <a:avLst/>
          </a:prstGeom>
          <a:noFill/>
        </p:spPr>
        <p:txBody>
          <a:bodyPr wrap="square" lIns="18288" tIns="9144" rIns="18288" bIns="9144" anchor="t">
            <a:spAutoFit/>
          </a:bodyPr>
          <a:lstStyle/>
          <a:p>
            <a:pPr algn="ctr"/>
            <a:r>
              <a:rPr sz="1200" b="1">
                <a:solidFill>
                  <a:srgbClr val="BE2D41"/>
                </a:solidFill>
                <a:latin typeface="Times New Roman" panose="02020603050405020304" pitchFamily="18" charset="0"/>
                <a:cs typeface="Times New Roman" panose="02020603050405020304" pitchFamily="18" charset="0"/>
              </a:rPr>
              <a:t>Δ</a:t>
            </a:r>
          </a:p>
        </p:txBody>
      </p:sp>
      <p:sp>
        <p:nvSpPr>
          <p:cNvPr id="54" name="Rounded Rectangle 20">
            <a:extLst>
              <a:ext uri="{FF2B5EF4-FFF2-40B4-BE49-F238E27FC236}">
                <a16:creationId xmlns:a16="http://schemas.microsoft.com/office/drawing/2014/main" id="{5CB1888D-F5BC-4BC5-B3FD-F2BBE7A4041A}"/>
              </a:ext>
            </a:extLst>
          </p:cNvPr>
          <p:cNvSpPr/>
          <p:nvPr/>
        </p:nvSpPr>
        <p:spPr>
          <a:xfrm>
            <a:off x="3423256" y="2567649"/>
            <a:ext cx="2263196" cy="384048"/>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55" name="TextBox 54">
            <a:extLst>
              <a:ext uri="{FF2B5EF4-FFF2-40B4-BE49-F238E27FC236}">
                <a16:creationId xmlns:a16="http://schemas.microsoft.com/office/drawing/2014/main" id="{9DE2B074-3D23-4B4C-ABF7-BC05DDDF3248}"/>
              </a:ext>
            </a:extLst>
          </p:cNvPr>
          <p:cNvSpPr txBox="1"/>
          <p:nvPr/>
        </p:nvSpPr>
        <p:spPr>
          <a:xfrm>
            <a:off x="3539845" y="2670519"/>
            <a:ext cx="1611670" cy="203133"/>
          </a:xfrm>
          <a:prstGeom prst="rect">
            <a:avLst/>
          </a:prstGeom>
          <a:noFill/>
        </p:spPr>
        <p:txBody>
          <a:bodyPr wrap="square" lIns="18288" tIns="9144" rIns="18288" bIns="9144" anchor="t">
            <a:spAutoFit/>
          </a:bodyPr>
          <a:lstStyle/>
          <a:p>
            <a:pPr algn="l"/>
            <a:r>
              <a:rPr sz="1200" b="1">
                <a:solidFill>
                  <a:srgbClr val="DD8500"/>
                </a:solidFill>
                <a:latin typeface="Times New Roman" panose="02020603050405020304" pitchFamily="18" charset="0"/>
                <a:cs typeface="Times New Roman" panose="02020603050405020304" pitchFamily="18" charset="0"/>
              </a:rPr>
              <a:t>Complaint increase</a:t>
            </a:r>
          </a:p>
        </p:txBody>
      </p:sp>
      <p:sp>
        <p:nvSpPr>
          <p:cNvPr id="56" name="TextBox 55">
            <a:extLst>
              <a:ext uri="{FF2B5EF4-FFF2-40B4-BE49-F238E27FC236}">
                <a16:creationId xmlns:a16="http://schemas.microsoft.com/office/drawing/2014/main" id="{E7B37C8A-2E3E-4A5A-BF21-041A61BD68E5}"/>
              </a:ext>
            </a:extLst>
          </p:cNvPr>
          <p:cNvSpPr txBox="1"/>
          <p:nvPr/>
        </p:nvSpPr>
        <p:spPr>
          <a:xfrm>
            <a:off x="5233814" y="2649945"/>
            <a:ext cx="240036" cy="203133"/>
          </a:xfrm>
          <a:prstGeom prst="rect">
            <a:avLst/>
          </a:prstGeom>
          <a:noFill/>
        </p:spPr>
        <p:txBody>
          <a:bodyPr wrap="square" lIns="18288" tIns="9144" rIns="18288" bIns="9144" anchor="t">
            <a:spAutoFit/>
          </a:bodyPr>
          <a:lstStyle/>
          <a:p>
            <a:pPr algn="ctr"/>
            <a:r>
              <a:rPr sz="1200" b="1">
                <a:solidFill>
                  <a:srgbClr val="DD8500"/>
                </a:solidFill>
                <a:latin typeface="Times New Roman" panose="02020603050405020304" pitchFamily="18" charset="0"/>
                <a:cs typeface="Times New Roman" panose="02020603050405020304" pitchFamily="18" charset="0"/>
              </a:rPr>
              <a:t>Δ</a:t>
            </a:r>
          </a:p>
        </p:txBody>
      </p:sp>
      <p:sp>
        <p:nvSpPr>
          <p:cNvPr id="57" name="Rounded Rectangle 23">
            <a:extLst>
              <a:ext uri="{FF2B5EF4-FFF2-40B4-BE49-F238E27FC236}">
                <a16:creationId xmlns:a16="http://schemas.microsoft.com/office/drawing/2014/main" id="{32828803-2BEE-407E-9977-C8088A52BB41}"/>
              </a:ext>
            </a:extLst>
          </p:cNvPr>
          <p:cNvSpPr/>
          <p:nvPr/>
        </p:nvSpPr>
        <p:spPr>
          <a:xfrm>
            <a:off x="3423256" y="3130005"/>
            <a:ext cx="2263196" cy="384048"/>
          </a:xfrm>
          <a:prstGeom prst="roundRect">
            <a:avLst/>
          </a:prstGeom>
          <a:solidFill>
            <a:srgbClr val="FFFFFF"/>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6CCD97A9-D413-4C5D-B2AC-EC5EC0BAF701}"/>
              </a:ext>
            </a:extLst>
          </p:cNvPr>
          <p:cNvSpPr txBox="1"/>
          <p:nvPr/>
        </p:nvSpPr>
        <p:spPr>
          <a:xfrm>
            <a:off x="3539845" y="3232875"/>
            <a:ext cx="1611670" cy="203133"/>
          </a:xfrm>
          <a:prstGeom prst="rect">
            <a:avLst/>
          </a:prstGeom>
          <a:noFill/>
        </p:spPr>
        <p:txBody>
          <a:bodyPr wrap="square" lIns="18288" tIns="9144" rIns="18288" bIns="9144" anchor="t">
            <a:spAutoFit/>
          </a:bodyPr>
          <a:lstStyle/>
          <a:p>
            <a:pPr algn="l"/>
            <a:r>
              <a:rPr sz="1200" b="1">
                <a:solidFill>
                  <a:srgbClr val="4C2270"/>
                </a:solidFill>
                <a:latin typeface="Times New Roman" panose="02020603050405020304" pitchFamily="18" charset="0"/>
                <a:cs typeface="Times New Roman" panose="02020603050405020304" pitchFamily="18" charset="0"/>
              </a:rPr>
              <a:t>High / critical increase</a:t>
            </a:r>
          </a:p>
        </p:txBody>
      </p:sp>
      <p:sp>
        <p:nvSpPr>
          <p:cNvPr id="59" name="TextBox 58">
            <a:extLst>
              <a:ext uri="{FF2B5EF4-FFF2-40B4-BE49-F238E27FC236}">
                <a16:creationId xmlns:a16="http://schemas.microsoft.com/office/drawing/2014/main" id="{B75C6E7E-3C43-4FAD-B713-A2009AC5E7AC}"/>
              </a:ext>
            </a:extLst>
          </p:cNvPr>
          <p:cNvSpPr txBox="1"/>
          <p:nvPr/>
        </p:nvSpPr>
        <p:spPr>
          <a:xfrm>
            <a:off x="5233814" y="3212301"/>
            <a:ext cx="240036" cy="203133"/>
          </a:xfrm>
          <a:prstGeom prst="rect">
            <a:avLst/>
          </a:prstGeom>
          <a:noFill/>
        </p:spPr>
        <p:txBody>
          <a:bodyPr wrap="square" lIns="18288" tIns="9144" rIns="18288" bIns="9144" anchor="t">
            <a:spAutoFit/>
          </a:bodyPr>
          <a:lstStyle/>
          <a:p>
            <a:pPr algn="ctr"/>
            <a:r>
              <a:rPr sz="1200" b="1">
                <a:solidFill>
                  <a:srgbClr val="4C2270"/>
                </a:solidFill>
                <a:latin typeface="Times New Roman" panose="02020603050405020304" pitchFamily="18" charset="0"/>
                <a:cs typeface="Times New Roman" panose="02020603050405020304" pitchFamily="18" charset="0"/>
              </a:rPr>
              <a:t>Δ</a:t>
            </a:r>
          </a:p>
        </p:txBody>
      </p:sp>
      <p:sp>
        <p:nvSpPr>
          <p:cNvPr id="60" name="Rounded Rectangle 26">
            <a:extLst>
              <a:ext uri="{FF2B5EF4-FFF2-40B4-BE49-F238E27FC236}">
                <a16:creationId xmlns:a16="http://schemas.microsoft.com/office/drawing/2014/main" id="{6C66BF80-1708-4A1D-BDAA-4D5A2C91C9D4}"/>
              </a:ext>
            </a:extLst>
          </p:cNvPr>
          <p:cNvSpPr/>
          <p:nvPr/>
        </p:nvSpPr>
        <p:spPr>
          <a:xfrm>
            <a:off x="6145950" y="1340067"/>
            <a:ext cx="2434650" cy="2368448"/>
          </a:xfrm>
          <a:prstGeom prst="roundRect">
            <a:avLst/>
          </a:prstGeom>
          <a:solidFill>
            <a:srgbClr val="003E73"/>
          </a:solidFill>
          <a:ln w="8890">
            <a:solidFill>
              <a:srgbClr val="003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61" name="Rounded Rectangle 27">
            <a:extLst>
              <a:ext uri="{FF2B5EF4-FFF2-40B4-BE49-F238E27FC236}">
                <a16:creationId xmlns:a16="http://schemas.microsoft.com/office/drawing/2014/main" id="{43BE635F-A6B9-47AC-8018-11B9EC70ED92}"/>
              </a:ext>
            </a:extLst>
          </p:cNvPr>
          <p:cNvSpPr/>
          <p:nvPr/>
        </p:nvSpPr>
        <p:spPr>
          <a:xfrm>
            <a:off x="6372270" y="1566381"/>
            <a:ext cx="743339" cy="225975"/>
          </a:xfrm>
          <a:prstGeom prst="roundRect">
            <a:avLst/>
          </a:prstGeom>
          <a:solidFill>
            <a:srgbClr val="238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62" name="TextBox 61">
            <a:extLst>
              <a:ext uri="{FF2B5EF4-FFF2-40B4-BE49-F238E27FC236}">
                <a16:creationId xmlns:a16="http://schemas.microsoft.com/office/drawing/2014/main" id="{ECF47F46-2169-4671-8830-9D6CDC23BDF7}"/>
              </a:ext>
            </a:extLst>
          </p:cNvPr>
          <p:cNvSpPr txBox="1"/>
          <p:nvPr/>
        </p:nvSpPr>
        <p:spPr>
          <a:xfrm>
            <a:off x="6392844" y="1574542"/>
            <a:ext cx="722765" cy="203133"/>
          </a:xfrm>
          <a:prstGeom prst="rect">
            <a:avLst/>
          </a:prstGeom>
          <a:noFill/>
        </p:spPr>
        <p:txBody>
          <a:bodyPr wrap="square" lIns="18288" tIns="9144" rIns="18288" bIns="9144" anchor="ctr">
            <a:spAutoFit/>
          </a:bodyPr>
          <a:lstStyle/>
          <a:p>
            <a:pPr algn="ctr"/>
            <a:r>
              <a:rPr sz="1200" b="1" dirty="0">
                <a:solidFill>
                  <a:srgbClr val="FFFFFF"/>
                </a:solidFill>
                <a:latin typeface="Times New Roman" panose="02020603050405020304" pitchFamily="18" charset="0"/>
                <a:cs typeface="Times New Roman" panose="02020603050405020304" pitchFamily="18" charset="0"/>
              </a:rPr>
              <a:t>OUTPUT</a:t>
            </a:r>
          </a:p>
        </p:txBody>
      </p:sp>
      <p:sp>
        <p:nvSpPr>
          <p:cNvPr id="63" name="TextBox 62">
            <a:extLst>
              <a:ext uri="{FF2B5EF4-FFF2-40B4-BE49-F238E27FC236}">
                <a16:creationId xmlns:a16="http://schemas.microsoft.com/office/drawing/2014/main" id="{F5FE9763-7EFF-42D7-BFA6-EF45F58D7703}"/>
              </a:ext>
            </a:extLst>
          </p:cNvPr>
          <p:cNvSpPr txBox="1"/>
          <p:nvPr/>
        </p:nvSpPr>
        <p:spPr>
          <a:xfrm>
            <a:off x="6372270" y="2025866"/>
            <a:ext cx="1988869" cy="387798"/>
          </a:xfrm>
          <a:prstGeom prst="rect">
            <a:avLst/>
          </a:prstGeom>
          <a:noFill/>
        </p:spPr>
        <p:txBody>
          <a:bodyPr wrap="square" lIns="18288" tIns="9144" rIns="18288" bIns="9144" anchor="t">
            <a:spAutoFit/>
          </a:bodyPr>
          <a:lstStyle/>
          <a:p>
            <a:pPr algn="ctr"/>
            <a:r>
              <a:rPr sz="1200" b="1">
                <a:solidFill>
                  <a:srgbClr val="FFFFFF"/>
                </a:solidFill>
                <a:latin typeface="Times New Roman" panose="02020603050405020304" pitchFamily="18" charset="0"/>
                <a:cs typeface="Times New Roman" panose="02020603050405020304" pitchFamily="18" charset="0"/>
              </a:rPr>
              <a:t>Route requires</a:t>
            </a:r>
            <a:br>
              <a:rPr sz="1200">
                <a:latin typeface="Times New Roman" panose="02020603050405020304" pitchFamily="18" charset="0"/>
                <a:cs typeface="Times New Roman" panose="02020603050405020304" pitchFamily="18" charset="0"/>
              </a:rPr>
            </a:br>
            <a:r>
              <a:rPr sz="1200" b="1">
                <a:solidFill>
                  <a:srgbClr val="FFFFFF"/>
                </a:solidFill>
                <a:latin typeface="Times New Roman" panose="02020603050405020304" pitchFamily="18" charset="0"/>
                <a:cs typeface="Times New Roman" panose="02020603050405020304" pitchFamily="18" charset="0"/>
              </a:rPr>
              <a:t>attention</a:t>
            </a:r>
          </a:p>
        </p:txBody>
      </p:sp>
      <p:sp>
        <p:nvSpPr>
          <p:cNvPr id="64" name="TextBox 63">
            <a:extLst>
              <a:ext uri="{FF2B5EF4-FFF2-40B4-BE49-F238E27FC236}">
                <a16:creationId xmlns:a16="http://schemas.microsoft.com/office/drawing/2014/main" id="{11320E94-5FF7-4347-8E80-5BFAB44B6D6A}"/>
              </a:ext>
            </a:extLst>
          </p:cNvPr>
          <p:cNvSpPr txBox="1"/>
          <p:nvPr/>
        </p:nvSpPr>
        <p:spPr>
          <a:xfrm>
            <a:off x="6372270" y="2780247"/>
            <a:ext cx="1988869" cy="572464"/>
          </a:xfrm>
          <a:prstGeom prst="rect">
            <a:avLst/>
          </a:prstGeom>
          <a:noFill/>
        </p:spPr>
        <p:txBody>
          <a:bodyPr wrap="square" lIns="18288" tIns="9144" rIns="18288" bIns="9144" anchor="t">
            <a:spAutoFit/>
          </a:bodyPr>
          <a:lstStyle/>
          <a:p>
            <a:pPr algn="ctr"/>
            <a:r>
              <a:rPr sz="1200" b="0">
                <a:solidFill>
                  <a:srgbClr val="DCE8F2"/>
                </a:solidFill>
                <a:latin typeface="Times New Roman" panose="02020603050405020304" pitchFamily="18" charset="0"/>
                <a:cs typeface="Times New Roman" panose="02020603050405020304" pitchFamily="18" charset="0"/>
              </a:rPr>
              <a:t>The finding is surfaced in the admin intelligence view for further operational review.</a:t>
            </a:r>
          </a:p>
        </p:txBody>
      </p:sp>
      <p:sp>
        <p:nvSpPr>
          <p:cNvPr id="65" name="Rounded Rectangle 34">
            <a:extLst>
              <a:ext uri="{FF2B5EF4-FFF2-40B4-BE49-F238E27FC236}">
                <a16:creationId xmlns:a16="http://schemas.microsoft.com/office/drawing/2014/main" id="{D8FC7837-8543-4F94-9FE2-0CC74C157899}"/>
              </a:ext>
            </a:extLst>
          </p:cNvPr>
          <p:cNvSpPr/>
          <p:nvPr/>
        </p:nvSpPr>
        <p:spPr>
          <a:xfrm>
            <a:off x="1169271" y="3868262"/>
            <a:ext cx="7144568" cy="711219"/>
          </a:xfrm>
          <a:prstGeom prst="roundRect">
            <a:avLst/>
          </a:prstGeom>
          <a:solidFill>
            <a:srgbClr val="F6F8FA"/>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66" name="TextBox 65">
            <a:extLst>
              <a:ext uri="{FF2B5EF4-FFF2-40B4-BE49-F238E27FC236}">
                <a16:creationId xmlns:a16="http://schemas.microsoft.com/office/drawing/2014/main" id="{85A9FA7A-33E6-42A1-BE49-184216BEC7B2}"/>
              </a:ext>
            </a:extLst>
          </p:cNvPr>
          <p:cNvSpPr txBox="1"/>
          <p:nvPr/>
        </p:nvSpPr>
        <p:spPr>
          <a:xfrm>
            <a:off x="1375015" y="3911279"/>
            <a:ext cx="1303567" cy="203133"/>
          </a:xfrm>
          <a:prstGeom prst="rect">
            <a:avLst/>
          </a:prstGeom>
          <a:noFill/>
        </p:spPr>
        <p:txBody>
          <a:bodyPr wrap="square" lIns="18288" tIns="9144" rIns="18288" bIns="9144" anchor="t">
            <a:spAutoFit/>
          </a:bodyPr>
          <a:lstStyle/>
          <a:p>
            <a:pPr algn="l"/>
            <a:r>
              <a:rPr lang="en-IN" sz="1200" b="1" dirty="0">
                <a:solidFill>
                  <a:srgbClr val="003E73"/>
                </a:solidFill>
                <a:latin typeface="Times New Roman" panose="02020603050405020304" pitchFamily="18" charset="0"/>
                <a:cs typeface="Times New Roman" panose="02020603050405020304" pitchFamily="18" charset="0"/>
              </a:rPr>
              <a:t>Time</a:t>
            </a:r>
            <a:r>
              <a:rPr sz="1200" b="1" dirty="0">
                <a:solidFill>
                  <a:srgbClr val="003E73"/>
                </a:solidFill>
                <a:latin typeface="Times New Roman" panose="02020603050405020304" pitchFamily="18" charset="0"/>
                <a:cs typeface="Times New Roman" panose="02020603050405020304" pitchFamily="18" charset="0"/>
              </a:rPr>
              <a:t> </a:t>
            </a:r>
            <a:r>
              <a:rPr lang="en-IN" sz="1200" b="1" dirty="0">
                <a:solidFill>
                  <a:srgbClr val="003E73"/>
                </a:solidFill>
                <a:latin typeface="Times New Roman" panose="02020603050405020304" pitchFamily="18" charset="0"/>
                <a:cs typeface="Times New Roman" panose="02020603050405020304" pitchFamily="18" charset="0"/>
              </a:rPr>
              <a:t>context</a:t>
            </a:r>
            <a:endParaRPr sz="1200" b="1" dirty="0">
              <a:solidFill>
                <a:srgbClr val="003E73"/>
              </a:solidFill>
              <a:latin typeface="Times New Roman" panose="02020603050405020304" pitchFamily="18" charset="0"/>
              <a:cs typeface="Times New Roman" panose="02020603050405020304" pitchFamily="18" charset="0"/>
            </a:endParaRPr>
          </a:p>
        </p:txBody>
      </p:sp>
      <p:sp>
        <p:nvSpPr>
          <p:cNvPr id="67" name="Rounded Rectangle 36">
            <a:extLst>
              <a:ext uri="{FF2B5EF4-FFF2-40B4-BE49-F238E27FC236}">
                <a16:creationId xmlns:a16="http://schemas.microsoft.com/office/drawing/2014/main" id="{6B577D07-F3FD-40BA-8987-C71A06E67283}"/>
              </a:ext>
            </a:extLst>
          </p:cNvPr>
          <p:cNvSpPr/>
          <p:nvPr/>
        </p:nvSpPr>
        <p:spPr>
          <a:xfrm>
            <a:off x="1375015" y="4241322"/>
            <a:ext cx="954632" cy="233172"/>
          </a:xfrm>
          <a:prstGeom prst="roundRect">
            <a:avLst/>
          </a:prstGeom>
          <a:solidFill>
            <a:srgbClr val="008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68" name="TextBox 67">
            <a:extLst>
              <a:ext uri="{FF2B5EF4-FFF2-40B4-BE49-F238E27FC236}">
                <a16:creationId xmlns:a16="http://schemas.microsoft.com/office/drawing/2014/main" id="{1A427FC6-5F5C-45AE-BFAB-1CF07D623D58}"/>
              </a:ext>
            </a:extLst>
          </p:cNvPr>
          <p:cNvSpPr txBox="1"/>
          <p:nvPr/>
        </p:nvSpPr>
        <p:spPr>
          <a:xfrm>
            <a:off x="1395591" y="4249483"/>
            <a:ext cx="915130" cy="203133"/>
          </a:xfrm>
          <a:prstGeom prst="rect">
            <a:avLst/>
          </a:prstGeom>
          <a:noFill/>
        </p:spPr>
        <p:txBody>
          <a:bodyPr wrap="square" lIns="18288" tIns="9144" rIns="18288" bIns="9144" anchor="ctr">
            <a:spAutoFit/>
          </a:bodyPr>
          <a:lstStyle/>
          <a:p>
            <a:pPr algn="ctr"/>
            <a:r>
              <a:rPr sz="1200" b="1" dirty="0">
                <a:solidFill>
                  <a:srgbClr val="FFFFFF"/>
                </a:solidFill>
                <a:latin typeface="Times New Roman" panose="02020603050405020304" pitchFamily="18" charset="0"/>
                <a:cs typeface="Times New Roman" panose="02020603050405020304" pitchFamily="18" charset="0"/>
              </a:rPr>
              <a:t>6–9 AM</a:t>
            </a:r>
          </a:p>
        </p:txBody>
      </p:sp>
      <p:sp>
        <p:nvSpPr>
          <p:cNvPr id="69" name="Rounded Rectangle 38">
            <a:extLst>
              <a:ext uri="{FF2B5EF4-FFF2-40B4-BE49-F238E27FC236}">
                <a16:creationId xmlns:a16="http://schemas.microsoft.com/office/drawing/2014/main" id="{C90E5402-9C68-46EB-B5B0-C722D25E7727}"/>
              </a:ext>
            </a:extLst>
          </p:cNvPr>
          <p:cNvSpPr/>
          <p:nvPr/>
        </p:nvSpPr>
        <p:spPr>
          <a:xfrm>
            <a:off x="2540905" y="4241322"/>
            <a:ext cx="954632" cy="233172"/>
          </a:xfrm>
          <a:prstGeom prst="roundRect">
            <a:avLst/>
          </a:prstGeom>
          <a:solidFill>
            <a:srgbClr val="008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70" name="TextBox 69">
            <a:extLst>
              <a:ext uri="{FF2B5EF4-FFF2-40B4-BE49-F238E27FC236}">
                <a16:creationId xmlns:a16="http://schemas.microsoft.com/office/drawing/2014/main" id="{379798C7-30CC-425F-A743-ED211BF2D419}"/>
              </a:ext>
            </a:extLst>
          </p:cNvPr>
          <p:cNvSpPr txBox="1"/>
          <p:nvPr/>
        </p:nvSpPr>
        <p:spPr>
          <a:xfrm>
            <a:off x="2561479" y="4249483"/>
            <a:ext cx="915130" cy="203133"/>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9 AM–12 PM</a:t>
            </a:r>
          </a:p>
        </p:txBody>
      </p:sp>
      <p:sp>
        <p:nvSpPr>
          <p:cNvPr id="71" name="Rounded Rectangle 40">
            <a:extLst>
              <a:ext uri="{FF2B5EF4-FFF2-40B4-BE49-F238E27FC236}">
                <a16:creationId xmlns:a16="http://schemas.microsoft.com/office/drawing/2014/main" id="{BC06D4D9-B9CE-4E7A-B919-23E993477DFB}"/>
              </a:ext>
            </a:extLst>
          </p:cNvPr>
          <p:cNvSpPr/>
          <p:nvPr/>
        </p:nvSpPr>
        <p:spPr>
          <a:xfrm>
            <a:off x="3706794" y="4241322"/>
            <a:ext cx="954632" cy="233172"/>
          </a:xfrm>
          <a:prstGeom prst="roundRect">
            <a:avLst/>
          </a:prstGeom>
          <a:solidFill>
            <a:srgbClr val="008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72" name="TextBox 71">
            <a:extLst>
              <a:ext uri="{FF2B5EF4-FFF2-40B4-BE49-F238E27FC236}">
                <a16:creationId xmlns:a16="http://schemas.microsoft.com/office/drawing/2014/main" id="{16E62510-EB78-48A3-9943-9740D17F7BD4}"/>
              </a:ext>
            </a:extLst>
          </p:cNvPr>
          <p:cNvSpPr txBox="1"/>
          <p:nvPr/>
        </p:nvSpPr>
        <p:spPr>
          <a:xfrm>
            <a:off x="3727368" y="4249483"/>
            <a:ext cx="915130" cy="203133"/>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12–3 PM</a:t>
            </a:r>
          </a:p>
        </p:txBody>
      </p:sp>
      <p:sp>
        <p:nvSpPr>
          <p:cNvPr id="73" name="Rounded Rectangle 42">
            <a:extLst>
              <a:ext uri="{FF2B5EF4-FFF2-40B4-BE49-F238E27FC236}">
                <a16:creationId xmlns:a16="http://schemas.microsoft.com/office/drawing/2014/main" id="{8476B10D-BEBB-4093-932B-44535234E87F}"/>
              </a:ext>
            </a:extLst>
          </p:cNvPr>
          <p:cNvSpPr/>
          <p:nvPr/>
        </p:nvSpPr>
        <p:spPr>
          <a:xfrm>
            <a:off x="4839304" y="4235319"/>
            <a:ext cx="954632" cy="233172"/>
          </a:xfrm>
          <a:prstGeom prst="roundRect">
            <a:avLst/>
          </a:prstGeom>
          <a:solidFill>
            <a:srgbClr val="008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54FD39E0-7430-47E1-9530-9EB655006346}"/>
              </a:ext>
            </a:extLst>
          </p:cNvPr>
          <p:cNvSpPr txBox="1"/>
          <p:nvPr/>
        </p:nvSpPr>
        <p:spPr>
          <a:xfrm>
            <a:off x="4859880" y="4243481"/>
            <a:ext cx="915130" cy="203133"/>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3–5 PM</a:t>
            </a:r>
          </a:p>
        </p:txBody>
      </p:sp>
      <p:sp>
        <p:nvSpPr>
          <p:cNvPr id="75" name="Rounded Rectangle 44">
            <a:extLst>
              <a:ext uri="{FF2B5EF4-FFF2-40B4-BE49-F238E27FC236}">
                <a16:creationId xmlns:a16="http://schemas.microsoft.com/office/drawing/2014/main" id="{8CAF711C-00F7-4B9D-A9C2-8895A24FA10E}"/>
              </a:ext>
            </a:extLst>
          </p:cNvPr>
          <p:cNvSpPr/>
          <p:nvPr/>
        </p:nvSpPr>
        <p:spPr>
          <a:xfrm>
            <a:off x="6005194" y="4235319"/>
            <a:ext cx="954632" cy="233172"/>
          </a:xfrm>
          <a:prstGeom prst="roundRect">
            <a:avLst/>
          </a:prstGeom>
          <a:solidFill>
            <a:srgbClr val="B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76" name="TextBox 75">
            <a:extLst>
              <a:ext uri="{FF2B5EF4-FFF2-40B4-BE49-F238E27FC236}">
                <a16:creationId xmlns:a16="http://schemas.microsoft.com/office/drawing/2014/main" id="{5A3C04FD-4AED-4812-BE10-C9A14F562F45}"/>
              </a:ext>
            </a:extLst>
          </p:cNvPr>
          <p:cNvSpPr txBox="1"/>
          <p:nvPr/>
        </p:nvSpPr>
        <p:spPr>
          <a:xfrm>
            <a:off x="6025768" y="4243481"/>
            <a:ext cx="915130" cy="203133"/>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5–7 PM</a:t>
            </a:r>
          </a:p>
        </p:txBody>
      </p:sp>
      <p:sp>
        <p:nvSpPr>
          <p:cNvPr id="77" name="Rounded Rectangle 46">
            <a:extLst>
              <a:ext uri="{FF2B5EF4-FFF2-40B4-BE49-F238E27FC236}">
                <a16:creationId xmlns:a16="http://schemas.microsoft.com/office/drawing/2014/main" id="{5DEB25D9-5C22-43B6-8AA7-2B1F00C5D093}"/>
              </a:ext>
            </a:extLst>
          </p:cNvPr>
          <p:cNvSpPr/>
          <p:nvPr/>
        </p:nvSpPr>
        <p:spPr>
          <a:xfrm>
            <a:off x="7171083" y="4235319"/>
            <a:ext cx="954632" cy="233172"/>
          </a:xfrm>
          <a:prstGeom prst="roundRect">
            <a:avLst/>
          </a:prstGeom>
          <a:solidFill>
            <a:srgbClr val="008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78" name="TextBox 77">
            <a:extLst>
              <a:ext uri="{FF2B5EF4-FFF2-40B4-BE49-F238E27FC236}">
                <a16:creationId xmlns:a16="http://schemas.microsoft.com/office/drawing/2014/main" id="{1320B69C-3B20-441E-BBCF-A660DF147D4C}"/>
              </a:ext>
            </a:extLst>
          </p:cNvPr>
          <p:cNvSpPr txBox="1"/>
          <p:nvPr/>
        </p:nvSpPr>
        <p:spPr>
          <a:xfrm>
            <a:off x="7191657" y="4243481"/>
            <a:ext cx="915130" cy="203133"/>
          </a:xfrm>
          <a:prstGeom prst="rect">
            <a:avLst/>
          </a:prstGeom>
          <a:noFill/>
        </p:spPr>
        <p:txBody>
          <a:bodyPr wrap="square" lIns="18288" tIns="9144" rIns="18288" bIns="9144" anchor="ctr">
            <a:spAutoFit/>
          </a:bodyPr>
          <a:lstStyle/>
          <a:p>
            <a:pPr algn="ctr"/>
            <a:r>
              <a:rPr sz="1200" b="1">
                <a:solidFill>
                  <a:srgbClr val="FFFFFF"/>
                </a:solidFill>
                <a:latin typeface="Times New Roman" panose="02020603050405020304" pitchFamily="18" charset="0"/>
                <a:cs typeface="Times New Roman" panose="02020603050405020304" pitchFamily="18" charset="0"/>
              </a:rPr>
              <a:t>7–10 PM</a:t>
            </a:r>
          </a:p>
        </p:txBody>
      </p:sp>
    </p:spTree>
    <p:extLst>
      <p:ext uri="{BB962C8B-B14F-4D97-AF65-F5344CB8AC3E}">
        <p14:creationId xmlns:p14="http://schemas.microsoft.com/office/powerpoint/2010/main" val="112507891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942643-4B4B-3AF4-2F08-E12BA79BC8F5}"/>
              </a:ext>
            </a:extLst>
          </p:cNvPr>
          <p:cNvSpPr>
            <a:spLocks noGrp="1"/>
          </p:cNvSpPr>
          <p:nvPr>
            <p:ph type="sldNum" sz="quarter" idx="4"/>
          </p:nvPr>
        </p:nvSpPr>
        <p:spPr>
          <a:xfrm>
            <a:off x="8629650" y="4817444"/>
            <a:ext cx="514350" cy="326056"/>
          </a:xfrm>
        </p:spPr>
        <p:txBody>
          <a:bodyPr/>
          <a:lstStyle/>
          <a:p>
            <a:fld id="{4B327F5A-7D8F-4012-9A1A-2197D74A174F}" type="slidenum">
              <a:rPr lang="en-IN" smtClean="0"/>
              <a:pPr/>
              <a:t>13</a:t>
            </a:fld>
            <a:endParaRPr lang="en-IN" dirty="0"/>
          </a:p>
        </p:txBody>
      </p:sp>
      <p:sp>
        <p:nvSpPr>
          <p:cNvPr id="10" name="TextBox 9">
            <a:extLst>
              <a:ext uri="{FF2B5EF4-FFF2-40B4-BE49-F238E27FC236}">
                <a16:creationId xmlns:a16="http://schemas.microsoft.com/office/drawing/2014/main" id="{D28E8CE0-38BB-43A5-B4EE-22EBF2325B7C}"/>
              </a:ext>
            </a:extLst>
          </p:cNvPr>
          <p:cNvSpPr txBox="1"/>
          <p:nvPr/>
        </p:nvSpPr>
        <p:spPr bwMode="auto">
          <a:xfrm>
            <a:off x="182078" y="4835723"/>
            <a:ext cx="8595233" cy="307777"/>
          </a:xfrm>
          <a:prstGeom prst="rect">
            <a:avLst/>
          </a:prstGeom>
          <a:noFill/>
          <a:ln w="19050" algn="ctr">
            <a:noFill/>
            <a:miter lim="800000"/>
            <a:headEnd/>
            <a:tailEnd/>
          </a:ln>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	Veritas AI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DPA Hackathon 2026		</a:t>
            </a:r>
            <a:r>
              <a:rPr lang="en-US" sz="1400" b="1" dirty="0">
                <a:solidFill>
                  <a:srgbClr val="FFFFFF"/>
                </a:solidFill>
                <a:latin typeface="Times New Roman" panose="02020603050405020304" pitchFamily="18" charset="0"/>
                <a:cs typeface="Times New Roman" panose="02020603050405020304" pitchFamily="18" charset="0"/>
              </a:rPr>
              <a:t>| 	</a:t>
            </a:r>
            <a:r>
              <a:rPr lang="en-US" sz="1400" dirty="0">
                <a:solidFill>
                  <a:srgbClr val="FFFFFF"/>
                </a:solidFill>
                <a:latin typeface="Times New Roman" panose="02020603050405020304" pitchFamily="18" charset="0"/>
                <a:cs typeface="Times New Roman" panose="02020603050405020304" pitchFamily="18" charset="0"/>
              </a:rPr>
              <a:t>IARE</a:t>
            </a:r>
          </a:p>
        </p:txBody>
      </p:sp>
      <p:pic>
        <p:nvPicPr>
          <p:cNvPr id="7" name="Picture 6">
            <a:extLst>
              <a:ext uri="{FF2B5EF4-FFF2-40B4-BE49-F238E27FC236}">
                <a16:creationId xmlns:a16="http://schemas.microsoft.com/office/drawing/2014/main" id="{663E3B90-F832-4B7C-A832-B10A9043AD70}"/>
              </a:ext>
            </a:extLst>
          </p:cNvPr>
          <p:cNvPicPr>
            <a:picLocks noChangeAspect="1"/>
          </p:cNvPicPr>
          <p:nvPr/>
        </p:nvPicPr>
        <p:blipFill rotWithShape="1">
          <a:blip r:embed="rId3"/>
          <a:srcRect l="-1949" t="31547" r="1949" b="31097"/>
          <a:stretch/>
        </p:blipFill>
        <p:spPr>
          <a:xfrm>
            <a:off x="6384941" y="144570"/>
            <a:ext cx="1905000" cy="711627"/>
          </a:xfrm>
          <a:prstGeom prst="rect">
            <a:avLst/>
          </a:prstGeom>
        </p:spPr>
      </p:pic>
      <p:sp>
        <p:nvSpPr>
          <p:cNvPr id="79" name="object 2">
            <a:extLst>
              <a:ext uri="{FF2B5EF4-FFF2-40B4-BE49-F238E27FC236}">
                <a16:creationId xmlns:a16="http://schemas.microsoft.com/office/drawing/2014/main" id="{7C5047CD-4FC6-4BDA-BE9C-4D458C8C4274}"/>
              </a:ext>
            </a:extLst>
          </p:cNvPr>
          <p:cNvSpPr txBox="1">
            <a:spLocks/>
          </p:cNvSpPr>
          <p:nvPr/>
        </p:nvSpPr>
        <p:spPr>
          <a:xfrm>
            <a:off x="66039" y="188849"/>
            <a:ext cx="7432040" cy="534120"/>
          </a:xfrm>
          <a:prstGeom prst="rect">
            <a:avLst/>
          </a:prstGeom>
        </p:spPr>
        <p:txBody>
          <a:bodyPr vert="horz" wrap="square" lIns="0" tIns="71754" rIns="0" bIns="0" rtlCol="0" anchor="t">
            <a:spAutoFit/>
          </a:bodyPr>
          <a:lst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a:lstStyle>
          <a:p>
            <a:pPr marL="45085">
              <a:lnSpc>
                <a:spcPct val="100000"/>
              </a:lnSpc>
              <a:spcBef>
                <a:spcPts val="105"/>
              </a:spcBef>
            </a:pPr>
            <a:r>
              <a:rPr lang="en-IN" spc="-30" dirty="0">
                <a:latin typeface="Times New Roman" panose="02020603050405020304" pitchFamily="18" charset="0"/>
                <a:cs typeface="Times New Roman" panose="02020603050405020304" pitchFamily="18" charset="0"/>
              </a:rPr>
              <a:t>Impact &amp; Future Scope</a:t>
            </a:r>
          </a:p>
        </p:txBody>
      </p:sp>
      <p:sp>
        <p:nvSpPr>
          <p:cNvPr id="80" name="Rounded Rectangle 6">
            <a:extLst>
              <a:ext uri="{FF2B5EF4-FFF2-40B4-BE49-F238E27FC236}">
                <a16:creationId xmlns:a16="http://schemas.microsoft.com/office/drawing/2014/main" id="{E3AAA194-9BAD-4443-8600-DF4298BBB4D7}"/>
              </a:ext>
            </a:extLst>
          </p:cNvPr>
          <p:cNvSpPr/>
          <p:nvPr/>
        </p:nvSpPr>
        <p:spPr>
          <a:xfrm>
            <a:off x="182078" y="1313580"/>
            <a:ext cx="3909157" cy="2659650"/>
          </a:xfrm>
          <a:prstGeom prst="roundRect">
            <a:avLst/>
          </a:prstGeom>
          <a:solidFill>
            <a:srgbClr val="F2F5F8"/>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81" name="Rounded Rectangle 7">
            <a:extLst>
              <a:ext uri="{FF2B5EF4-FFF2-40B4-BE49-F238E27FC236}">
                <a16:creationId xmlns:a16="http://schemas.microsoft.com/office/drawing/2014/main" id="{8E35D90E-0A39-43E6-AAA3-49E8C7E03E0F}"/>
              </a:ext>
            </a:extLst>
          </p:cNvPr>
          <p:cNvSpPr/>
          <p:nvPr/>
        </p:nvSpPr>
        <p:spPr>
          <a:xfrm>
            <a:off x="387822" y="1436640"/>
            <a:ext cx="2216129" cy="269777"/>
          </a:xfrm>
          <a:prstGeom prst="roundRect">
            <a:avLst/>
          </a:prstGeom>
          <a:solidFill>
            <a:srgbClr val="0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82" name="TextBox 81">
            <a:extLst>
              <a:ext uri="{FF2B5EF4-FFF2-40B4-BE49-F238E27FC236}">
                <a16:creationId xmlns:a16="http://schemas.microsoft.com/office/drawing/2014/main" id="{71F053D0-E977-4FC6-BA85-308C04C4CD17}"/>
              </a:ext>
            </a:extLst>
          </p:cNvPr>
          <p:cNvSpPr txBox="1"/>
          <p:nvPr/>
        </p:nvSpPr>
        <p:spPr>
          <a:xfrm>
            <a:off x="471745" y="1456102"/>
            <a:ext cx="2116646" cy="203133"/>
          </a:xfrm>
          <a:prstGeom prst="rect">
            <a:avLst/>
          </a:prstGeom>
          <a:noFill/>
        </p:spPr>
        <p:txBody>
          <a:bodyPr wrap="square" lIns="18288" tIns="9144" rIns="18288" bIns="9144" anchor="ctr">
            <a:spAutoFit/>
          </a:bodyPr>
          <a:lstStyle/>
          <a:p>
            <a:pPr algn="ctr"/>
            <a:r>
              <a:rPr sz="1200" b="1" dirty="0">
                <a:solidFill>
                  <a:srgbClr val="FFFFFF"/>
                </a:solidFill>
                <a:latin typeface="Times New Roman" panose="02020603050405020304" pitchFamily="18" charset="0"/>
                <a:cs typeface="Times New Roman" panose="02020603050405020304" pitchFamily="18" charset="0"/>
              </a:rPr>
              <a:t>WHAT IS DEMONSTRATED</a:t>
            </a:r>
          </a:p>
        </p:txBody>
      </p:sp>
      <p:sp>
        <p:nvSpPr>
          <p:cNvPr id="83" name="TextBox 82">
            <a:extLst>
              <a:ext uri="{FF2B5EF4-FFF2-40B4-BE49-F238E27FC236}">
                <a16:creationId xmlns:a16="http://schemas.microsoft.com/office/drawing/2014/main" id="{4F75ABD4-4C67-40F1-B3F3-F30DED784A9B}"/>
              </a:ext>
            </a:extLst>
          </p:cNvPr>
          <p:cNvSpPr txBox="1"/>
          <p:nvPr/>
        </p:nvSpPr>
        <p:spPr>
          <a:xfrm>
            <a:off x="408397" y="1848121"/>
            <a:ext cx="1211529" cy="203133"/>
          </a:xfrm>
          <a:prstGeom prst="rect">
            <a:avLst/>
          </a:prstGeom>
          <a:noFill/>
        </p:spPr>
        <p:txBody>
          <a:bodyPr wrap="square" lIns="18288" tIns="9144" rIns="18288" bIns="9144" anchor="t">
            <a:spAutoFit/>
          </a:bodyPr>
          <a:lstStyle/>
          <a:p>
            <a:pPr algn="l"/>
            <a:r>
              <a:rPr sz="1200" b="1" dirty="0">
                <a:solidFill>
                  <a:srgbClr val="003E73"/>
                </a:solidFill>
                <a:latin typeface="Times New Roman" panose="02020603050405020304" pitchFamily="18" charset="0"/>
                <a:cs typeface="Times New Roman" panose="02020603050405020304" pitchFamily="18" charset="0"/>
              </a:rPr>
              <a:t>Unified feedback</a:t>
            </a:r>
          </a:p>
        </p:txBody>
      </p:sp>
      <p:sp>
        <p:nvSpPr>
          <p:cNvPr id="84" name="TextBox 83">
            <a:extLst>
              <a:ext uri="{FF2B5EF4-FFF2-40B4-BE49-F238E27FC236}">
                <a16:creationId xmlns:a16="http://schemas.microsoft.com/office/drawing/2014/main" id="{2C14510D-DD78-4E07-AA8F-343AC22DBB69}"/>
              </a:ext>
            </a:extLst>
          </p:cNvPr>
          <p:cNvSpPr txBox="1"/>
          <p:nvPr/>
        </p:nvSpPr>
        <p:spPr>
          <a:xfrm>
            <a:off x="1742312" y="1848121"/>
            <a:ext cx="2160324" cy="203133"/>
          </a:xfrm>
          <a:prstGeom prst="rect">
            <a:avLst/>
          </a:prstGeom>
          <a:noFill/>
        </p:spPr>
        <p:txBody>
          <a:bodyPr wrap="square" lIns="18288" tIns="9144" rIns="18288" bIns="9144" anchor="t">
            <a:spAutoFit/>
          </a:bodyPr>
          <a:lstStyle/>
          <a:p>
            <a:pPr algn="l"/>
            <a:r>
              <a:rPr sz="1200" b="0" dirty="0">
                <a:solidFill>
                  <a:srgbClr val="1E2834"/>
                </a:solidFill>
                <a:latin typeface="Times New Roman" panose="02020603050405020304" pitchFamily="18" charset="0"/>
                <a:cs typeface="Times New Roman" panose="02020603050405020304" pitchFamily="18" charset="0"/>
              </a:rPr>
              <a:t>Structured ratings + comments</a:t>
            </a:r>
          </a:p>
        </p:txBody>
      </p:sp>
      <p:sp>
        <p:nvSpPr>
          <p:cNvPr id="85" name="TextBox 84">
            <a:extLst>
              <a:ext uri="{FF2B5EF4-FFF2-40B4-BE49-F238E27FC236}">
                <a16:creationId xmlns:a16="http://schemas.microsoft.com/office/drawing/2014/main" id="{50F450BD-631D-489C-BBA9-575EA72BF034}"/>
              </a:ext>
            </a:extLst>
          </p:cNvPr>
          <p:cNvSpPr txBox="1"/>
          <p:nvPr/>
        </p:nvSpPr>
        <p:spPr>
          <a:xfrm>
            <a:off x="408398" y="2245885"/>
            <a:ext cx="1211528" cy="203133"/>
          </a:xfrm>
          <a:prstGeom prst="rect">
            <a:avLst/>
          </a:prstGeom>
          <a:noFill/>
        </p:spPr>
        <p:txBody>
          <a:bodyPr wrap="square" lIns="18288" tIns="9144" rIns="18288" bIns="9144" anchor="t">
            <a:spAutoFit/>
          </a:bodyPr>
          <a:lstStyle/>
          <a:p>
            <a:pPr algn="l"/>
            <a:r>
              <a:rPr sz="1200" b="1" dirty="0">
                <a:solidFill>
                  <a:srgbClr val="003E73"/>
                </a:solidFill>
                <a:latin typeface="Times New Roman" panose="02020603050405020304" pitchFamily="18" charset="0"/>
                <a:cs typeface="Times New Roman" panose="02020603050405020304" pitchFamily="18" charset="0"/>
              </a:rPr>
              <a:t>Working backend</a:t>
            </a:r>
          </a:p>
        </p:txBody>
      </p:sp>
      <p:sp>
        <p:nvSpPr>
          <p:cNvPr id="86" name="TextBox 85">
            <a:extLst>
              <a:ext uri="{FF2B5EF4-FFF2-40B4-BE49-F238E27FC236}">
                <a16:creationId xmlns:a16="http://schemas.microsoft.com/office/drawing/2014/main" id="{9DF98285-7B35-472F-B211-6940C5CF636D}"/>
              </a:ext>
            </a:extLst>
          </p:cNvPr>
          <p:cNvSpPr txBox="1"/>
          <p:nvPr/>
        </p:nvSpPr>
        <p:spPr>
          <a:xfrm>
            <a:off x="1737671" y="2251629"/>
            <a:ext cx="2160324" cy="203133"/>
          </a:xfrm>
          <a:prstGeom prst="rect">
            <a:avLst/>
          </a:prstGeom>
          <a:noFill/>
        </p:spPr>
        <p:txBody>
          <a:bodyPr wrap="square" lIns="18288" tIns="9144" rIns="18288" bIns="9144" anchor="t">
            <a:spAutoFit/>
          </a:bodyPr>
          <a:lstStyle/>
          <a:p>
            <a:pPr algn="l"/>
            <a:r>
              <a:rPr sz="1200" b="0" dirty="0" err="1">
                <a:solidFill>
                  <a:srgbClr val="1E2834"/>
                </a:solidFill>
                <a:latin typeface="Times New Roman" panose="02020603050405020304" pitchFamily="18" charset="0"/>
                <a:cs typeface="Times New Roman" panose="02020603050405020304" pitchFamily="18" charset="0"/>
              </a:rPr>
              <a:t>FastAPI</a:t>
            </a:r>
            <a:r>
              <a:rPr sz="1200" b="0" dirty="0">
                <a:solidFill>
                  <a:srgbClr val="1E2834"/>
                </a:solidFill>
                <a:latin typeface="Times New Roman" panose="02020603050405020304" pitchFamily="18" charset="0"/>
                <a:cs typeface="Times New Roman" panose="02020603050405020304" pitchFamily="18" charset="0"/>
              </a:rPr>
              <a:t> + validation + persistence</a:t>
            </a:r>
          </a:p>
        </p:txBody>
      </p:sp>
      <p:sp>
        <p:nvSpPr>
          <p:cNvPr id="87" name="TextBox 86">
            <a:extLst>
              <a:ext uri="{FF2B5EF4-FFF2-40B4-BE49-F238E27FC236}">
                <a16:creationId xmlns:a16="http://schemas.microsoft.com/office/drawing/2014/main" id="{7BAA0EDF-2D08-4875-97C6-1832F8230A02}"/>
              </a:ext>
            </a:extLst>
          </p:cNvPr>
          <p:cNvSpPr txBox="1"/>
          <p:nvPr/>
        </p:nvSpPr>
        <p:spPr>
          <a:xfrm>
            <a:off x="408397" y="2643649"/>
            <a:ext cx="1281153" cy="203133"/>
          </a:xfrm>
          <a:prstGeom prst="rect">
            <a:avLst/>
          </a:prstGeom>
          <a:noFill/>
        </p:spPr>
        <p:txBody>
          <a:bodyPr wrap="square" lIns="18288" tIns="9144" rIns="18288" bIns="9144" anchor="t">
            <a:spAutoFit/>
          </a:bodyPr>
          <a:lstStyle/>
          <a:p>
            <a:pPr algn="l"/>
            <a:r>
              <a:rPr sz="1200" b="1" dirty="0">
                <a:solidFill>
                  <a:srgbClr val="003E73"/>
                </a:solidFill>
                <a:latin typeface="Times New Roman" panose="02020603050405020304" pitchFamily="18" charset="0"/>
                <a:cs typeface="Times New Roman" panose="02020603050405020304" pitchFamily="18" charset="0"/>
              </a:rPr>
              <a:t>Dynamic analytics</a:t>
            </a:r>
          </a:p>
        </p:txBody>
      </p:sp>
      <p:sp>
        <p:nvSpPr>
          <p:cNvPr id="88" name="TextBox 87">
            <a:extLst>
              <a:ext uri="{FF2B5EF4-FFF2-40B4-BE49-F238E27FC236}">
                <a16:creationId xmlns:a16="http://schemas.microsoft.com/office/drawing/2014/main" id="{9CD048F0-7D13-40FD-8AB0-73F9833947CF}"/>
              </a:ext>
            </a:extLst>
          </p:cNvPr>
          <p:cNvSpPr txBox="1"/>
          <p:nvPr/>
        </p:nvSpPr>
        <p:spPr>
          <a:xfrm>
            <a:off x="1742312" y="2633362"/>
            <a:ext cx="2160324" cy="387798"/>
          </a:xfrm>
          <a:prstGeom prst="rect">
            <a:avLst/>
          </a:prstGeom>
          <a:noFill/>
        </p:spPr>
        <p:txBody>
          <a:bodyPr wrap="square" lIns="18288" tIns="9144" rIns="18288" bIns="9144" anchor="t">
            <a:spAutoFit/>
          </a:bodyPr>
          <a:lstStyle/>
          <a:p>
            <a:pPr algn="l"/>
            <a:r>
              <a:rPr sz="1200" b="0" dirty="0">
                <a:solidFill>
                  <a:srgbClr val="1E2834"/>
                </a:solidFill>
                <a:latin typeface="Times New Roman" panose="02020603050405020304" pitchFamily="18" charset="0"/>
                <a:cs typeface="Times New Roman" panose="02020603050405020304" pitchFamily="18" charset="0"/>
              </a:rPr>
              <a:t>Pandas / NumPy over stored records</a:t>
            </a:r>
          </a:p>
        </p:txBody>
      </p:sp>
      <p:sp>
        <p:nvSpPr>
          <p:cNvPr id="89" name="TextBox 88">
            <a:extLst>
              <a:ext uri="{FF2B5EF4-FFF2-40B4-BE49-F238E27FC236}">
                <a16:creationId xmlns:a16="http://schemas.microsoft.com/office/drawing/2014/main" id="{9C9449CC-541E-4CD4-89FA-D30B01DBC648}"/>
              </a:ext>
            </a:extLst>
          </p:cNvPr>
          <p:cNvSpPr txBox="1"/>
          <p:nvPr/>
        </p:nvSpPr>
        <p:spPr>
          <a:xfrm>
            <a:off x="408398" y="3041412"/>
            <a:ext cx="1281152" cy="387798"/>
          </a:xfrm>
          <a:prstGeom prst="rect">
            <a:avLst/>
          </a:prstGeom>
          <a:noFill/>
        </p:spPr>
        <p:txBody>
          <a:bodyPr wrap="square" lIns="18288" tIns="9144" rIns="18288" bIns="9144" anchor="t">
            <a:spAutoFit/>
          </a:bodyPr>
          <a:lstStyle/>
          <a:p>
            <a:pPr algn="l"/>
            <a:r>
              <a:rPr sz="1200" b="1" dirty="0">
                <a:solidFill>
                  <a:srgbClr val="003E73"/>
                </a:solidFill>
                <a:latin typeface="Times New Roman" panose="02020603050405020304" pitchFamily="18" charset="0"/>
                <a:cs typeface="Times New Roman" panose="02020603050405020304" pitchFamily="18" charset="0"/>
              </a:rPr>
              <a:t>Automated intelligence</a:t>
            </a:r>
          </a:p>
        </p:txBody>
      </p:sp>
      <p:sp>
        <p:nvSpPr>
          <p:cNvPr id="90" name="TextBox 89">
            <a:extLst>
              <a:ext uri="{FF2B5EF4-FFF2-40B4-BE49-F238E27FC236}">
                <a16:creationId xmlns:a16="http://schemas.microsoft.com/office/drawing/2014/main" id="{778E7B38-0142-4AB1-90C0-D4AFA8851341}"/>
              </a:ext>
            </a:extLst>
          </p:cNvPr>
          <p:cNvSpPr txBox="1"/>
          <p:nvPr/>
        </p:nvSpPr>
        <p:spPr>
          <a:xfrm>
            <a:off x="1742312" y="3041412"/>
            <a:ext cx="2160324" cy="387798"/>
          </a:xfrm>
          <a:prstGeom prst="rect">
            <a:avLst/>
          </a:prstGeom>
          <a:noFill/>
        </p:spPr>
        <p:txBody>
          <a:bodyPr wrap="square" lIns="18288" tIns="9144" rIns="18288" bIns="9144" anchor="t">
            <a:spAutoFit/>
          </a:bodyPr>
          <a:lstStyle/>
          <a:p>
            <a:pPr algn="l"/>
            <a:r>
              <a:rPr sz="1200" b="0" dirty="0">
                <a:solidFill>
                  <a:srgbClr val="1E2834"/>
                </a:solidFill>
                <a:latin typeface="Times New Roman" panose="02020603050405020304" pitchFamily="18" charset="0"/>
                <a:cs typeface="Times New Roman" panose="02020603050405020304" pitchFamily="18" charset="0"/>
              </a:rPr>
              <a:t>NLP classification + deterioration detection</a:t>
            </a:r>
          </a:p>
        </p:txBody>
      </p:sp>
      <p:sp>
        <p:nvSpPr>
          <p:cNvPr id="91" name="TextBox 90">
            <a:extLst>
              <a:ext uri="{FF2B5EF4-FFF2-40B4-BE49-F238E27FC236}">
                <a16:creationId xmlns:a16="http://schemas.microsoft.com/office/drawing/2014/main" id="{D15E0754-31D0-4F06-811B-519FA008BE20}"/>
              </a:ext>
            </a:extLst>
          </p:cNvPr>
          <p:cNvSpPr txBox="1"/>
          <p:nvPr/>
        </p:nvSpPr>
        <p:spPr>
          <a:xfrm>
            <a:off x="408398" y="3439176"/>
            <a:ext cx="1281152" cy="203133"/>
          </a:xfrm>
          <a:prstGeom prst="rect">
            <a:avLst/>
          </a:prstGeom>
          <a:noFill/>
        </p:spPr>
        <p:txBody>
          <a:bodyPr wrap="square" lIns="18288" tIns="9144" rIns="18288" bIns="9144" anchor="t">
            <a:spAutoFit/>
          </a:bodyPr>
          <a:lstStyle/>
          <a:p>
            <a:pPr algn="l"/>
            <a:r>
              <a:rPr sz="1200" b="1" dirty="0">
                <a:solidFill>
                  <a:srgbClr val="003E73"/>
                </a:solidFill>
                <a:latin typeface="Times New Roman" panose="02020603050405020304" pitchFamily="18" charset="0"/>
                <a:cs typeface="Times New Roman" panose="02020603050405020304" pitchFamily="18" charset="0"/>
              </a:rPr>
              <a:t>Reusable ingestion</a:t>
            </a:r>
          </a:p>
        </p:txBody>
      </p:sp>
      <p:sp>
        <p:nvSpPr>
          <p:cNvPr id="92" name="TextBox 91">
            <a:extLst>
              <a:ext uri="{FF2B5EF4-FFF2-40B4-BE49-F238E27FC236}">
                <a16:creationId xmlns:a16="http://schemas.microsoft.com/office/drawing/2014/main" id="{79F297D5-5BA6-49A8-8A98-5C6B334C38B1}"/>
              </a:ext>
            </a:extLst>
          </p:cNvPr>
          <p:cNvSpPr txBox="1"/>
          <p:nvPr/>
        </p:nvSpPr>
        <p:spPr>
          <a:xfrm>
            <a:off x="1742312" y="3437083"/>
            <a:ext cx="2160324" cy="387798"/>
          </a:xfrm>
          <a:prstGeom prst="rect">
            <a:avLst/>
          </a:prstGeom>
          <a:noFill/>
        </p:spPr>
        <p:txBody>
          <a:bodyPr wrap="square" lIns="18288" tIns="9144" rIns="18288" bIns="9144" anchor="t">
            <a:spAutoFit/>
          </a:bodyPr>
          <a:lstStyle/>
          <a:p>
            <a:pPr algn="l"/>
            <a:r>
              <a:rPr sz="1200" b="0" dirty="0">
                <a:solidFill>
                  <a:srgbClr val="1E2834"/>
                </a:solidFill>
                <a:latin typeface="Times New Roman" panose="02020603050405020304" pitchFamily="18" charset="0"/>
                <a:cs typeface="Times New Roman" panose="02020603050405020304" pitchFamily="18" charset="0"/>
              </a:rPr>
              <a:t>Passenger submissions + CSV datasets</a:t>
            </a:r>
          </a:p>
        </p:txBody>
      </p:sp>
      <p:sp>
        <p:nvSpPr>
          <p:cNvPr id="93" name="Rounded Rectangle 19">
            <a:extLst>
              <a:ext uri="{FF2B5EF4-FFF2-40B4-BE49-F238E27FC236}">
                <a16:creationId xmlns:a16="http://schemas.microsoft.com/office/drawing/2014/main" id="{28BDD2F3-B4A2-4885-8DE6-9C052F9F574C}"/>
              </a:ext>
            </a:extLst>
          </p:cNvPr>
          <p:cNvSpPr/>
          <p:nvPr/>
        </p:nvSpPr>
        <p:spPr>
          <a:xfrm>
            <a:off x="4276053" y="1296008"/>
            <a:ext cx="4217775" cy="2659650"/>
          </a:xfrm>
          <a:prstGeom prst="roundRect">
            <a:avLst/>
          </a:prstGeom>
          <a:solidFill>
            <a:srgbClr val="F6F8FA"/>
          </a:solidFill>
          <a:ln w="8890">
            <a:solidFill>
              <a:srgbClr val="D2D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94" name="Rounded Rectangle 20">
            <a:extLst>
              <a:ext uri="{FF2B5EF4-FFF2-40B4-BE49-F238E27FC236}">
                <a16:creationId xmlns:a16="http://schemas.microsoft.com/office/drawing/2014/main" id="{4B14C608-DD25-4966-B5B7-2FF45FCF608E}"/>
              </a:ext>
            </a:extLst>
          </p:cNvPr>
          <p:cNvSpPr/>
          <p:nvPr/>
        </p:nvSpPr>
        <p:spPr>
          <a:xfrm>
            <a:off x="4502725" y="1436641"/>
            <a:ext cx="1392137" cy="233172"/>
          </a:xfrm>
          <a:prstGeom prst="roundRect">
            <a:avLst/>
          </a:prstGeom>
          <a:solidFill>
            <a:srgbClr val="DD8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95" name="TextBox 94">
            <a:extLst>
              <a:ext uri="{FF2B5EF4-FFF2-40B4-BE49-F238E27FC236}">
                <a16:creationId xmlns:a16="http://schemas.microsoft.com/office/drawing/2014/main" id="{91BADA91-05D2-4B2A-BD2D-3D09B41ADC5D}"/>
              </a:ext>
            </a:extLst>
          </p:cNvPr>
          <p:cNvSpPr txBox="1"/>
          <p:nvPr/>
        </p:nvSpPr>
        <p:spPr>
          <a:xfrm>
            <a:off x="4574670" y="1452531"/>
            <a:ext cx="1248246" cy="203133"/>
          </a:xfrm>
          <a:prstGeom prst="rect">
            <a:avLst/>
          </a:prstGeom>
          <a:noFill/>
        </p:spPr>
        <p:txBody>
          <a:bodyPr wrap="square" lIns="18288" tIns="9144" rIns="18288" bIns="9144" anchor="ctr">
            <a:spAutoFit/>
          </a:bodyPr>
          <a:lstStyle/>
          <a:p>
            <a:pPr algn="ctr"/>
            <a:r>
              <a:rPr sz="1200" b="1" dirty="0">
                <a:solidFill>
                  <a:srgbClr val="FFFFFF"/>
                </a:solidFill>
                <a:latin typeface="Times New Roman" panose="02020603050405020304" pitchFamily="18" charset="0"/>
                <a:cs typeface="Times New Roman" panose="02020603050405020304" pitchFamily="18" charset="0"/>
              </a:rPr>
              <a:t>FUTURE SCOPE</a:t>
            </a:r>
          </a:p>
        </p:txBody>
      </p:sp>
      <p:sp>
        <p:nvSpPr>
          <p:cNvPr id="96" name="Rounded Rectangle 22">
            <a:extLst>
              <a:ext uri="{FF2B5EF4-FFF2-40B4-BE49-F238E27FC236}">
                <a16:creationId xmlns:a16="http://schemas.microsoft.com/office/drawing/2014/main" id="{A88C0FAB-AE23-4EE3-8A88-1EA6ECC57057}"/>
              </a:ext>
            </a:extLst>
          </p:cNvPr>
          <p:cNvSpPr/>
          <p:nvPr/>
        </p:nvSpPr>
        <p:spPr>
          <a:xfrm>
            <a:off x="4523300" y="1827547"/>
            <a:ext cx="294901" cy="233172"/>
          </a:xfrm>
          <a:prstGeom prst="roundRect">
            <a:avLst/>
          </a:prstGeom>
          <a:solidFill>
            <a:srgbClr val="4C22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200" dirty="0">
                <a:latin typeface="Times New Roman" panose="02020603050405020304" pitchFamily="18" charset="0"/>
                <a:cs typeface="Times New Roman" panose="02020603050405020304" pitchFamily="18" charset="0"/>
              </a:rPr>
              <a:t>1</a:t>
            </a:r>
            <a:endParaRPr sz="1200" dirty="0">
              <a:latin typeface="Times New Roman" panose="02020603050405020304" pitchFamily="18" charset="0"/>
              <a:cs typeface="Times New Roman" panose="02020603050405020304" pitchFamily="18" charset="0"/>
            </a:endParaRPr>
          </a:p>
        </p:txBody>
      </p:sp>
      <p:sp>
        <p:nvSpPr>
          <p:cNvPr id="97" name="TextBox 96">
            <a:extLst>
              <a:ext uri="{FF2B5EF4-FFF2-40B4-BE49-F238E27FC236}">
                <a16:creationId xmlns:a16="http://schemas.microsoft.com/office/drawing/2014/main" id="{9F04048B-E578-4CBD-BF4B-9185D572568E}"/>
              </a:ext>
            </a:extLst>
          </p:cNvPr>
          <p:cNvSpPr txBox="1"/>
          <p:nvPr/>
        </p:nvSpPr>
        <p:spPr>
          <a:xfrm>
            <a:off x="4962223" y="1820689"/>
            <a:ext cx="3327718" cy="203133"/>
          </a:xfrm>
          <a:prstGeom prst="rect">
            <a:avLst/>
          </a:prstGeom>
          <a:noFill/>
        </p:spPr>
        <p:txBody>
          <a:bodyPr wrap="square" lIns="18288" tIns="9144" rIns="18288" bIns="9144" anchor="t">
            <a:spAutoFit/>
          </a:bodyPr>
          <a:lstStyle/>
          <a:p>
            <a:pPr algn="l"/>
            <a:r>
              <a:rPr sz="1200" b="0" dirty="0">
                <a:solidFill>
                  <a:srgbClr val="1E2834"/>
                </a:solidFill>
                <a:latin typeface="Times New Roman" panose="02020603050405020304" pitchFamily="18" charset="0"/>
                <a:cs typeface="Times New Roman" panose="02020603050405020304" pitchFamily="18" charset="0"/>
              </a:rPr>
              <a:t>Integrate a local LLM behind the classifier interface</a:t>
            </a:r>
          </a:p>
        </p:txBody>
      </p:sp>
      <p:sp>
        <p:nvSpPr>
          <p:cNvPr id="98" name="Rounded Rectangle 25">
            <a:extLst>
              <a:ext uri="{FF2B5EF4-FFF2-40B4-BE49-F238E27FC236}">
                <a16:creationId xmlns:a16="http://schemas.microsoft.com/office/drawing/2014/main" id="{E9AD4CAB-9DA7-4630-AB7F-3EE8B5A9F62B}"/>
              </a:ext>
            </a:extLst>
          </p:cNvPr>
          <p:cNvSpPr/>
          <p:nvPr/>
        </p:nvSpPr>
        <p:spPr>
          <a:xfrm>
            <a:off x="4523300" y="2225311"/>
            <a:ext cx="294901" cy="233172"/>
          </a:xfrm>
          <a:prstGeom prst="roundRect">
            <a:avLst/>
          </a:prstGeom>
          <a:solidFill>
            <a:srgbClr val="4C22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200" dirty="0">
                <a:latin typeface="Times New Roman" panose="02020603050405020304" pitchFamily="18" charset="0"/>
                <a:cs typeface="Times New Roman" panose="02020603050405020304" pitchFamily="18" charset="0"/>
              </a:rPr>
              <a:t>2</a:t>
            </a:r>
            <a:endParaRPr sz="1200" dirty="0">
              <a:latin typeface="Times New Roman" panose="02020603050405020304" pitchFamily="18" charset="0"/>
              <a:cs typeface="Times New Roman" panose="02020603050405020304" pitchFamily="18" charset="0"/>
            </a:endParaRPr>
          </a:p>
        </p:txBody>
      </p:sp>
      <p:sp>
        <p:nvSpPr>
          <p:cNvPr id="99" name="TextBox 98">
            <a:extLst>
              <a:ext uri="{FF2B5EF4-FFF2-40B4-BE49-F238E27FC236}">
                <a16:creationId xmlns:a16="http://schemas.microsoft.com/office/drawing/2014/main" id="{617CEC98-389F-48E0-9B47-4C8B7A75E6A0}"/>
              </a:ext>
            </a:extLst>
          </p:cNvPr>
          <p:cNvSpPr txBox="1"/>
          <p:nvPr/>
        </p:nvSpPr>
        <p:spPr>
          <a:xfrm>
            <a:off x="4962222" y="2218453"/>
            <a:ext cx="3415369" cy="387798"/>
          </a:xfrm>
          <a:prstGeom prst="rect">
            <a:avLst/>
          </a:prstGeom>
          <a:noFill/>
        </p:spPr>
        <p:txBody>
          <a:bodyPr wrap="square" lIns="18288" tIns="9144" rIns="18288" bIns="9144" anchor="t">
            <a:spAutoFit/>
          </a:bodyPr>
          <a:lstStyle/>
          <a:p>
            <a:pPr algn="l"/>
            <a:r>
              <a:rPr sz="1200" b="0" dirty="0">
                <a:solidFill>
                  <a:srgbClr val="1E2834"/>
                </a:solidFill>
                <a:latin typeface="Times New Roman" panose="02020603050405020304" pitchFamily="18" charset="0"/>
                <a:cs typeface="Times New Roman" panose="02020603050405020304" pitchFamily="18" charset="0"/>
              </a:rPr>
              <a:t>Move production persistence from SQLite to PostgreSQL</a:t>
            </a:r>
          </a:p>
        </p:txBody>
      </p:sp>
      <p:sp>
        <p:nvSpPr>
          <p:cNvPr id="100" name="Rounded Rectangle 28">
            <a:extLst>
              <a:ext uri="{FF2B5EF4-FFF2-40B4-BE49-F238E27FC236}">
                <a16:creationId xmlns:a16="http://schemas.microsoft.com/office/drawing/2014/main" id="{184F187D-CD1C-4E20-BE15-68414C9DF50A}"/>
              </a:ext>
            </a:extLst>
          </p:cNvPr>
          <p:cNvSpPr/>
          <p:nvPr/>
        </p:nvSpPr>
        <p:spPr>
          <a:xfrm>
            <a:off x="4523300" y="2623075"/>
            <a:ext cx="294901" cy="233172"/>
          </a:xfrm>
          <a:prstGeom prst="roundRect">
            <a:avLst/>
          </a:prstGeom>
          <a:solidFill>
            <a:srgbClr val="4C22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200" dirty="0">
                <a:latin typeface="Times New Roman" panose="02020603050405020304" pitchFamily="18" charset="0"/>
                <a:cs typeface="Times New Roman" panose="02020603050405020304" pitchFamily="18" charset="0"/>
              </a:rPr>
              <a:t>3</a:t>
            </a:r>
            <a:endParaRPr sz="1200" dirty="0">
              <a:latin typeface="Times New Roman" panose="02020603050405020304" pitchFamily="18" charset="0"/>
              <a:cs typeface="Times New Roman" panose="02020603050405020304" pitchFamily="18" charset="0"/>
            </a:endParaRPr>
          </a:p>
        </p:txBody>
      </p:sp>
      <p:sp>
        <p:nvSpPr>
          <p:cNvPr id="101" name="TextBox 100">
            <a:extLst>
              <a:ext uri="{FF2B5EF4-FFF2-40B4-BE49-F238E27FC236}">
                <a16:creationId xmlns:a16="http://schemas.microsoft.com/office/drawing/2014/main" id="{7BF7B2D3-AF0D-4C3A-9BDE-A2DE98EFB807}"/>
              </a:ext>
            </a:extLst>
          </p:cNvPr>
          <p:cNvSpPr txBox="1"/>
          <p:nvPr/>
        </p:nvSpPr>
        <p:spPr>
          <a:xfrm>
            <a:off x="4962223" y="2616217"/>
            <a:ext cx="3223340" cy="203133"/>
          </a:xfrm>
          <a:prstGeom prst="rect">
            <a:avLst/>
          </a:prstGeom>
          <a:noFill/>
        </p:spPr>
        <p:txBody>
          <a:bodyPr wrap="square" lIns="18288" tIns="9144" rIns="18288" bIns="9144" anchor="t">
            <a:spAutoFit/>
          </a:bodyPr>
          <a:lstStyle/>
          <a:p>
            <a:pPr algn="l"/>
            <a:r>
              <a:rPr sz="1200" b="0" dirty="0">
                <a:solidFill>
                  <a:srgbClr val="1E2834"/>
                </a:solidFill>
                <a:latin typeface="Times New Roman" panose="02020603050405020304" pitchFamily="18" charset="0"/>
                <a:cs typeface="Times New Roman" panose="02020603050405020304" pitchFamily="18" charset="0"/>
              </a:rPr>
              <a:t>Expand longitudinal trend analysis</a:t>
            </a:r>
          </a:p>
        </p:txBody>
      </p:sp>
      <p:sp>
        <p:nvSpPr>
          <p:cNvPr id="102" name="Rounded Rectangle 31">
            <a:extLst>
              <a:ext uri="{FF2B5EF4-FFF2-40B4-BE49-F238E27FC236}">
                <a16:creationId xmlns:a16="http://schemas.microsoft.com/office/drawing/2014/main" id="{196FC62F-ACFE-4CA5-98A2-E52F9B3C8C2E}"/>
              </a:ext>
            </a:extLst>
          </p:cNvPr>
          <p:cNvSpPr/>
          <p:nvPr/>
        </p:nvSpPr>
        <p:spPr>
          <a:xfrm>
            <a:off x="4523300" y="3020838"/>
            <a:ext cx="294901" cy="233172"/>
          </a:xfrm>
          <a:prstGeom prst="roundRect">
            <a:avLst/>
          </a:prstGeom>
          <a:solidFill>
            <a:srgbClr val="4C22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200" dirty="0">
                <a:latin typeface="Times New Roman" panose="02020603050405020304" pitchFamily="18" charset="0"/>
                <a:cs typeface="Times New Roman" panose="02020603050405020304" pitchFamily="18" charset="0"/>
              </a:rPr>
              <a:t>4</a:t>
            </a:r>
            <a:endParaRPr sz="1200" dirty="0">
              <a:latin typeface="Times New Roman" panose="02020603050405020304" pitchFamily="18" charset="0"/>
              <a:cs typeface="Times New Roman" panose="02020603050405020304" pitchFamily="18" charset="0"/>
            </a:endParaRPr>
          </a:p>
        </p:txBody>
      </p:sp>
      <p:sp>
        <p:nvSpPr>
          <p:cNvPr id="103" name="TextBox 102">
            <a:extLst>
              <a:ext uri="{FF2B5EF4-FFF2-40B4-BE49-F238E27FC236}">
                <a16:creationId xmlns:a16="http://schemas.microsoft.com/office/drawing/2014/main" id="{855EC106-A38D-4E06-AD54-6976F51967E3}"/>
              </a:ext>
            </a:extLst>
          </p:cNvPr>
          <p:cNvSpPr txBox="1"/>
          <p:nvPr/>
        </p:nvSpPr>
        <p:spPr>
          <a:xfrm>
            <a:off x="4962222" y="3013981"/>
            <a:ext cx="3369493" cy="203133"/>
          </a:xfrm>
          <a:prstGeom prst="rect">
            <a:avLst/>
          </a:prstGeom>
          <a:noFill/>
        </p:spPr>
        <p:txBody>
          <a:bodyPr wrap="square" lIns="18288" tIns="9144" rIns="18288" bIns="9144" anchor="t">
            <a:spAutoFit/>
          </a:bodyPr>
          <a:lstStyle/>
          <a:p>
            <a:pPr algn="l"/>
            <a:r>
              <a:rPr sz="1200" b="0" dirty="0">
                <a:solidFill>
                  <a:srgbClr val="1E2834"/>
                </a:solidFill>
                <a:latin typeface="Times New Roman" panose="02020603050405020304" pitchFamily="18" charset="0"/>
                <a:cs typeface="Times New Roman" panose="02020603050405020304" pitchFamily="18" charset="0"/>
              </a:rPr>
              <a:t>Extend operational workflows around detected issues</a:t>
            </a:r>
          </a:p>
        </p:txBody>
      </p:sp>
      <p:sp>
        <p:nvSpPr>
          <p:cNvPr id="104" name="Rounded Rectangle 34">
            <a:extLst>
              <a:ext uri="{FF2B5EF4-FFF2-40B4-BE49-F238E27FC236}">
                <a16:creationId xmlns:a16="http://schemas.microsoft.com/office/drawing/2014/main" id="{C335B6D5-C162-4686-9227-A1E8B4E02572}"/>
              </a:ext>
            </a:extLst>
          </p:cNvPr>
          <p:cNvSpPr/>
          <p:nvPr/>
        </p:nvSpPr>
        <p:spPr>
          <a:xfrm>
            <a:off x="4523300" y="3418603"/>
            <a:ext cx="294901" cy="233172"/>
          </a:xfrm>
          <a:prstGeom prst="roundRect">
            <a:avLst/>
          </a:prstGeom>
          <a:solidFill>
            <a:srgbClr val="4C22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200" dirty="0">
                <a:latin typeface="Times New Roman" panose="02020603050405020304" pitchFamily="18" charset="0"/>
                <a:cs typeface="Times New Roman" panose="02020603050405020304" pitchFamily="18" charset="0"/>
              </a:rPr>
              <a:t>5</a:t>
            </a:r>
            <a:endParaRPr sz="1200" dirty="0">
              <a:latin typeface="Times New Roman" panose="02020603050405020304" pitchFamily="18" charset="0"/>
              <a:cs typeface="Times New Roman" panose="02020603050405020304" pitchFamily="18" charset="0"/>
            </a:endParaRPr>
          </a:p>
        </p:txBody>
      </p:sp>
      <p:sp>
        <p:nvSpPr>
          <p:cNvPr id="105" name="TextBox 104">
            <a:extLst>
              <a:ext uri="{FF2B5EF4-FFF2-40B4-BE49-F238E27FC236}">
                <a16:creationId xmlns:a16="http://schemas.microsoft.com/office/drawing/2014/main" id="{AD1C34B9-AF5D-40A2-9A3D-BDE9AA88CB36}"/>
              </a:ext>
            </a:extLst>
          </p:cNvPr>
          <p:cNvSpPr txBox="1"/>
          <p:nvPr/>
        </p:nvSpPr>
        <p:spPr>
          <a:xfrm>
            <a:off x="4962223" y="3411745"/>
            <a:ext cx="3223340" cy="203133"/>
          </a:xfrm>
          <a:prstGeom prst="rect">
            <a:avLst/>
          </a:prstGeom>
          <a:noFill/>
        </p:spPr>
        <p:txBody>
          <a:bodyPr wrap="square" lIns="18288" tIns="9144" rIns="18288" bIns="9144" anchor="t">
            <a:spAutoFit/>
          </a:bodyPr>
          <a:lstStyle/>
          <a:p>
            <a:pPr algn="l"/>
            <a:r>
              <a:rPr sz="1200" b="0">
                <a:solidFill>
                  <a:srgbClr val="1E2834"/>
                </a:solidFill>
                <a:latin typeface="Times New Roman" panose="02020603050405020304" pitchFamily="18" charset="0"/>
                <a:cs typeface="Times New Roman" panose="02020603050405020304" pitchFamily="18" charset="0"/>
              </a:rPr>
              <a:t>Support additional transit feedback sources</a:t>
            </a:r>
          </a:p>
        </p:txBody>
      </p:sp>
      <p:sp>
        <p:nvSpPr>
          <p:cNvPr id="106" name="Rounded Rectangle 37">
            <a:extLst>
              <a:ext uri="{FF2B5EF4-FFF2-40B4-BE49-F238E27FC236}">
                <a16:creationId xmlns:a16="http://schemas.microsoft.com/office/drawing/2014/main" id="{562AA64A-6F89-429D-9459-C958F95E6564}"/>
              </a:ext>
            </a:extLst>
          </p:cNvPr>
          <p:cNvSpPr/>
          <p:nvPr/>
        </p:nvSpPr>
        <p:spPr>
          <a:xfrm>
            <a:off x="182078" y="4186699"/>
            <a:ext cx="8332678" cy="303500"/>
          </a:xfrm>
          <a:prstGeom prst="roundRect">
            <a:avLst/>
          </a:prstGeom>
          <a:solidFill>
            <a:srgbClr val="003E73"/>
          </a:solidFill>
          <a:ln w="8890">
            <a:solidFill>
              <a:srgbClr val="003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Times New Roman" panose="02020603050405020304" pitchFamily="18" charset="0"/>
              <a:cs typeface="Times New Roman" panose="02020603050405020304" pitchFamily="18" charset="0"/>
            </a:endParaRPr>
          </a:p>
        </p:txBody>
      </p:sp>
      <p:sp>
        <p:nvSpPr>
          <p:cNvPr id="107" name="TextBox 106">
            <a:extLst>
              <a:ext uri="{FF2B5EF4-FFF2-40B4-BE49-F238E27FC236}">
                <a16:creationId xmlns:a16="http://schemas.microsoft.com/office/drawing/2014/main" id="{053BF831-722F-47C7-AB89-2710817C266F}"/>
              </a:ext>
            </a:extLst>
          </p:cNvPr>
          <p:cNvSpPr txBox="1"/>
          <p:nvPr/>
        </p:nvSpPr>
        <p:spPr>
          <a:xfrm>
            <a:off x="319241" y="4234705"/>
            <a:ext cx="8058351" cy="203133"/>
          </a:xfrm>
          <a:prstGeom prst="rect">
            <a:avLst/>
          </a:prstGeom>
          <a:noFill/>
        </p:spPr>
        <p:txBody>
          <a:bodyPr wrap="square" lIns="18288" tIns="9144" rIns="18288" bIns="9144" anchor="t">
            <a:spAutoFit/>
          </a:bodyPr>
          <a:lstStyle/>
          <a:p>
            <a:pPr algn="ctr"/>
            <a:r>
              <a:rPr sz="1200" b="1">
                <a:solidFill>
                  <a:srgbClr val="FFFFFF"/>
                </a:solidFill>
                <a:latin typeface="Times New Roman" panose="02020603050405020304" pitchFamily="18" charset="0"/>
                <a:cs typeface="Times New Roman" panose="02020603050405020304" pitchFamily="18" charset="0"/>
              </a:rPr>
              <a:t>PASSENGER VOICE  →  STRUCTURED SIGNAL  →  OPERATIONAL DECISION SUPPORT</a:t>
            </a:r>
          </a:p>
        </p:txBody>
      </p:sp>
    </p:spTree>
    <p:extLst>
      <p:ext uri="{BB962C8B-B14F-4D97-AF65-F5344CB8AC3E}">
        <p14:creationId xmlns:p14="http://schemas.microsoft.com/office/powerpoint/2010/main" val="5492291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530849E-F7A6-5ED3-F0DD-CF5FC48A9C64}"/>
              </a:ext>
            </a:extLst>
          </p:cNvPr>
          <p:cNvSpPr>
            <a:spLocks noGrp="1"/>
          </p:cNvSpPr>
          <p:nvPr>
            <p:ph type="sldNum" sz="quarter" idx="14"/>
          </p:nvPr>
        </p:nvSpPr>
        <p:spPr>
          <a:xfrm>
            <a:off x="8629650" y="4817444"/>
            <a:ext cx="514350" cy="326056"/>
          </a:xfrm>
        </p:spPr>
        <p:txBody>
          <a:bodyPr/>
          <a:lstStyle/>
          <a:p>
            <a:fld id="{4B327F5A-7D8F-4012-9A1A-2197D74A174F}" type="slidenum">
              <a:rPr lang="en-IN" smtClean="0"/>
              <a:pPr/>
              <a:t>14</a:t>
            </a:fld>
            <a:endParaRPr lang="en-IN" dirty="0"/>
          </a:p>
        </p:txBody>
      </p:sp>
      <p:sp>
        <p:nvSpPr>
          <p:cNvPr id="6" name="Title 1">
            <a:extLst>
              <a:ext uri="{FF2B5EF4-FFF2-40B4-BE49-F238E27FC236}">
                <a16:creationId xmlns:a16="http://schemas.microsoft.com/office/drawing/2014/main" id="{70F41802-39C9-442C-A52E-2BA7B3060AFE}"/>
              </a:ext>
            </a:extLst>
          </p:cNvPr>
          <p:cNvSpPr>
            <a:spLocks noGrp="1"/>
          </p:cNvSpPr>
          <p:nvPr>
            <p:ph type="ctrTitle"/>
          </p:nvPr>
        </p:nvSpPr>
        <p:spPr>
          <a:xfrm>
            <a:off x="880342" y="2511963"/>
            <a:ext cx="6987209" cy="490904"/>
          </a:xfrm>
        </p:spPr>
        <p:txBody>
          <a:bodyPr/>
          <a:lstStyle/>
          <a:p>
            <a:pPr algn="ctr"/>
            <a:r>
              <a:rPr lang="en-GB" sz="3400" b="1" dirty="0">
                <a:latin typeface="Times New Roman" panose="02020603050405020304" pitchFamily="18" charset="0"/>
                <a:cs typeface="Times New Roman" panose="02020603050405020304" pitchFamily="18" charset="0"/>
              </a:rPr>
              <a:t>Thank You </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3211B6B-F499-40E9-9627-B8150DD0EB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7758" y="121761"/>
            <a:ext cx="2149794" cy="1095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9340172"/>
      </p:ext>
    </p:extLst>
  </p:cSld>
  <p:clrMapOvr>
    <a:masterClrMapping/>
  </p:clrMapOvr>
  <p:transition>
    <p:fade/>
  </p:transition>
</p:sld>
</file>

<file path=ppt/theme/theme1.xml><?xml version="1.0" encoding="utf-8"?>
<a:theme xmlns:a="http://schemas.openxmlformats.org/drawingml/2006/main" name="MC Powerpoint Template">
  <a:themeElements>
    <a:clrScheme name="Custom 1">
      <a:dk1>
        <a:srgbClr val="005094"/>
      </a:dk1>
      <a:lt1>
        <a:srgbClr val="FFFFFF"/>
      </a:lt1>
      <a:dk2>
        <a:srgbClr val="FFFFFF"/>
      </a:dk2>
      <a:lt2>
        <a:srgbClr val="FFFFFF"/>
      </a:lt2>
      <a:accent1>
        <a:srgbClr val="005094"/>
      </a:accent1>
      <a:accent2>
        <a:srgbClr val="525252"/>
      </a:accent2>
      <a:accent3>
        <a:srgbClr val="525252"/>
      </a:accent3>
      <a:accent4>
        <a:srgbClr val="005094"/>
      </a:accent4>
      <a:accent5>
        <a:srgbClr val="525252"/>
      </a:accent5>
      <a:accent6>
        <a:srgbClr val="005094"/>
      </a:accent6>
      <a:hlink>
        <a:srgbClr val="525252"/>
      </a:hlink>
      <a:folHlink>
        <a:srgbClr val="005094"/>
      </a:folHlink>
    </a:clrScheme>
    <a:fontScheme name="Montgomery Colle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51237F"/>
        </a:solidFill>
        <a:ln w="19050" algn="ctr">
          <a:noFill/>
          <a:miter lim="800000"/>
          <a:headEnd/>
          <a:tailEnd/>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headEnd/>
          <a:tailEnd/>
        </a:ln>
      </a:spPr>
      <a:bodyPr wrap="square" lIns="0" tIns="0" rIns="0" bIns="0"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0</TotalTime>
  <Words>2273</Words>
  <Application>Microsoft Office PowerPoint</Application>
  <PresentationFormat>On-screen Show (16:9)</PresentationFormat>
  <Paragraphs>383</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Times New Roman</vt:lpstr>
      <vt:lpstr>Garamond</vt:lpstr>
      <vt:lpstr>Wingdings</vt:lpstr>
      <vt:lpstr>Arial</vt:lpstr>
      <vt:lpstr>MC Powerpoint Template</vt:lpstr>
      <vt:lpstr>Decimal Point Analytics (DPA) Hackathon 2026 - Vivechana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2016-09-09T13:34:50Z</dcterms:created>
  <dcterms:modified xsi:type="dcterms:W3CDTF">2026-09-16T17:20:22Z</dcterms:modified>
</cp:coreProperties>
</file>